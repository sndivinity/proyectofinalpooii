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03625" y="10134508"/>
            <a:ext cx="17560290" cy="0"/>
          </a:xfrm>
          <a:custGeom>
            <a:avLst/>
            <a:gdLst/>
            <a:ahLst/>
            <a:cxnLst/>
            <a:rect l="l" t="t" r="r" b="b"/>
            <a:pathLst>
              <a:path w="17560290" h="0">
                <a:moveTo>
                  <a:pt x="0" y="0"/>
                </a:moveTo>
                <a:lnTo>
                  <a:pt x="17559675" y="0"/>
                </a:lnTo>
              </a:path>
            </a:pathLst>
          </a:custGeom>
          <a:ln w="23559">
            <a:solidFill>
              <a:srgbClr val="0C1C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706" y="3926582"/>
            <a:ext cx="20080605" cy="1280160"/>
          </a:xfrm>
          <a:custGeom>
            <a:avLst/>
            <a:gdLst/>
            <a:ahLst/>
            <a:cxnLst/>
            <a:rect l="l" t="t" r="r" b="b"/>
            <a:pathLst>
              <a:path w="20080605" h="1280160">
                <a:moveTo>
                  <a:pt x="20080541" y="1280065"/>
                </a:moveTo>
                <a:lnTo>
                  <a:pt x="0" y="128006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280065"/>
                </a:lnTo>
                <a:close/>
              </a:path>
            </a:pathLst>
          </a:custGeom>
          <a:solidFill>
            <a:srgbClr val="0A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92983" y="4041495"/>
            <a:ext cx="14100810" cy="1380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rgbClr val="0C2348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3244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rgbClr val="0C2348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3244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rgbClr val="0C2348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rgbClr val="0C2348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39942" y="790285"/>
            <a:ext cx="9483725" cy="909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rgbClr val="0C2348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49707" y="3394264"/>
            <a:ext cx="8239759" cy="4638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3244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3625" y="10134508"/>
            <a:ext cx="17560290" cy="0"/>
          </a:xfrm>
          <a:custGeom>
            <a:avLst/>
            <a:gdLst/>
            <a:ahLst/>
            <a:cxnLst/>
            <a:rect l="l" t="t" r="r" b="b"/>
            <a:pathLst>
              <a:path w="17560290" h="0">
                <a:moveTo>
                  <a:pt x="0" y="0"/>
                </a:moveTo>
                <a:lnTo>
                  <a:pt x="17559675" y="0"/>
                </a:lnTo>
              </a:path>
            </a:pathLst>
          </a:custGeom>
          <a:ln w="23559">
            <a:solidFill>
              <a:srgbClr val="0C1C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706" y="3156972"/>
            <a:ext cx="20080605" cy="871855"/>
          </a:xfrm>
          <a:custGeom>
            <a:avLst/>
            <a:gdLst/>
            <a:ahLst/>
            <a:cxnLst/>
            <a:rect l="l" t="t" r="r" b="b"/>
            <a:pathLst>
              <a:path w="20080605" h="871854">
                <a:moveTo>
                  <a:pt x="20080541" y="871701"/>
                </a:moveTo>
                <a:lnTo>
                  <a:pt x="0" y="87170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71701"/>
                </a:lnTo>
                <a:close/>
              </a:path>
            </a:pathLst>
          </a:custGeom>
          <a:solidFill>
            <a:srgbClr val="0A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795419" y="3051997"/>
            <a:ext cx="14450694" cy="11449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350">
                <a:solidFill>
                  <a:srgbClr val="FFFFFF"/>
                </a:solidFill>
                <a:latin typeface="Times New Roman"/>
                <a:cs typeface="Times New Roman"/>
              </a:rPr>
              <a:t>SISTEMA</a:t>
            </a:r>
            <a:r>
              <a:rPr dirty="0" sz="735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7350" spc="-45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dirty="0" sz="7350" spc="-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7350" spc="-275">
                <a:solidFill>
                  <a:srgbClr val="FFFFFF"/>
                </a:solidFill>
                <a:latin typeface="Times New Roman"/>
                <a:cs typeface="Times New Roman"/>
              </a:rPr>
              <a:t>GESTIÓN</a:t>
            </a:r>
            <a:r>
              <a:rPr dirty="0" sz="7350" spc="4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7350" spc="-114">
                <a:solidFill>
                  <a:srgbClr val="FFFFFF"/>
                </a:solidFill>
                <a:latin typeface="Times New Roman"/>
                <a:cs typeface="Times New Roman"/>
              </a:rPr>
              <a:t>HOTELERA</a:t>
            </a:r>
            <a:endParaRPr sz="7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706" y="4492009"/>
            <a:ext cx="20080605" cy="652145"/>
          </a:xfrm>
          <a:custGeom>
            <a:avLst/>
            <a:gdLst/>
            <a:ahLst/>
            <a:cxnLst/>
            <a:rect l="l" t="t" r="r" b="b"/>
            <a:pathLst>
              <a:path w="20080605" h="652145">
                <a:moveTo>
                  <a:pt x="20080541" y="651812"/>
                </a:moveTo>
                <a:lnTo>
                  <a:pt x="0" y="65181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51812"/>
                </a:lnTo>
                <a:close/>
              </a:path>
            </a:pathLst>
          </a:custGeom>
          <a:solidFill>
            <a:srgbClr val="0A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164056" y="4269237"/>
            <a:ext cx="9781540" cy="9093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800" spc="-110">
                <a:solidFill>
                  <a:srgbClr val="42B8E8"/>
                </a:solidFill>
                <a:latin typeface="Cambria"/>
                <a:cs typeface="Cambria"/>
              </a:rPr>
              <a:t>“Inti</a:t>
            </a:r>
            <a:r>
              <a:rPr dirty="0" sz="5800" spc="-210">
                <a:solidFill>
                  <a:srgbClr val="42B8E8"/>
                </a:solidFill>
                <a:latin typeface="Cambria"/>
                <a:cs typeface="Cambria"/>
              </a:rPr>
              <a:t> </a:t>
            </a:r>
            <a:r>
              <a:rPr dirty="0" sz="5800" spc="-155">
                <a:solidFill>
                  <a:srgbClr val="2DB6ED"/>
                </a:solidFill>
                <a:latin typeface="Cambria"/>
                <a:cs typeface="Cambria"/>
              </a:rPr>
              <a:t>Horizon</a:t>
            </a:r>
            <a:r>
              <a:rPr dirty="0" sz="5800" spc="-165">
                <a:solidFill>
                  <a:srgbClr val="2DB6ED"/>
                </a:solidFill>
                <a:latin typeface="Cambria"/>
                <a:cs typeface="Cambria"/>
              </a:rPr>
              <a:t> </a:t>
            </a:r>
            <a:r>
              <a:rPr dirty="0" sz="5800" spc="-190">
                <a:solidFill>
                  <a:srgbClr val="44B6EF"/>
                </a:solidFill>
                <a:latin typeface="Cambria"/>
                <a:cs typeface="Cambria"/>
              </a:rPr>
              <a:t>Palace“</a:t>
            </a:r>
            <a:r>
              <a:rPr dirty="0" sz="5800" spc="-5">
                <a:solidFill>
                  <a:srgbClr val="44B6EF"/>
                </a:solidFill>
                <a:latin typeface="Cambria"/>
                <a:cs typeface="Cambria"/>
              </a:rPr>
              <a:t> </a:t>
            </a:r>
            <a:r>
              <a:rPr dirty="0" sz="5800" spc="-320">
                <a:solidFill>
                  <a:srgbClr val="3DB3DF"/>
                </a:solidFill>
                <a:latin typeface="Cambria"/>
                <a:cs typeface="Cambria"/>
              </a:rPr>
              <a:t>(Avance</a:t>
            </a:r>
            <a:r>
              <a:rPr dirty="0" sz="5800" spc="5">
                <a:solidFill>
                  <a:srgbClr val="3DB3DF"/>
                </a:solidFill>
                <a:latin typeface="Cambria"/>
                <a:cs typeface="Cambria"/>
              </a:rPr>
              <a:t> </a:t>
            </a:r>
            <a:r>
              <a:rPr dirty="0" sz="5800" spc="-425">
                <a:solidFill>
                  <a:srgbClr val="3FB3EB"/>
                </a:solidFill>
                <a:latin typeface="Cambria"/>
                <a:cs typeface="Cambria"/>
              </a:rPr>
              <a:t>02)</a:t>
            </a:r>
            <a:endParaRPr sz="58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706" y="6942197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A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706" y="7319148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A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476862" y="6804500"/>
            <a:ext cx="9133205" cy="779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5055" marR="5080" indent="-2332990">
              <a:lnSpc>
                <a:spcPct val="112400"/>
              </a:lnSpc>
              <a:spcBef>
                <a:spcPts val="100"/>
              </a:spcBef>
            </a:pPr>
            <a:r>
              <a:rPr dirty="0" sz="2200" spc="85">
                <a:solidFill>
                  <a:srgbClr val="E6E6E6"/>
                </a:solidFill>
                <a:latin typeface="Calibri"/>
                <a:cs typeface="Calibri"/>
              </a:rPr>
              <a:t>Integrantes:</a:t>
            </a:r>
            <a:r>
              <a:rPr dirty="0" sz="2200" spc="20">
                <a:solidFill>
                  <a:srgbClr val="E6E6E6"/>
                </a:solidFill>
                <a:latin typeface="Calibri"/>
                <a:cs typeface="Calibri"/>
              </a:rPr>
              <a:t> </a:t>
            </a:r>
            <a:r>
              <a:rPr dirty="0" sz="2200" spc="-45">
                <a:solidFill>
                  <a:srgbClr val="DDDDDD"/>
                </a:solidFill>
                <a:latin typeface="Calibri"/>
                <a:cs typeface="Calibri"/>
              </a:rPr>
              <a:t>Molina</a:t>
            </a:r>
            <a:r>
              <a:rPr dirty="0" sz="2200" spc="60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E8E8E8"/>
                </a:solidFill>
                <a:latin typeface="Calibri"/>
                <a:cs typeface="Calibri"/>
              </a:rPr>
              <a:t>Bendezú,</a:t>
            </a:r>
            <a:r>
              <a:rPr dirty="0" sz="2200" spc="16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DDDDD"/>
                </a:solidFill>
                <a:latin typeface="Calibri"/>
                <a:cs typeface="Calibri"/>
              </a:rPr>
              <a:t>Bianca</a:t>
            </a:r>
            <a:r>
              <a:rPr dirty="0" sz="2200" spc="65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E2E2E2"/>
                </a:solidFill>
                <a:latin typeface="Calibri"/>
                <a:cs typeface="Calibri"/>
              </a:rPr>
              <a:t>Dayana</a:t>
            </a:r>
            <a:r>
              <a:rPr dirty="0" sz="2200" spc="325">
                <a:solidFill>
                  <a:srgbClr val="E2E2E2"/>
                </a:solidFill>
                <a:latin typeface="Calibri"/>
                <a:cs typeface="Calibri"/>
              </a:rPr>
              <a:t> </a:t>
            </a:r>
            <a:r>
              <a:rPr dirty="0" sz="2200" spc="-285">
                <a:solidFill>
                  <a:srgbClr val="D1D1D1"/>
                </a:solidFill>
                <a:latin typeface="Calibri"/>
                <a:cs typeface="Calibri"/>
              </a:rPr>
              <a:t>|</a:t>
            </a:r>
            <a:r>
              <a:rPr dirty="0" sz="2200" spc="405">
                <a:solidFill>
                  <a:srgbClr val="D1D1D1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E4E4E4"/>
                </a:solidFill>
                <a:latin typeface="Calibri"/>
                <a:cs typeface="Calibri"/>
              </a:rPr>
              <a:t>Huerto</a:t>
            </a:r>
            <a:r>
              <a:rPr dirty="0" sz="2200" spc="95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2200" spc="-30">
                <a:solidFill>
                  <a:srgbClr val="D8D8D8"/>
                </a:solidFill>
                <a:latin typeface="Calibri"/>
                <a:cs typeface="Calibri"/>
              </a:rPr>
              <a:t>Pariona,</a:t>
            </a:r>
            <a:r>
              <a:rPr dirty="0" sz="2200" spc="155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BDBDB"/>
                </a:solidFill>
                <a:latin typeface="Calibri"/>
                <a:cs typeface="Calibri"/>
              </a:rPr>
              <a:t>Sebastian</a:t>
            </a:r>
            <a:r>
              <a:rPr dirty="0" sz="2200" spc="150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D8D8D8"/>
                </a:solidFill>
                <a:latin typeface="Calibri"/>
                <a:cs typeface="Calibri"/>
              </a:rPr>
              <a:t>Gael </a:t>
            </a:r>
            <a:r>
              <a:rPr dirty="0" sz="2200" spc="75">
                <a:solidFill>
                  <a:srgbClr val="E4E4E4"/>
                </a:solidFill>
                <a:latin typeface="Calibri"/>
                <a:cs typeface="Calibri"/>
              </a:rPr>
              <a:t>Profesor:</a:t>
            </a:r>
            <a:r>
              <a:rPr dirty="0" sz="2200" spc="25">
                <a:solidFill>
                  <a:srgbClr val="E4E4E4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E2E2E2"/>
                </a:solidFill>
                <a:latin typeface="Calibri"/>
                <a:cs typeface="Calibri"/>
              </a:rPr>
              <a:t>Roberto</a:t>
            </a:r>
            <a:r>
              <a:rPr dirty="0" sz="2200" spc="45">
                <a:solidFill>
                  <a:srgbClr val="E2E2E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FDFDF"/>
                </a:solidFill>
                <a:latin typeface="Calibri"/>
                <a:cs typeface="Calibri"/>
              </a:rPr>
              <a:t>Rodriguez</a:t>
            </a:r>
            <a:r>
              <a:rPr dirty="0" sz="2200" spc="-1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E6E6E6"/>
                </a:solidFill>
                <a:latin typeface="Calibri"/>
                <a:cs typeface="Calibri"/>
              </a:rPr>
              <a:t>Urquiaga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6506" y="3047027"/>
            <a:ext cx="10186035" cy="777875"/>
          </a:xfrm>
          <a:prstGeom prst="rect">
            <a:avLst/>
          </a:prstGeom>
          <a:solidFill>
            <a:srgbClr val="0C2442"/>
          </a:solidFill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1650">
              <a:latin typeface="Times New Roman"/>
              <a:cs typeface="Times New Roman"/>
            </a:endParaRPr>
          </a:p>
          <a:p>
            <a:pPr marL="335915">
              <a:lnSpc>
                <a:spcPct val="100000"/>
              </a:lnSpc>
              <a:tabLst>
                <a:tab pos="2621915" algn="l"/>
                <a:tab pos="8873490" algn="l"/>
              </a:tabLst>
            </a:pP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Sec</a:t>
            </a:r>
            <a:r>
              <a:rPr dirty="0" sz="165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dirty="0" sz="1650" spc="-2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ió</a:t>
            </a:r>
            <a:r>
              <a:rPr dirty="0" sz="1650" spc="-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n	Desc</a:t>
            </a:r>
            <a:r>
              <a:rPr dirty="0" sz="1650" spc="-1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190">
                <a:solidFill>
                  <a:srgbClr val="FFFFFF"/>
                </a:solidFill>
                <a:latin typeface="Arial MT"/>
                <a:cs typeface="Arial MT"/>
              </a:rPr>
              <a:t>ripsión</a:t>
            </a: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75">
                <a:solidFill>
                  <a:srgbClr val="FFFFFF"/>
                </a:solidFill>
                <a:latin typeface="Arial MT"/>
                <a:cs typeface="Arial MT"/>
              </a:rPr>
              <a:t>del</a:t>
            </a:r>
            <a:r>
              <a:rPr dirty="0" sz="16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Co</a:t>
            </a:r>
            <a:r>
              <a:rPr dirty="0" sz="1650" spc="-2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nt</a:t>
            </a:r>
            <a:r>
              <a:rPr dirty="0" sz="16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eni</a:t>
            </a:r>
            <a:r>
              <a:rPr dirty="0" sz="165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6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650" spc="65">
                <a:solidFill>
                  <a:srgbClr val="FFFFFF"/>
                </a:solidFill>
                <a:latin typeface="Arial MT"/>
                <a:cs typeface="Arial MT"/>
              </a:rPr>
              <a:t>Mó</a:t>
            </a:r>
            <a:r>
              <a:rPr dirty="0" sz="1650" spc="-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dul</a:t>
            </a:r>
            <a:r>
              <a:rPr dirty="0" sz="16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40"/>
              </a:spcBef>
            </a:pPr>
            <a:r>
              <a:rPr dirty="0" sz="5500" spc="-135">
                <a:solidFill>
                  <a:srgbClr val="0A284D"/>
                </a:solidFill>
              </a:rPr>
              <a:t>Tabla</a:t>
            </a:r>
            <a:r>
              <a:rPr dirty="0" sz="5500" spc="-140">
                <a:solidFill>
                  <a:srgbClr val="0A284D"/>
                </a:solidFill>
              </a:rPr>
              <a:t> </a:t>
            </a:r>
            <a:r>
              <a:rPr dirty="0" sz="5500" spc="-125">
                <a:solidFill>
                  <a:srgbClr val="132D4F"/>
                </a:solidFill>
              </a:rPr>
              <a:t>de</a:t>
            </a:r>
            <a:r>
              <a:rPr dirty="0" sz="5500" spc="-300">
                <a:solidFill>
                  <a:srgbClr val="132D4F"/>
                </a:solidFill>
              </a:rPr>
              <a:t> </a:t>
            </a:r>
            <a:r>
              <a:rPr dirty="0" sz="5500" spc="-30">
                <a:solidFill>
                  <a:srgbClr val="0A2446"/>
                </a:solidFill>
              </a:rPr>
              <a:t>Contenidos</a:t>
            </a:r>
            <a:endParaRPr sz="5500"/>
          </a:p>
        </p:txBody>
      </p:sp>
      <p:sp>
        <p:nvSpPr>
          <p:cNvPr id="4" name="object 4"/>
          <p:cNvSpPr txBox="1"/>
          <p:nvPr/>
        </p:nvSpPr>
        <p:spPr>
          <a:xfrm>
            <a:off x="1560639" y="4163220"/>
            <a:ext cx="164973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60">
                <a:solidFill>
                  <a:srgbClr val="363636"/>
                </a:solidFill>
                <a:latin typeface="Calibri"/>
                <a:cs typeface="Calibri"/>
              </a:rPr>
              <a:t>1.</a:t>
            </a:r>
            <a:r>
              <a:rPr dirty="0" sz="190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1900" spc="95">
                <a:solidFill>
                  <a:srgbClr val="2D2D2D"/>
                </a:solidFill>
                <a:latin typeface="Calibri"/>
                <a:cs typeface="Calibri"/>
              </a:rPr>
              <a:t>lntroducción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67830" y="5074187"/>
            <a:ext cx="129476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2A2A2A"/>
                </a:solidFill>
                <a:latin typeface="Calibri"/>
                <a:cs typeface="Calibri"/>
              </a:rPr>
              <a:t>2.</a:t>
            </a:r>
            <a:r>
              <a:rPr dirty="0" sz="1900" spc="-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900" spc="65">
                <a:solidFill>
                  <a:srgbClr val="313131"/>
                </a:solidFill>
                <a:latin typeface="Calibri"/>
                <a:cs typeface="Calibri"/>
              </a:rPr>
              <a:t>Objetivos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61858" y="4021863"/>
            <a:ext cx="4548505" cy="60261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4604" marR="5080" indent="-2540">
              <a:lnSpc>
                <a:spcPts val="2230"/>
              </a:lnSpc>
              <a:spcBef>
                <a:spcPts val="245"/>
              </a:spcBef>
            </a:pPr>
            <a:r>
              <a:rPr dirty="0" sz="1900">
                <a:solidFill>
                  <a:srgbClr val="363636"/>
                </a:solidFill>
                <a:latin typeface="Calibri"/>
                <a:cs typeface="Calibri"/>
              </a:rPr>
              <a:t>Problemática</a:t>
            </a:r>
            <a:r>
              <a:rPr dirty="0" sz="1900" spc="19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F2F2F"/>
                </a:solidFill>
                <a:latin typeface="Calibri"/>
                <a:cs typeface="Calibri"/>
              </a:rPr>
              <a:t>operativa</a:t>
            </a:r>
            <a:r>
              <a:rPr dirty="0" sz="1900" spc="21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262626"/>
                </a:solidFill>
                <a:latin typeface="Calibri"/>
                <a:cs typeface="Calibri"/>
              </a:rPr>
              <a:t>del</a:t>
            </a:r>
            <a:r>
              <a:rPr dirty="0" sz="19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33333"/>
                </a:solidFill>
                <a:latin typeface="Calibri"/>
                <a:cs typeface="Calibri"/>
              </a:rPr>
              <a:t>sector</a:t>
            </a:r>
            <a:r>
              <a:rPr dirty="0" sz="1900" spc="1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13131"/>
                </a:solidFill>
                <a:latin typeface="Calibri"/>
                <a:cs typeface="Calibri"/>
              </a:rPr>
              <a:t>hotelero</a:t>
            </a:r>
            <a:r>
              <a:rPr dirty="0" sz="1900" spc="15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A3A3A"/>
                </a:solidFill>
                <a:latin typeface="Calibri"/>
                <a:cs typeface="Calibri"/>
              </a:rPr>
              <a:t>y </a:t>
            </a:r>
            <a:r>
              <a:rPr dirty="0" sz="1900" spc="-10">
                <a:solidFill>
                  <a:srgbClr val="313131"/>
                </a:solidFill>
                <a:latin typeface="Calibri"/>
                <a:cs typeface="Calibri"/>
              </a:rPr>
              <a:t>justificaciones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62752" y="5074187"/>
            <a:ext cx="494728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343434"/>
                </a:solidFill>
                <a:latin typeface="Calibri"/>
                <a:cs typeface="Calibri"/>
              </a:rPr>
              <a:t>Objetivo</a:t>
            </a:r>
            <a:r>
              <a:rPr dirty="0" sz="1900" spc="1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D2D2D"/>
                </a:solidFill>
                <a:latin typeface="Calibri"/>
                <a:cs typeface="Calibri"/>
              </a:rPr>
              <a:t>General</a:t>
            </a:r>
            <a:r>
              <a:rPr dirty="0" sz="1900" spc="6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363636"/>
                </a:solidFill>
                <a:latin typeface="Calibri"/>
                <a:cs typeface="Calibri"/>
              </a:rPr>
              <a:t>y</a:t>
            </a:r>
            <a:r>
              <a:rPr dirty="0" sz="1900" spc="3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82828"/>
                </a:solidFill>
                <a:latin typeface="Calibri"/>
                <a:cs typeface="Calibri"/>
              </a:rPr>
              <a:t>Metodologia</a:t>
            </a:r>
            <a:r>
              <a:rPr dirty="0" sz="1900" spc="18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D2D2D"/>
                </a:solidFill>
                <a:latin typeface="Calibri"/>
                <a:cs typeface="Calibri"/>
              </a:rPr>
              <a:t>SMART</a:t>
            </a:r>
            <a:r>
              <a:rPr dirty="0" sz="1900" spc="14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Calibri"/>
                <a:cs typeface="Calibri"/>
              </a:rPr>
              <a:t>aplicada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8325" y="5827436"/>
            <a:ext cx="1697989" cy="6223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345"/>
              </a:lnSpc>
              <a:spcBef>
                <a:spcPts val="110"/>
              </a:spcBef>
            </a:pPr>
            <a:r>
              <a:rPr dirty="0" sz="2050" spc="-25">
                <a:solidFill>
                  <a:srgbClr val="31425B"/>
                </a:solidFill>
                <a:latin typeface="Calibri"/>
                <a:cs typeface="Calibri"/>
              </a:rPr>
              <a:t>3.</a:t>
            </a:r>
            <a:endParaRPr sz="2050">
              <a:latin typeface="Calibri"/>
              <a:cs typeface="Calibri"/>
            </a:endParaRPr>
          </a:p>
          <a:p>
            <a:pPr marL="15240">
              <a:lnSpc>
                <a:spcPts val="2345"/>
              </a:lnSpc>
            </a:pPr>
            <a:r>
              <a:rPr dirty="0" sz="2050" spc="-10" b="1">
                <a:solidFill>
                  <a:srgbClr val="2A2A2A"/>
                </a:solidFill>
                <a:latin typeface="Calibri"/>
                <a:cs typeface="Calibri"/>
              </a:rPr>
              <a:t>Infraestructura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57617" y="5827436"/>
            <a:ext cx="5296535" cy="62230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 indent="12065">
              <a:lnSpc>
                <a:spcPts val="2230"/>
              </a:lnSpc>
              <a:spcBef>
                <a:spcPts val="375"/>
              </a:spcBef>
            </a:pPr>
            <a:r>
              <a:rPr dirty="0" sz="2050" spc="-55">
                <a:solidFill>
                  <a:srgbClr val="2F2F2F"/>
                </a:solidFill>
                <a:latin typeface="Calibri"/>
                <a:cs typeface="Calibri"/>
              </a:rPr>
              <a:t>Arquitectura</a:t>
            </a:r>
            <a:r>
              <a:rPr dirty="0" sz="2050" spc="114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050" spc="-50">
                <a:solidFill>
                  <a:srgbClr val="333333"/>
                </a:solidFill>
                <a:latin typeface="Calibri"/>
                <a:cs typeface="Calibri"/>
              </a:rPr>
              <a:t>general</a:t>
            </a:r>
            <a:r>
              <a:rPr dirty="0" sz="2050" spc="-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050" spc="-20">
                <a:solidFill>
                  <a:srgbClr val="343434"/>
                </a:solidFill>
                <a:latin typeface="Calibri"/>
                <a:cs typeface="Calibri"/>
              </a:rPr>
              <a:t>MVC</a:t>
            </a:r>
            <a:r>
              <a:rPr dirty="0" sz="2050" spc="5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3A3A3A"/>
                </a:solidFill>
                <a:latin typeface="Calibri"/>
                <a:cs typeface="Calibri"/>
              </a:rPr>
              <a:t>y</a:t>
            </a:r>
            <a:r>
              <a:rPr dirty="0" sz="2050" spc="-4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343434"/>
                </a:solidFill>
                <a:latin typeface="Calibri"/>
                <a:cs typeface="Calibri"/>
              </a:rPr>
              <a:t>base</a:t>
            </a:r>
            <a:r>
              <a:rPr dirty="0" sz="2050" spc="-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050" spc="-25">
                <a:solidFill>
                  <a:srgbClr val="2D2D2D"/>
                </a:solidFill>
                <a:latin typeface="Calibri"/>
                <a:cs typeface="Calibri"/>
              </a:rPr>
              <a:t>genérica</a:t>
            </a:r>
            <a:r>
              <a:rPr dirty="0" sz="2050" spc="2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050" spc="-25">
                <a:solidFill>
                  <a:srgbClr val="363636"/>
                </a:solidFill>
                <a:latin typeface="Calibri"/>
                <a:cs typeface="Calibri"/>
              </a:rPr>
              <a:t>reusable </a:t>
            </a:r>
            <a:r>
              <a:rPr dirty="0" sz="2050" spc="-35">
                <a:solidFill>
                  <a:srgbClr val="232323"/>
                </a:solidFill>
                <a:latin typeface="Calibri"/>
                <a:cs typeface="Calibri"/>
              </a:rPr>
              <a:t>(”RepositoryBase”)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75740" y="7037478"/>
            <a:ext cx="137033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75">
                <a:solidFill>
                  <a:srgbClr val="2B2B2B"/>
                </a:solidFill>
                <a:latin typeface="Calibri"/>
                <a:cs typeface="Calibri"/>
              </a:rPr>
              <a:t>4.</a:t>
            </a:r>
            <a:r>
              <a:rPr dirty="0" sz="1900" spc="-10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900" spc="45">
                <a:solidFill>
                  <a:srgbClr val="2F2F2F"/>
                </a:solidFill>
                <a:latin typeface="Calibri"/>
                <a:cs typeface="Calibri"/>
              </a:rPr>
              <a:t>Desarrollo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7243" y="8089801"/>
            <a:ext cx="93726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75">
                <a:solidFill>
                  <a:srgbClr val="2F2F2F"/>
                </a:solidFill>
                <a:latin typeface="Calibri"/>
                <a:cs typeface="Calibri"/>
              </a:rPr>
              <a:t>5.</a:t>
            </a:r>
            <a:r>
              <a:rPr dirty="0" sz="1900" spc="-11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1900" spc="75">
                <a:solidFill>
                  <a:srgbClr val="2B2B2B"/>
                </a:solidFill>
                <a:latin typeface="Calibri"/>
                <a:cs typeface="Calibri"/>
              </a:rPr>
              <a:t>Cierre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7562" y="10368528"/>
            <a:ext cx="131254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110">
                <a:solidFill>
                  <a:srgbClr val="2BB8C4"/>
                </a:solidFill>
                <a:latin typeface="Calibri"/>
                <a:cs typeface="Calibri"/>
              </a:rPr>
              <a:t>USIL</a:t>
            </a:r>
            <a:r>
              <a:rPr dirty="0" sz="1650" spc="200">
                <a:solidFill>
                  <a:srgbClr val="2BB8C4"/>
                </a:solidFill>
                <a:latin typeface="Calibri"/>
                <a:cs typeface="Calibri"/>
              </a:rPr>
              <a:t> </a:t>
            </a:r>
            <a:r>
              <a:rPr dirty="0" sz="1650" spc="-20">
                <a:solidFill>
                  <a:srgbClr val="11B3D8"/>
                </a:solidFill>
                <a:latin typeface="Calibri"/>
                <a:cs typeface="Calibri"/>
              </a:rPr>
              <a:t>•</a:t>
            </a:r>
            <a:r>
              <a:rPr dirty="0" sz="1650" spc="225">
                <a:solidFill>
                  <a:srgbClr val="11B3D8"/>
                </a:solidFill>
                <a:latin typeface="Calibri"/>
                <a:cs typeface="Calibri"/>
              </a:rPr>
              <a:t> </a:t>
            </a:r>
            <a:r>
              <a:rPr dirty="0" sz="1650" spc="114">
                <a:solidFill>
                  <a:srgbClr val="36A8CA"/>
                </a:solidFill>
                <a:latin typeface="Calibri"/>
                <a:cs typeface="Calibri"/>
              </a:rPr>
              <a:t>POO</a:t>
            </a:r>
            <a:r>
              <a:rPr dirty="0" sz="1650" spc="145">
                <a:solidFill>
                  <a:srgbClr val="36A8CA"/>
                </a:solidFill>
                <a:latin typeface="Calibri"/>
                <a:cs typeface="Calibri"/>
              </a:rPr>
              <a:t> </a:t>
            </a:r>
            <a:r>
              <a:rPr dirty="0" sz="1650" spc="-25">
                <a:solidFill>
                  <a:srgbClr val="36A8CA"/>
                </a:solidFill>
                <a:latin typeface="Calibri"/>
                <a:cs typeface="Calibri"/>
              </a:rPr>
              <a:t>ll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61858" y="6896120"/>
            <a:ext cx="5365750" cy="60261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3335" marR="5080" indent="-1270">
              <a:lnSpc>
                <a:spcPts val="2230"/>
              </a:lnSpc>
              <a:spcBef>
                <a:spcPts val="245"/>
              </a:spcBef>
            </a:pPr>
            <a:r>
              <a:rPr dirty="0" sz="1900">
                <a:solidFill>
                  <a:srgbClr val="2B2B2B"/>
                </a:solidFill>
                <a:latin typeface="Calibri"/>
                <a:cs typeface="Calibri"/>
              </a:rPr>
              <a:t>Explicaciõn</a:t>
            </a:r>
            <a:r>
              <a:rPr dirty="0" sz="1900" spc="1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3B3B3B"/>
                </a:solidFill>
                <a:latin typeface="Calibri"/>
                <a:cs typeface="Calibri"/>
              </a:rPr>
              <a:t>de</a:t>
            </a:r>
            <a:r>
              <a:rPr dirty="0" sz="1900" spc="6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D3D3D"/>
                </a:solidFill>
                <a:latin typeface="Calibri"/>
                <a:cs typeface="Calibri"/>
              </a:rPr>
              <a:t>los</a:t>
            </a:r>
            <a:r>
              <a:rPr dirty="0" sz="1900" spc="7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D2D2D"/>
                </a:solidFill>
                <a:latin typeface="Calibri"/>
                <a:cs typeface="Calibri"/>
              </a:rPr>
              <a:t>Mõdulos</a:t>
            </a:r>
            <a:r>
              <a:rPr dirty="0" sz="1900" spc="11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1900" spc="-484">
                <a:solidFill>
                  <a:srgbClr val="5B799E"/>
                </a:solidFill>
                <a:latin typeface="Calibri"/>
                <a:cs typeface="Calibri"/>
              </a:rPr>
              <a:t>1</a:t>
            </a:r>
            <a:r>
              <a:rPr dirty="0" sz="1900" spc="170">
                <a:solidFill>
                  <a:srgbClr val="5B799E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2F2F2F"/>
                </a:solidFill>
                <a:latin typeface="Calibri"/>
                <a:cs typeface="Calibri"/>
              </a:rPr>
              <a:t>al</a:t>
            </a:r>
            <a:r>
              <a:rPr dirty="0" sz="1900" spc="-3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43434"/>
                </a:solidFill>
                <a:latin typeface="Calibri"/>
                <a:cs typeface="Calibri"/>
              </a:rPr>
              <a:t>7</a:t>
            </a:r>
            <a:r>
              <a:rPr dirty="0" sz="1900" spc="-2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1900" spc="60">
                <a:solidFill>
                  <a:srgbClr val="3D3D3D"/>
                </a:solidFill>
                <a:latin typeface="Calibri"/>
                <a:cs typeface="Calibri"/>
              </a:rPr>
              <a:t>con</a:t>
            </a:r>
            <a:r>
              <a:rPr dirty="0" sz="1900" spc="1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262626"/>
                </a:solidFill>
                <a:latin typeface="Calibri"/>
                <a:cs typeface="Calibri"/>
              </a:rPr>
              <a:t>Patrones</a:t>
            </a:r>
            <a:r>
              <a:rPr dirty="0" sz="1900" spc="1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900" spc="75">
                <a:solidFill>
                  <a:srgbClr val="7087A7"/>
                </a:solidFill>
                <a:latin typeface="Calibri"/>
                <a:cs typeface="Calibri"/>
              </a:rPr>
              <a:t>GoF</a:t>
            </a:r>
            <a:r>
              <a:rPr dirty="0" sz="1900" spc="10">
                <a:solidFill>
                  <a:srgbClr val="7087A7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83838"/>
                </a:solidFill>
                <a:latin typeface="Calibri"/>
                <a:cs typeface="Calibri"/>
              </a:rPr>
              <a:t>y </a:t>
            </a:r>
            <a:r>
              <a:rPr dirty="0" sz="1900" spc="-10">
                <a:solidFill>
                  <a:srgbClr val="2D2D2D"/>
                </a:solidFill>
                <a:latin typeface="Calibri"/>
                <a:cs typeface="Calibri"/>
              </a:rPr>
              <a:t>Concurrencia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62219" y="7932084"/>
            <a:ext cx="5412105" cy="62230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0320" marR="5080" indent="-8255">
              <a:lnSpc>
                <a:spcPts val="2230"/>
              </a:lnSpc>
              <a:spcBef>
                <a:spcPts val="375"/>
              </a:spcBef>
            </a:pPr>
            <a:r>
              <a:rPr dirty="0" sz="2050" spc="-35">
                <a:solidFill>
                  <a:srgbClr val="262626"/>
                </a:solidFill>
                <a:latin typeface="Calibri"/>
                <a:cs typeface="Calibri"/>
              </a:rPr>
              <a:t>Conclusiones</a:t>
            </a:r>
            <a:r>
              <a:rPr dirty="0" sz="2050" spc="14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A2A2A"/>
                </a:solidFill>
                <a:latin typeface="Calibri"/>
                <a:cs typeface="Calibri"/>
              </a:rPr>
              <a:t>de</a:t>
            </a:r>
            <a:r>
              <a:rPr dirty="0" sz="2050" spc="-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050" spc="-60">
                <a:solidFill>
                  <a:srgbClr val="242424"/>
                </a:solidFill>
                <a:latin typeface="Calibri"/>
                <a:cs typeface="Calibri"/>
              </a:rPr>
              <a:t>ingenieria</a:t>
            </a:r>
            <a:r>
              <a:rPr dirty="0" sz="2050" spc="3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2A2A2A"/>
                </a:solidFill>
                <a:latin typeface="Calibri"/>
                <a:cs typeface="Calibri"/>
              </a:rPr>
              <a:t>de</a:t>
            </a:r>
            <a:r>
              <a:rPr dirty="0" sz="2050" spc="-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050" spc="-40">
                <a:solidFill>
                  <a:srgbClr val="2A2A2A"/>
                </a:solidFill>
                <a:latin typeface="Calibri"/>
                <a:cs typeface="Calibri"/>
              </a:rPr>
              <a:t>software</a:t>
            </a:r>
            <a:r>
              <a:rPr dirty="0" sz="2050" spc="7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363636"/>
                </a:solidFill>
                <a:latin typeface="Calibri"/>
                <a:cs typeface="Calibri"/>
              </a:rPr>
              <a:t>y</a:t>
            </a:r>
            <a:r>
              <a:rPr dirty="0" sz="2050" spc="-2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050" spc="-25">
                <a:solidFill>
                  <a:srgbClr val="242424"/>
                </a:solidFill>
                <a:latin typeface="Calibri"/>
                <a:cs typeface="Calibri"/>
              </a:rPr>
              <a:t>referencias </a:t>
            </a:r>
            <a:r>
              <a:rPr dirty="0" sz="2050" spc="-25">
                <a:solidFill>
                  <a:srgbClr val="3A3A3A"/>
                </a:solidFill>
                <a:latin typeface="Calibri"/>
                <a:cs typeface="Calibri"/>
              </a:rPr>
              <a:t>APA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05572" y="4212302"/>
            <a:ext cx="46037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0">
                <a:solidFill>
                  <a:srgbClr val="82BCE9"/>
                </a:solidFill>
                <a:latin typeface="Calibri"/>
                <a:cs typeface="Calibri"/>
              </a:rPr>
              <a:t>Filtro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60750" y="5106908"/>
            <a:ext cx="93091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10">
                <a:solidFill>
                  <a:srgbClr val="79CCF4"/>
                </a:solidFill>
                <a:latin typeface="Calibri"/>
                <a:cs typeface="Calibri"/>
              </a:rPr>
              <a:t>Estrategia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208585" y="6001514"/>
            <a:ext cx="6388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8C5670"/>
                </a:solidFill>
                <a:latin typeface="Calibri"/>
                <a:cs typeface="Calibri"/>
              </a:rPr>
              <a:t>Núcleo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09243" y="6932862"/>
            <a:ext cx="982344" cy="56261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550">
                <a:solidFill>
                  <a:srgbClr val="72BCAA"/>
                </a:solidFill>
                <a:latin typeface="Calibri"/>
                <a:cs typeface="Calibri"/>
              </a:rPr>
              <a:t>Môdulos</a:t>
            </a:r>
            <a:r>
              <a:rPr dirty="0" sz="1550" spc="325">
                <a:solidFill>
                  <a:srgbClr val="72BCAA"/>
                </a:solidFill>
                <a:latin typeface="Calibri"/>
                <a:cs typeface="Calibri"/>
              </a:rPr>
              <a:t> </a:t>
            </a:r>
            <a:r>
              <a:rPr dirty="0" sz="1550" spc="-500">
                <a:solidFill>
                  <a:srgbClr val="3B877B"/>
                </a:solidFill>
                <a:latin typeface="Calibri"/>
                <a:cs typeface="Calibri"/>
              </a:rPr>
              <a:t>1—</a:t>
            </a:r>
            <a:endParaRPr sz="1550">
              <a:latin typeface="Calibri"/>
              <a:cs typeface="Calibri"/>
            </a:endParaRPr>
          </a:p>
          <a:p>
            <a:pPr marL="308610">
              <a:lnSpc>
                <a:spcPct val="100000"/>
              </a:lnSpc>
              <a:spcBef>
                <a:spcPts val="120"/>
              </a:spcBef>
            </a:pPr>
            <a:r>
              <a:rPr dirty="0" sz="1800" spc="-50">
                <a:solidFill>
                  <a:srgbClr val="2B675B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181186" y="8122523"/>
            <a:ext cx="7086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10">
                <a:solidFill>
                  <a:srgbClr val="B8A0DA"/>
                </a:solidFill>
                <a:latin typeface="Calibri"/>
                <a:cs typeface="Calibri"/>
              </a:rPr>
              <a:t>Síntesis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750984" y="4857570"/>
            <a:ext cx="5224145" cy="9956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86409" algn="l"/>
              </a:tabLst>
            </a:pPr>
            <a:r>
              <a:rPr dirty="0" sz="2800" spc="65">
                <a:solidFill>
                  <a:srgbClr val="01B1D3"/>
                </a:solidFill>
                <a:latin typeface="Cambria"/>
                <a:cs typeface="Cambria"/>
              </a:rPr>
              <a:t>H</a:t>
            </a:r>
            <a:r>
              <a:rPr dirty="0" sz="2800">
                <a:solidFill>
                  <a:srgbClr val="01B1D3"/>
                </a:solidFill>
                <a:latin typeface="Cambria"/>
                <a:cs typeface="Cambria"/>
              </a:rPr>
              <a:t>	</a:t>
            </a:r>
            <a:r>
              <a:rPr dirty="0" sz="2800" spc="-40" b="1">
                <a:solidFill>
                  <a:srgbClr val="072D59"/>
                </a:solidFill>
                <a:latin typeface="Cambria"/>
                <a:cs typeface="Cambria"/>
              </a:rPr>
              <a:t>Caso</a:t>
            </a:r>
            <a:r>
              <a:rPr dirty="0" sz="2800" spc="-70" b="1">
                <a:solidFill>
                  <a:srgbClr val="072D59"/>
                </a:solidFill>
                <a:latin typeface="Cambria"/>
                <a:cs typeface="Cambria"/>
              </a:rPr>
              <a:t> </a:t>
            </a:r>
            <a:r>
              <a:rPr dirty="0" sz="2800" spc="-170" b="1">
                <a:solidFill>
                  <a:srgbClr val="001F3F"/>
                </a:solidFill>
                <a:latin typeface="Cambria"/>
                <a:cs typeface="Cambria"/>
              </a:rPr>
              <a:t>de</a:t>
            </a:r>
            <a:r>
              <a:rPr dirty="0" sz="2800" spc="-30" b="1">
                <a:solidFill>
                  <a:srgbClr val="001F3F"/>
                </a:solidFill>
                <a:latin typeface="Cambria"/>
                <a:cs typeface="Cambria"/>
              </a:rPr>
              <a:t> </a:t>
            </a:r>
            <a:r>
              <a:rPr dirty="0" sz="2800" spc="-10" b="1">
                <a:solidFill>
                  <a:srgbClr val="05233B"/>
                </a:solidFill>
                <a:latin typeface="Cambria"/>
                <a:cs typeface="Cambria"/>
              </a:rPr>
              <a:t>Estudio</a:t>
            </a:r>
            <a:endParaRPr sz="2800">
              <a:latin typeface="Cambria"/>
              <a:cs typeface="Cambria"/>
            </a:endParaRPr>
          </a:p>
          <a:p>
            <a:pPr marL="27305">
              <a:lnSpc>
                <a:spcPct val="100000"/>
              </a:lnSpc>
              <a:spcBef>
                <a:spcPts val="1780"/>
              </a:spcBef>
            </a:pPr>
            <a:r>
              <a:rPr dirty="0" sz="2050">
                <a:solidFill>
                  <a:srgbClr val="8A9AAA"/>
                </a:solidFill>
                <a:latin typeface="Calibri"/>
                <a:cs typeface="Calibri"/>
              </a:rPr>
              <a:t>El</a:t>
            </a:r>
            <a:r>
              <a:rPr dirty="0" sz="2050" spc="-75">
                <a:solidFill>
                  <a:srgbClr val="8A9AAA"/>
                </a:solidFill>
                <a:latin typeface="Calibri"/>
                <a:cs typeface="Calibri"/>
              </a:rPr>
              <a:t> </a:t>
            </a:r>
            <a:r>
              <a:rPr dirty="0" sz="2050" b="1">
                <a:solidFill>
                  <a:srgbClr val="445475"/>
                </a:solidFill>
                <a:latin typeface="Calibri"/>
                <a:cs typeface="Calibri"/>
              </a:rPr>
              <a:t>lnti</a:t>
            </a:r>
            <a:r>
              <a:rPr dirty="0" sz="2050" spc="-65" b="1">
                <a:solidFill>
                  <a:srgbClr val="445475"/>
                </a:solidFill>
                <a:latin typeface="Calibri"/>
                <a:cs typeface="Calibri"/>
              </a:rPr>
              <a:t> </a:t>
            </a:r>
            <a:r>
              <a:rPr dirty="0" sz="2050" spc="-10" b="1">
                <a:solidFill>
                  <a:srgbClr val="3F3F3F"/>
                </a:solidFill>
                <a:latin typeface="Calibri"/>
                <a:cs typeface="Calibri"/>
              </a:rPr>
              <a:t>Horizon</a:t>
            </a:r>
            <a:r>
              <a:rPr dirty="0" sz="2050" spc="15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050" b="1">
                <a:solidFill>
                  <a:srgbClr val="505050"/>
                </a:solidFill>
                <a:latin typeface="Calibri"/>
                <a:cs typeface="Calibri"/>
              </a:rPr>
              <a:t>Palace</a:t>
            </a:r>
            <a:r>
              <a:rPr dirty="0" sz="2050" spc="-25" b="1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B4B4B"/>
                </a:solidFill>
                <a:latin typeface="Calibri"/>
                <a:cs typeface="Calibri"/>
              </a:rPr>
              <a:t>es</a:t>
            </a:r>
            <a:r>
              <a:rPr dirty="0" sz="2050" spc="-8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B4B4B"/>
                </a:solidFill>
                <a:latin typeface="Calibri"/>
                <a:cs typeface="Calibri"/>
              </a:rPr>
              <a:t>un</a:t>
            </a:r>
            <a:r>
              <a:rPr dirty="0" sz="2050" spc="-6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050" spc="-70">
                <a:solidFill>
                  <a:srgbClr val="4D4D4D"/>
                </a:solidFill>
                <a:latin typeface="Calibri"/>
                <a:cs typeface="Calibri"/>
              </a:rPr>
              <a:t>hotel</a:t>
            </a:r>
            <a:r>
              <a:rPr dirty="0" sz="20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050" spc="-50">
                <a:solidFill>
                  <a:srgbClr val="444444"/>
                </a:solidFill>
                <a:latin typeface="Calibri"/>
                <a:cs typeface="Calibri"/>
              </a:rPr>
              <a:t>boutique</a:t>
            </a:r>
            <a:r>
              <a:rPr dirty="0" sz="2050" spc="9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64646"/>
                </a:solidFill>
                <a:latin typeface="Calibri"/>
                <a:cs typeface="Calibri"/>
              </a:rPr>
              <a:t>de</a:t>
            </a:r>
            <a:r>
              <a:rPr dirty="0" sz="2050" spc="-2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050" spc="-20">
                <a:solidFill>
                  <a:srgbClr val="4B4B4B"/>
                </a:solidFill>
                <a:latin typeface="Calibri"/>
                <a:cs typeface="Calibri"/>
              </a:rPr>
              <a:t>alta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768402" y="5811729"/>
            <a:ext cx="5636260" cy="109347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just" marL="12700" marR="5080" indent="4445">
              <a:lnSpc>
                <a:spcPct val="113100"/>
              </a:lnSpc>
              <a:spcBef>
                <a:spcPts val="160"/>
              </a:spcBef>
            </a:pPr>
            <a:r>
              <a:rPr dirty="0" sz="2050" spc="-20">
                <a:solidFill>
                  <a:srgbClr val="464646"/>
                </a:solidFill>
                <a:latin typeface="Calibri"/>
                <a:cs typeface="Calibri"/>
              </a:rPr>
              <a:t>gama</a:t>
            </a:r>
            <a:r>
              <a:rPr dirty="0" sz="2050" spc="-9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050" spc="-10">
                <a:solidFill>
                  <a:srgbClr val="343434"/>
                </a:solidFill>
                <a:latin typeface="Calibri"/>
                <a:cs typeface="Calibri"/>
              </a:rPr>
              <a:t>enfocado</a:t>
            </a:r>
            <a:r>
              <a:rPr dirty="0" sz="2050" spc="-3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14141"/>
                </a:solidFill>
                <a:latin typeface="Calibri"/>
                <a:cs typeface="Calibri"/>
              </a:rPr>
              <a:t>en</a:t>
            </a:r>
            <a:r>
              <a:rPr dirty="0" sz="2050" spc="-114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14141"/>
                </a:solidFill>
                <a:latin typeface="Calibri"/>
                <a:cs typeface="Calibri"/>
              </a:rPr>
              <a:t>el</a:t>
            </a:r>
            <a:r>
              <a:rPr dirty="0" sz="2050" spc="-11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050" spc="-90">
                <a:solidFill>
                  <a:srgbClr val="424242"/>
                </a:solidFill>
                <a:latin typeface="Calibri"/>
                <a:cs typeface="Calibri"/>
              </a:rPr>
              <a:t>turismo</a:t>
            </a:r>
            <a:r>
              <a:rPr dirty="0" sz="2050" spc="-2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050" spc="-50">
                <a:solidFill>
                  <a:srgbClr val="464646"/>
                </a:solidFill>
                <a:latin typeface="Calibri"/>
                <a:cs typeface="Calibri"/>
              </a:rPr>
              <a:t>corporativo</a:t>
            </a:r>
            <a:r>
              <a:rPr dirty="0" sz="2050" spc="1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050" spc="-50">
                <a:solidFill>
                  <a:srgbClr val="444444"/>
                </a:solidFill>
                <a:latin typeface="Calibri"/>
                <a:cs typeface="Calibri"/>
              </a:rPr>
              <a:t>internacional. </a:t>
            </a:r>
            <a:r>
              <a:rPr dirty="0" sz="2050">
                <a:solidFill>
                  <a:srgbClr val="484848"/>
                </a:solidFill>
                <a:latin typeface="Calibri"/>
                <a:cs typeface="Calibri"/>
              </a:rPr>
              <a:t>Se</a:t>
            </a:r>
            <a:r>
              <a:rPr dirty="0" sz="2050" spc="-10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050" spc="-25">
                <a:solidFill>
                  <a:srgbClr val="494949"/>
                </a:solidFill>
                <a:latin typeface="Calibri"/>
                <a:cs typeface="Calibri"/>
              </a:rPr>
              <a:t>plantea</a:t>
            </a:r>
            <a:r>
              <a:rPr dirty="0" sz="2050" spc="-4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050" spc="-50">
                <a:solidFill>
                  <a:srgbClr val="4B4B4B"/>
                </a:solidFill>
                <a:latin typeface="Calibri"/>
                <a:cs typeface="Calibri"/>
              </a:rPr>
              <a:t>resolver</a:t>
            </a:r>
            <a:r>
              <a:rPr dirty="0" sz="2050" spc="-1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8293A3"/>
                </a:solidFill>
                <a:latin typeface="Calibri"/>
                <a:cs typeface="Calibri"/>
              </a:rPr>
              <a:t>sus</a:t>
            </a:r>
            <a:r>
              <a:rPr dirty="0" sz="2050" spc="-85">
                <a:solidFill>
                  <a:srgbClr val="8293A3"/>
                </a:solidFill>
                <a:latin typeface="Calibri"/>
                <a:cs typeface="Calibri"/>
              </a:rPr>
              <a:t> </a:t>
            </a:r>
            <a:r>
              <a:rPr dirty="0" sz="2050" spc="-55">
                <a:solidFill>
                  <a:srgbClr val="494949"/>
                </a:solidFill>
                <a:latin typeface="Calibri"/>
                <a:cs typeface="Calibri"/>
              </a:rPr>
              <a:t>limitaciones</a:t>
            </a:r>
            <a:r>
              <a:rPr dirty="0" sz="2050" spc="2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050" spc="-35">
                <a:solidFill>
                  <a:srgbClr val="444444"/>
                </a:solidFill>
                <a:latin typeface="Calibri"/>
                <a:cs typeface="Calibri"/>
              </a:rPr>
              <a:t>operativas</a:t>
            </a:r>
            <a:r>
              <a:rPr dirty="0" sz="2050" spc="5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050" spc="-35">
                <a:solidFill>
                  <a:srgbClr val="4B4B4B"/>
                </a:solidFill>
                <a:latin typeface="Calibri"/>
                <a:cs typeface="Calibri"/>
              </a:rPr>
              <a:t>internas </a:t>
            </a:r>
            <a:r>
              <a:rPr dirty="0" sz="2050" spc="-60">
                <a:solidFill>
                  <a:srgbClr val="494949"/>
                </a:solidFill>
                <a:latin typeface="Calibri"/>
                <a:cs typeface="Calibri"/>
              </a:rPr>
              <a:t>mediante</a:t>
            </a:r>
            <a:r>
              <a:rPr dirty="0" sz="2050" spc="-2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525252"/>
                </a:solidFill>
                <a:latin typeface="Calibri"/>
                <a:cs typeface="Calibri"/>
              </a:rPr>
              <a:t>un</a:t>
            </a:r>
            <a:r>
              <a:rPr dirty="0" sz="2050" spc="-9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2050" spc="-25">
                <a:solidFill>
                  <a:srgbClr val="4B4B4B"/>
                </a:solidFill>
                <a:latin typeface="Calibri"/>
                <a:cs typeface="Calibri"/>
              </a:rPr>
              <a:t>sistema</a:t>
            </a:r>
            <a:r>
              <a:rPr dirty="0" sz="2050" spc="-1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050" spc="-45">
                <a:solidFill>
                  <a:srgbClr val="464646"/>
                </a:solidFill>
                <a:latin typeface="Calibri"/>
                <a:cs typeface="Calibri"/>
              </a:rPr>
              <a:t>distribuido</a:t>
            </a:r>
            <a:r>
              <a:rPr dirty="0" sz="2050" spc="2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F5672"/>
                </a:solidFill>
                <a:latin typeface="Calibri"/>
                <a:cs typeface="Calibri"/>
              </a:rPr>
              <a:t>y</a:t>
            </a:r>
            <a:r>
              <a:rPr dirty="0" sz="2050" spc="-45">
                <a:solidFill>
                  <a:srgbClr val="4F5672"/>
                </a:solidFill>
                <a:latin typeface="Calibri"/>
                <a:cs typeface="Calibri"/>
              </a:rPr>
              <a:t> </a:t>
            </a:r>
            <a:r>
              <a:rPr dirty="0" sz="2050" spc="-10">
                <a:solidFill>
                  <a:srgbClr val="3F3F3F"/>
                </a:solidFill>
                <a:latin typeface="Calibri"/>
                <a:cs typeface="Calibri"/>
              </a:rPr>
              <a:t>limpio.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216356" y="10384889"/>
            <a:ext cx="160909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65">
                <a:solidFill>
                  <a:srgbClr val="909090"/>
                </a:solidFill>
                <a:latin typeface="Calibri"/>
                <a:cs typeface="Calibri"/>
              </a:rPr>
              <a:t>Diapositiva</a:t>
            </a:r>
            <a:r>
              <a:rPr dirty="0" sz="1550" spc="165">
                <a:solidFill>
                  <a:srgbClr val="909090"/>
                </a:solidFill>
                <a:latin typeface="Calibri"/>
                <a:cs typeface="Calibri"/>
              </a:rPr>
              <a:t> </a:t>
            </a:r>
            <a:r>
              <a:rPr dirty="0" sz="1550" spc="60">
                <a:solidFill>
                  <a:srgbClr val="9E9E9E"/>
                </a:solidFill>
                <a:latin typeface="Calibri"/>
                <a:cs typeface="Calibri"/>
              </a:rPr>
              <a:t>2</a:t>
            </a:r>
            <a:r>
              <a:rPr dirty="0" sz="1550" spc="-10">
                <a:solidFill>
                  <a:srgbClr val="9E9E9E"/>
                </a:solidFill>
                <a:latin typeface="Calibri"/>
                <a:cs typeface="Calibri"/>
              </a:rPr>
              <a:t> </a:t>
            </a:r>
            <a:r>
              <a:rPr dirty="0" sz="1550" spc="60">
                <a:solidFill>
                  <a:srgbClr val="9E9E9E"/>
                </a:solidFill>
                <a:latin typeface="Calibri"/>
                <a:cs typeface="Calibri"/>
              </a:rPr>
              <a:t>de</a:t>
            </a:r>
            <a:r>
              <a:rPr dirty="0" sz="1550" spc="110">
                <a:solidFill>
                  <a:srgbClr val="9E9E9E"/>
                </a:solidFill>
                <a:latin typeface="Calibri"/>
                <a:cs typeface="Calibri"/>
              </a:rPr>
              <a:t> </a:t>
            </a:r>
            <a:r>
              <a:rPr dirty="0" sz="1550" spc="-370">
                <a:solidFill>
                  <a:srgbClr val="9E9E9E"/>
                </a:solidFill>
                <a:latin typeface="Calibri"/>
                <a:cs typeface="Calibri"/>
              </a:rPr>
              <a:t>11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1882" y="3549630"/>
            <a:ext cx="8434298" cy="535585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25"/>
              </a:spcBef>
            </a:pPr>
            <a:r>
              <a:rPr dirty="0" sz="5900" spc="-35">
                <a:solidFill>
                  <a:srgbClr val="052649"/>
                </a:solidFill>
                <a:latin typeface="Times New Roman"/>
                <a:cs typeface="Times New Roman"/>
              </a:rPr>
              <a:t>Introducción</a:t>
            </a:r>
            <a:r>
              <a:rPr dirty="0" sz="5900" spc="-235">
                <a:solidFill>
                  <a:srgbClr val="052649"/>
                </a:solidFill>
                <a:latin typeface="Times New Roman"/>
                <a:cs typeface="Times New Roman"/>
              </a:rPr>
              <a:t> </a:t>
            </a:r>
            <a:r>
              <a:rPr dirty="0" sz="5900">
                <a:solidFill>
                  <a:srgbClr val="0C233F"/>
                </a:solidFill>
                <a:latin typeface="Times New Roman"/>
                <a:cs typeface="Times New Roman"/>
              </a:rPr>
              <a:t>y</a:t>
            </a:r>
            <a:r>
              <a:rPr dirty="0" sz="5900" spc="-370">
                <a:solidFill>
                  <a:srgbClr val="0C233F"/>
                </a:solidFill>
                <a:latin typeface="Times New Roman"/>
                <a:cs typeface="Times New Roman"/>
              </a:rPr>
              <a:t> </a:t>
            </a:r>
            <a:r>
              <a:rPr dirty="0" sz="5900" spc="-110">
                <a:solidFill>
                  <a:srgbClr val="082648"/>
                </a:solidFill>
                <a:latin typeface="Times New Roman"/>
                <a:cs typeface="Times New Roman"/>
              </a:rPr>
              <a:t>Problemática</a:t>
            </a:r>
            <a:endParaRPr sz="5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2842" y="2886426"/>
            <a:ext cx="7560309" cy="15259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5875" marR="5080" indent="-3810">
              <a:lnSpc>
                <a:spcPct val="116900"/>
              </a:lnSpc>
              <a:spcBef>
                <a:spcPts val="120"/>
              </a:spcBef>
            </a:pPr>
            <a:r>
              <a:rPr dirty="0" sz="2800">
                <a:solidFill>
                  <a:srgbClr val="697480"/>
                </a:solidFill>
                <a:latin typeface="Calibri"/>
                <a:cs typeface="Calibri"/>
              </a:rPr>
              <a:t>La</a:t>
            </a:r>
            <a:r>
              <a:rPr dirty="0" sz="2800" spc="240">
                <a:solidFill>
                  <a:srgbClr val="69748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47285"/>
                </a:solidFill>
                <a:latin typeface="Calibri"/>
                <a:cs typeface="Calibri"/>
              </a:rPr>
              <a:t>gestión</a:t>
            </a:r>
            <a:r>
              <a:rPr dirty="0" sz="2800" spc="-114">
                <a:solidFill>
                  <a:srgbClr val="647285"/>
                </a:solidFill>
                <a:latin typeface="Calibri"/>
                <a:cs typeface="Calibri"/>
              </a:rPr>
              <a:t> </a:t>
            </a:r>
            <a:r>
              <a:rPr dirty="0" sz="2800" spc="-45">
                <a:solidFill>
                  <a:srgbClr val="6E6D7E"/>
                </a:solidFill>
                <a:latin typeface="Calibri"/>
                <a:cs typeface="Calibri"/>
              </a:rPr>
              <a:t>manual</a:t>
            </a:r>
            <a:r>
              <a:rPr dirty="0" sz="2800" spc="-15">
                <a:solidFill>
                  <a:srgbClr val="6E6D7E"/>
                </a:solidFill>
                <a:latin typeface="Calibri"/>
                <a:cs typeface="Calibri"/>
              </a:rPr>
              <a:t> </a:t>
            </a:r>
            <a:r>
              <a:rPr dirty="0" sz="2800" spc="65">
                <a:solidFill>
                  <a:srgbClr val="7C8EA0"/>
                </a:solidFill>
                <a:latin typeface="Calibri"/>
                <a:cs typeface="Calibri"/>
              </a:rPr>
              <a:t>de</a:t>
            </a:r>
            <a:r>
              <a:rPr dirty="0" sz="2800" spc="-160">
                <a:solidFill>
                  <a:srgbClr val="7C8EA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96969"/>
                </a:solidFill>
                <a:latin typeface="Calibri"/>
                <a:cs typeface="Calibri"/>
              </a:rPr>
              <a:t>reservas,</a:t>
            </a:r>
            <a:r>
              <a:rPr dirty="0" sz="2800" spc="-1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07482"/>
                </a:solidFill>
                <a:latin typeface="Calibri"/>
                <a:cs typeface="Calibri"/>
              </a:rPr>
              <a:t>limpieza</a:t>
            </a:r>
            <a:r>
              <a:rPr dirty="0" sz="2800" spc="15">
                <a:solidFill>
                  <a:srgbClr val="607482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46464"/>
                </a:solidFill>
                <a:latin typeface="Calibri"/>
                <a:cs typeface="Calibri"/>
              </a:rPr>
              <a:t>y</a:t>
            </a:r>
            <a:r>
              <a:rPr dirty="0" sz="2800" spc="-7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5E5E5E"/>
                </a:solidFill>
                <a:latin typeface="Calibri"/>
                <a:cs typeface="Calibri"/>
              </a:rPr>
              <a:t>cierres </a:t>
            </a:r>
            <a:r>
              <a:rPr dirty="0" sz="2800">
                <a:solidFill>
                  <a:srgbClr val="5E5E5E"/>
                </a:solidFill>
                <a:latin typeface="Calibri"/>
                <a:cs typeface="Calibri"/>
              </a:rPr>
              <a:t>contables</a:t>
            </a:r>
            <a:r>
              <a:rPr dirty="0" sz="2800" spc="30">
                <a:solidFill>
                  <a:srgbClr val="5E5E5E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89909C"/>
                </a:solidFill>
                <a:latin typeface="Calibri"/>
                <a:cs typeface="Calibri"/>
              </a:rPr>
              <a:t>en</a:t>
            </a:r>
            <a:r>
              <a:rPr dirty="0" sz="2800" spc="-130">
                <a:solidFill>
                  <a:srgbClr val="89909C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5B5B5B"/>
                </a:solidFill>
                <a:latin typeface="Calibri"/>
                <a:cs typeface="Calibri"/>
              </a:rPr>
              <a:t>hoteles</a:t>
            </a:r>
            <a:r>
              <a:rPr dirty="0" sz="2800" spc="55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2800" spc="65">
                <a:solidFill>
                  <a:srgbClr val="646D77"/>
                </a:solidFill>
                <a:latin typeface="Calibri"/>
                <a:cs typeface="Calibri"/>
              </a:rPr>
              <a:t>de</a:t>
            </a:r>
            <a:r>
              <a:rPr dirty="0" sz="2800" spc="-125">
                <a:solidFill>
                  <a:srgbClr val="646D77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27489"/>
                </a:solidFill>
                <a:latin typeface="Calibri"/>
                <a:cs typeface="Calibri"/>
              </a:rPr>
              <a:t>alta</a:t>
            </a:r>
            <a:r>
              <a:rPr dirty="0" sz="2800" spc="-125">
                <a:solidFill>
                  <a:srgbClr val="62748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757575"/>
                </a:solidFill>
                <a:latin typeface="Calibri"/>
                <a:cs typeface="Calibri"/>
              </a:rPr>
              <a:t>gama</a:t>
            </a:r>
            <a:r>
              <a:rPr dirty="0" sz="2800" spc="-10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6E6E6E"/>
                </a:solidFill>
                <a:latin typeface="Calibri"/>
                <a:cs typeface="Calibri"/>
              </a:rPr>
              <a:t>genera</a:t>
            </a:r>
            <a:r>
              <a:rPr dirty="0" sz="2800" spc="-15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E6E6E"/>
                </a:solidFill>
                <a:latin typeface="Calibri"/>
                <a:cs typeface="Calibri"/>
              </a:rPr>
              <a:t>cuellos</a:t>
            </a:r>
            <a:r>
              <a:rPr dirty="0" sz="2800" spc="65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dirty="0" sz="2800" spc="40">
                <a:solidFill>
                  <a:srgbClr val="828C9A"/>
                </a:solidFill>
                <a:latin typeface="Calibri"/>
                <a:cs typeface="Calibri"/>
              </a:rPr>
              <a:t>de </a:t>
            </a:r>
            <a:r>
              <a:rPr dirty="0" sz="2800">
                <a:solidFill>
                  <a:srgbClr val="707B87"/>
                </a:solidFill>
                <a:latin typeface="Calibri"/>
                <a:cs typeface="Calibri"/>
              </a:rPr>
              <a:t>botella</a:t>
            </a:r>
            <a:r>
              <a:rPr dirty="0" sz="2800" spc="-120">
                <a:solidFill>
                  <a:srgbClr val="707B87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46464"/>
                </a:solidFill>
                <a:latin typeface="Calibri"/>
                <a:cs typeface="Calibri"/>
              </a:rPr>
              <a:t>críticos.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5798" y="4885056"/>
            <a:ext cx="8023225" cy="36817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860" marR="942975" indent="-10160">
              <a:lnSpc>
                <a:spcPct val="110600"/>
              </a:lnSpc>
              <a:spcBef>
                <a:spcPts val="95"/>
              </a:spcBef>
            </a:pPr>
            <a:r>
              <a:rPr dirty="0" sz="2050" spc="80">
                <a:solidFill>
                  <a:srgbClr val="484848"/>
                </a:solidFill>
                <a:latin typeface="Calibri"/>
                <a:cs typeface="Calibri"/>
              </a:rPr>
              <a:t>Concurrencia</a:t>
            </a:r>
            <a:r>
              <a:rPr dirty="0" sz="2050" spc="30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050" spc="90">
                <a:solidFill>
                  <a:srgbClr val="464646"/>
                </a:solidFill>
                <a:latin typeface="Calibri"/>
                <a:cs typeface="Calibri"/>
              </a:rPr>
              <a:t>descontrolada:</a:t>
            </a:r>
            <a:r>
              <a:rPr dirty="0" sz="2050" spc="5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44444"/>
                </a:solidFill>
                <a:latin typeface="Calibri"/>
                <a:cs typeface="Calibri"/>
              </a:rPr>
              <a:t>Pérdida</a:t>
            </a:r>
            <a:r>
              <a:rPr dirty="0" sz="2050" spc="13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050" spc="50">
                <a:solidFill>
                  <a:srgbClr val="414141"/>
                </a:solidFill>
                <a:latin typeface="Calibri"/>
                <a:cs typeface="Calibri"/>
              </a:rPr>
              <a:t>de</a:t>
            </a:r>
            <a:r>
              <a:rPr dirty="0" sz="2050" spc="175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3F3F3F"/>
                </a:solidFill>
                <a:latin typeface="Calibri"/>
                <a:cs typeface="Calibri"/>
              </a:rPr>
              <a:t>integridad</a:t>
            </a:r>
            <a:r>
              <a:rPr dirty="0" sz="2050" spc="17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050" spc="50">
                <a:solidFill>
                  <a:srgbClr val="4D4D4D"/>
                </a:solidFill>
                <a:latin typeface="Calibri"/>
                <a:cs typeface="Calibri"/>
              </a:rPr>
              <a:t>de</a:t>
            </a:r>
            <a:r>
              <a:rPr dirty="0" sz="2050" spc="14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14141"/>
                </a:solidFill>
                <a:latin typeface="Calibri"/>
                <a:cs typeface="Calibri"/>
              </a:rPr>
              <a:t>datos</a:t>
            </a:r>
            <a:r>
              <a:rPr dirty="0" sz="2050" spc="27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050" spc="-50">
                <a:solidFill>
                  <a:srgbClr val="4F4F4F"/>
                </a:solidFill>
                <a:latin typeface="Calibri"/>
                <a:cs typeface="Calibri"/>
              </a:rPr>
              <a:t>y </a:t>
            </a:r>
            <a:r>
              <a:rPr dirty="0" sz="2050">
                <a:solidFill>
                  <a:srgbClr val="494949"/>
                </a:solidFill>
                <a:latin typeface="Calibri"/>
                <a:cs typeface="Calibri"/>
              </a:rPr>
              <a:t>sobreventa</a:t>
            </a:r>
            <a:r>
              <a:rPr dirty="0" sz="2050" spc="229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050" spc="50">
                <a:solidFill>
                  <a:srgbClr val="6B8097"/>
                </a:solidFill>
                <a:latin typeface="Calibri"/>
                <a:cs typeface="Calibri"/>
              </a:rPr>
              <a:t>de</a:t>
            </a:r>
            <a:r>
              <a:rPr dirty="0" sz="2050" spc="220">
                <a:solidFill>
                  <a:srgbClr val="6B8097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44444"/>
                </a:solidFill>
                <a:latin typeface="Calibri"/>
                <a:cs typeface="Calibri"/>
              </a:rPr>
              <a:t>habitaciones</a:t>
            </a:r>
            <a:r>
              <a:rPr dirty="0" sz="2050" spc="459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44444"/>
                </a:solidFill>
                <a:latin typeface="Calibri"/>
                <a:cs typeface="Calibri"/>
              </a:rPr>
              <a:t>durante</a:t>
            </a:r>
            <a:r>
              <a:rPr dirty="0" sz="2050" spc="45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64646"/>
                </a:solidFill>
                <a:latin typeface="Calibri"/>
                <a:cs typeface="Calibri"/>
              </a:rPr>
              <a:t>temporadas</a:t>
            </a:r>
            <a:r>
              <a:rPr dirty="0" sz="2050" spc="70">
                <a:solidFill>
                  <a:srgbClr val="464646"/>
                </a:solidFill>
                <a:latin typeface="Calibri"/>
                <a:cs typeface="Calibri"/>
              </a:rPr>
              <a:t>  </a:t>
            </a:r>
            <a:r>
              <a:rPr dirty="0" sz="2050" spc="-10">
                <a:solidFill>
                  <a:srgbClr val="484848"/>
                </a:solidFill>
                <a:latin typeface="Calibri"/>
                <a:cs typeface="Calibri"/>
              </a:rPr>
              <a:t>altas.</a:t>
            </a:r>
            <a:endParaRPr sz="2050">
              <a:latin typeface="Calibri"/>
              <a:cs typeface="Calibri"/>
            </a:endParaRPr>
          </a:p>
          <a:p>
            <a:pPr marL="13970" marR="860425" indent="-1270">
              <a:lnSpc>
                <a:spcPct val="119300"/>
              </a:lnSpc>
              <a:spcBef>
                <a:spcPts val="2320"/>
              </a:spcBef>
            </a:pPr>
            <a:r>
              <a:rPr dirty="0" sz="1900" spc="165">
                <a:solidFill>
                  <a:srgbClr val="484848"/>
                </a:solidFill>
                <a:latin typeface="Calibri"/>
                <a:cs typeface="Calibri"/>
              </a:rPr>
              <a:t>Vacío</a:t>
            </a:r>
            <a:r>
              <a:rPr dirty="0" sz="1900" spc="9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900" spc="140">
                <a:solidFill>
                  <a:srgbClr val="4F4F4F"/>
                </a:solidFill>
                <a:latin typeface="Calibri"/>
                <a:cs typeface="Calibri"/>
              </a:rPr>
              <a:t>Operativo</a:t>
            </a:r>
            <a:r>
              <a:rPr dirty="0" sz="1900" spc="18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900" spc="160">
                <a:solidFill>
                  <a:srgbClr val="505669"/>
                </a:solidFill>
                <a:latin typeface="Calibri"/>
                <a:cs typeface="Calibri"/>
              </a:rPr>
              <a:t>en</a:t>
            </a:r>
            <a:r>
              <a:rPr dirty="0" sz="1900" spc="15">
                <a:solidFill>
                  <a:srgbClr val="505669"/>
                </a:solidFill>
                <a:latin typeface="Calibri"/>
                <a:cs typeface="Calibri"/>
              </a:rPr>
              <a:t> </a:t>
            </a:r>
            <a:r>
              <a:rPr dirty="0" sz="1900" spc="114">
                <a:solidFill>
                  <a:srgbClr val="464646"/>
                </a:solidFill>
                <a:latin typeface="Calibri"/>
                <a:cs typeface="Calibri"/>
              </a:rPr>
              <a:t>Limpieza:</a:t>
            </a:r>
            <a:r>
              <a:rPr dirty="0" sz="1900" spc="18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64646"/>
                </a:solidFill>
                <a:latin typeface="Calibri"/>
                <a:cs typeface="Calibri"/>
              </a:rPr>
              <a:t>Falta</a:t>
            </a:r>
            <a:r>
              <a:rPr dirty="0" sz="1900" spc="4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707787"/>
                </a:solidFill>
                <a:latin typeface="Calibri"/>
                <a:cs typeface="Calibri"/>
              </a:rPr>
              <a:t>de</a:t>
            </a:r>
            <a:r>
              <a:rPr dirty="0" sz="1900" spc="330">
                <a:solidFill>
                  <a:srgbClr val="707787"/>
                </a:solidFill>
                <a:latin typeface="Calibri"/>
                <a:cs typeface="Calibri"/>
              </a:rPr>
              <a:t> </a:t>
            </a:r>
            <a:r>
              <a:rPr dirty="0" sz="1900" spc="90">
                <a:solidFill>
                  <a:srgbClr val="494949"/>
                </a:solidFill>
                <a:latin typeface="Calibri"/>
                <a:cs typeface="Calibri"/>
              </a:rPr>
              <a:t>asincronía</a:t>
            </a:r>
            <a:r>
              <a:rPr dirty="0" sz="1900" spc="15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00" spc="95">
                <a:solidFill>
                  <a:srgbClr val="4D4D4D"/>
                </a:solidFill>
                <a:latin typeface="Calibri"/>
                <a:cs typeface="Calibri"/>
              </a:rPr>
              <a:t>para</a:t>
            </a:r>
            <a:r>
              <a:rPr dirty="0" sz="1900" spc="10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414141"/>
                </a:solidFill>
                <a:latin typeface="Calibri"/>
                <a:cs typeface="Calibri"/>
              </a:rPr>
              <a:t>actualizar </a:t>
            </a:r>
            <a:r>
              <a:rPr dirty="0" sz="1900" spc="130">
                <a:solidFill>
                  <a:srgbClr val="3D3D3D"/>
                </a:solidFill>
                <a:latin typeface="Calibri"/>
                <a:cs typeface="Calibri"/>
              </a:rPr>
              <a:t>estados</a:t>
            </a:r>
            <a:r>
              <a:rPr dirty="0" sz="1900" spc="19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900" spc="114">
                <a:solidFill>
                  <a:srgbClr val="4B4B4B"/>
                </a:solidFill>
                <a:latin typeface="Calibri"/>
                <a:cs typeface="Calibri"/>
              </a:rPr>
              <a:t>físicos</a:t>
            </a:r>
            <a:r>
              <a:rPr dirty="0" sz="1900" spc="18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 spc="105">
                <a:solidFill>
                  <a:srgbClr val="464646"/>
                </a:solidFill>
                <a:latin typeface="Calibri"/>
                <a:cs typeface="Calibri"/>
              </a:rPr>
              <a:t>entre</a:t>
            </a:r>
            <a:r>
              <a:rPr dirty="0" sz="1900" spc="13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135">
                <a:solidFill>
                  <a:srgbClr val="484848"/>
                </a:solidFill>
                <a:latin typeface="Calibri"/>
                <a:cs typeface="Calibri"/>
              </a:rPr>
              <a:t>recepción</a:t>
            </a:r>
            <a:r>
              <a:rPr dirty="0" sz="1900" spc="21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900" spc="145">
                <a:solidFill>
                  <a:srgbClr val="525252"/>
                </a:solidFill>
                <a:latin typeface="Calibri"/>
                <a:cs typeface="Calibri"/>
              </a:rPr>
              <a:t>y</a:t>
            </a:r>
            <a:r>
              <a:rPr dirty="0" sz="1900" spc="-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900" spc="70">
                <a:solidFill>
                  <a:srgbClr val="4B4B4B"/>
                </a:solidFill>
                <a:latin typeface="Calibri"/>
                <a:cs typeface="Calibri"/>
              </a:rPr>
              <a:t>mantenimiento.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900">
              <a:latin typeface="Calibri"/>
              <a:cs typeface="Calibri"/>
            </a:endParaRPr>
          </a:p>
          <a:p>
            <a:pPr marL="13335" marR="455930" indent="-635">
              <a:lnSpc>
                <a:spcPct val="110600"/>
              </a:lnSpc>
            </a:pPr>
            <a:r>
              <a:rPr dirty="0" sz="2050" spc="80">
                <a:solidFill>
                  <a:srgbClr val="4D4D4D"/>
                </a:solidFill>
                <a:latin typeface="Calibri"/>
                <a:cs typeface="Calibri"/>
              </a:rPr>
              <a:t>Vulnerabilidad</a:t>
            </a:r>
            <a:r>
              <a:rPr dirty="0" sz="2050" spc="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050" spc="100">
                <a:solidFill>
                  <a:srgbClr val="4B6080"/>
                </a:solidFill>
                <a:latin typeface="Calibri"/>
                <a:cs typeface="Calibri"/>
              </a:rPr>
              <a:t>de</a:t>
            </a:r>
            <a:r>
              <a:rPr dirty="0" sz="2050" spc="130">
                <a:solidFill>
                  <a:srgbClr val="4B6080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44444"/>
                </a:solidFill>
                <a:latin typeface="Calibri"/>
                <a:cs typeface="Calibri"/>
              </a:rPr>
              <a:t>Información:</a:t>
            </a:r>
            <a:r>
              <a:rPr dirty="0" sz="2050" spc="34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050" spc="70">
                <a:solidFill>
                  <a:srgbClr val="444444"/>
                </a:solidFill>
                <a:latin typeface="Calibri"/>
                <a:cs typeface="Calibri"/>
              </a:rPr>
              <a:t>Ausencia</a:t>
            </a:r>
            <a:r>
              <a:rPr dirty="0" sz="2050" spc="15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94949"/>
                </a:solidFill>
                <a:latin typeface="Calibri"/>
                <a:cs typeface="Calibri"/>
              </a:rPr>
              <a:t>absoluta</a:t>
            </a:r>
            <a:r>
              <a:rPr dirty="0" sz="2050" spc="12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050" spc="50">
                <a:solidFill>
                  <a:srgbClr val="4D4D4D"/>
                </a:solidFill>
                <a:latin typeface="Calibri"/>
                <a:cs typeface="Calibri"/>
              </a:rPr>
              <a:t>de</a:t>
            </a:r>
            <a:r>
              <a:rPr dirty="0" sz="2050" spc="19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64646"/>
                </a:solidFill>
                <a:latin typeface="Calibri"/>
                <a:cs typeface="Calibri"/>
              </a:rPr>
              <a:t>trazabilidad</a:t>
            </a:r>
            <a:r>
              <a:rPr dirty="0" sz="2050" spc="31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050" spc="-50">
                <a:solidFill>
                  <a:srgbClr val="4B4B4B"/>
                </a:solidFill>
                <a:latin typeface="Calibri"/>
                <a:cs typeface="Calibri"/>
              </a:rPr>
              <a:t>y </a:t>
            </a:r>
            <a:r>
              <a:rPr dirty="0" sz="2050">
                <a:solidFill>
                  <a:srgbClr val="545454"/>
                </a:solidFill>
                <a:latin typeface="Calibri"/>
                <a:cs typeface="Calibri"/>
              </a:rPr>
              <a:t>logs</a:t>
            </a:r>
            <a:r>
              <a:rPr dirty="0" sz="2050" spc="16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2050" spc="50">
                <a:solidFill>
                  <a:srgbClr val="484848"/>
                </a:solidFill>
                <a:latin typeface="Calibri"/>
                <a:cs typeface="Calibri"/>
              </a:rPr>
              <a:t>de</a:t>
            </a:r>
            <a:r>
              <a:rPr dirty="0" sz="2050" spc="19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14141"/>
                </a:solidFill>
                <a:latin typeface="Calibri"/>
                <a:cs typeface="Calibri"/>
              </a:rPr>
              <a:t>auditoría</a:t>
            </a:r>
            <a:r>
              <a:rPr dirty="0" sz="2050" spc="11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44444"/>
                </a:solidFill>
                <a:latin typeface="Calibri"/>
                <a:cs typeface="Calibri"/>
              </a:rPr>
              <a:t>forense</a:t>
            </a:r>
            <a:r>
              <a:rPr dirty="0" sz="2050" spc="23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B4B4B"/>
                </a:solidFill>
                <a:latin typeface="Calibri"/>
                <a:cs typeface="Calibri"/>
              </a:rPr>
              <a:t>para</a:t>
            </a:r>
            <a:r>
              <a:rPr dirty="0" sz="2050" spc="10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050" spc="55">
                <a:solidFill>
                  <a:srgbClr val="4D4D4D"/>
                </a:solidFill>
                <a:latin typeface="Calibri"/>
                <a:cs typeface="Calibri"/>
              </a:rPr>
              <a:t>transacciones</a:t>
            </a:r>
            <a:r>
              <a:rPr dirty="0" sz="2050" spc="39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050" spc="-10">
                <a:solidFill>
                  <a:srgbClr val="444444"/>
                </a:solidFill>
                <a:latin typeface="Calibri"/>
                <a:cs typeface="Calibri"/>
              </a:rPr>
              <a:t>clave.</a:t>
            </a:r>
            <a:endParaRPr sz="2050">
              <a:latin typeface="Calibri"/>
              <a:cs typeface="Calibri"/>
            </a:endParaRPr>
          </a:p>
          <a:p>
            <a:pPr marL="17145" marR="5080" indent="-5080">
              <a:lnSpc>
                <a:spcPct val="119300"/>
              </a:lnSpc>
              <a:spcBef>
                <a:spcPts val="2325"/>
              </a:spcBef>
            </a:pPr>
            <a:r>
              <a:rPr dirty="0" sz="1900" spc="145">
                <a:solidFill>
                  <a:srgbClr val="4D4F67"/>
                </a:solidFill>
                <a:latin typeface="Calibri"/>
                <a:cs typeface="Calibri"/>
              </a:rPr>
              <a:t>Procesamiento</a:t>
            </a:r>
            <a:r>
              <a:rPr dirty="0" sz="1900" spc="180">
                <a:solidFill>
                  <a:srgbClr val="4D4F67"/>
                </a:solidFill>
                <a:latin typeface="Calibri"/>
                <a:cs typeface="Calibri"/>
              </a:rPr>
              <a:t> </a:t>
            </a:r>
            <a:r>
              <a:rPr dirty="0" sz="1900" spc="130">
                <a:solidFill>
                  <a:srgbClr val="49576B"/>
                </a:solidFill>
                <a:latin typeface="Calibri"/>
                <a:cs typeface="Calibri"/>
              </a:rPr>
              <a:t>manual</a:t>
            </a:r>
            <a:r>
              <a:rPr dirty="0" sz="1900" spc="200">
                <a:solidFill>
                  <a:srgbClr val="49576B"/>
                </a:solidFill>
                <a:latin typeface="Calibri"/>
                <a:cs typeface="Calibri"/>
              </a:rPr>
              <a:t> </a:t>
            </a:r>
            <a:r>
              <a:rPr dirty="0" sz="1900" spc="105">
                <a:solidFill>
                  <a:srgbClr val="314157"/>
                </a:solidFill>
                <a:latin typeface="Calibri"/>
                <a:cs typeface="Calibri"/>
              </a:rPr>
              <a:t>tardío:</a:t>
            </a:r>
            <a:r>
              <a:rPr dirty="0" sz="1900" spc="114">
                <a:solidFill>
                  <a:srgbClr val="314157"/>
                </a:solidFill>
                <a:latin typeface="Calibri"/>
                <a:cs typeface="Calibri"/>
              </a:rPr>
              <a:t> </a:t>
            </a:r>
            <a:r>
              <a:rPr dirty="0" sz="1900" spc="105">
                <a:solidFill>
                  <a:srgbClr val="3D3D3D"/>
                </a:solidFill>
                <a:latin typeface="Calibri"/>
                <a:cs typeface="Calibri"/>
              </a:rPr>
              <a:t>Retraso</a:t>
            </a:r>
            <a:r>
              <a:rPr dirty="0" sz="1900" spc="17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900" spc="130">
                <a:solidFill>
                  <a:srgbClr val="3D3D3D"/>
                </a:solidFill>
                <a:latin typeface="Calibri"/>
                <a:cs typeface="Calibri"/>
              </a:rPr>
              <a:t>sistemático</a:t>
            </a:r>
            <a:r>
              <a:rPr dirty="0" sz="1900" spc="18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900" spc="150">
                <a:solidFill>
                  <a:srgbClr val="464646"/>
                </a:solidFill>
                <a:latin typeface="Calibri"/>
                <a:cs typeface="Calibri"/>
              </a:rPr>
              <a:t>en</a:t>
            </a:r>
            <a:r>
              <a:rPr dirty="0" sz="1900" spc="4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105">
                <a:solidFill>
                  <a:srgbClr val="4F4F4F"/>
                </a:solidFill>
                <a:latin typeface="Calibri"/>
                <a:cs typeface="Calibri"/>
              </a:rPr>
              <a:t>el</a:t>
            </a:r>
            <a:r>
              <a:rPr dirty="0" sz="1900" spc="-5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D3D3D"/>
                </a:solidFill>
                <a:latin typeface="Calibri"/>
                <a:cs typeface="Calibri"/>
              </a:rPr>
              <a:t>flujo</a:t>
            </a:r>
            <a:r>
              <a:rPr dirty="0" sz="1900" spc="10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50749C"/>
                </a:solidFill>
                <a:latin typeface="Calibri"/>
                <a:cs typeface="Calibri"/>
              </a:rPr>
              <a:t>de</a:t>
            </a:r>
            <a:r>
              <a:rPr dirty="0" sz="1900" spc="250">
                <a:solidFill>
                  <a:srgbClr val="50749C"/>
                </a:solidFill>
                <a:latin typeface="Calibri"/>
                <a:cs typeface="Calibri"/>
              </a:rPr>
              <a:t> </a:t>
            </a:r>
            <a:r>
              <a:rPr dirty="0" sz="1900" spc="145">
                <a:solidFill>
                  <a:srgbClr val="484848"/>
                </a:solidFill>
                <a:latin typeface="Calibri"/>
                <a:cs typeface="Calibri"/>
              </a:rPr>
              <a:t>caja</a:t>
            </a:r>
            <a:r>
              <a:rPr dirty="0" sz="1900" spc="1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900" spc="120">
                <a:solidFill>
                  <a:srgbClr val="424242"/>
                </a:solidFill>
                <a:latin typeface="Calibri"/>
                <a:cs typeface="Calibri"/>
              </a:rPr>
              <a:t>e </a:t>
            </a:r>
            <a:r>
              <a:rPr dirty="0" sz="1900" spc="90">
                <a:solidFill>
                  <a:srgbClr val="545454"/>
                </a:solidFill>
                <a:latin typeface="Calibri"/>
                <a:cs typeface="Calibri"/>
              </a:rPr>
              <a:t>informes</a:t>
            </a:r>
            <a:r>
              <a:rPr dirty="0" sz="1900" spc="204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900" spc="95">
                <a:solidFill>
                  <a:srgbClr val="4F4F4F"/>
                </a:solidFill>
                <a:latin typeface="Calibri"/>
                <a:cs typeface="Calibri"/>
              </a:rPr>
              <a:t>de</a:t>
            </a:r>
            <a:r>
              <a:rPr dirty="0" sz="1900" spc="15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424242"/>
                </a:solidFill>
                <a:latin typeface="Calibri"/>
                <a:cs typeface="Calibri"/>
              </a:rPr>
              <a:t>rendimiento</a:t>
            </a:r>
            <a:r>
              <a:rPr dirty="0" sz="1900" spc="22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484848"/>
                </a:solidFill>
                <a:latin typeface="Calibri"/>
                <a:cs typeface="Calibri"/>
              </a:rPr>
              <a:t>comercial.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7562" y="10368528"/>
            <a:ext cx="131254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90">
                <a:solidFill>
                  <a:srgbClr val="2BB8C4"/>
                </a:solidFill>
                <a:latin typeface="Calibri"/>
                <a:cs typeface="Calibri"/>
              </a:rPr>
              <a:t>USIL</a:t>
            </a:r>
            <a:r>
              <a:rPr dirty="0" sz="1650" spc="285">
                <a:solidFill>
                  <a:srgbClr val="2BB8C4"/>
                </a:solidFill>
                <a:latin typeface="Calibri"/>
                <a:cs typeface="Calibri"/>
              </a:rPr>
              <a:t> </a:t>
            </a:r>
            <a:r>
              <a:rPr dirty="0" sz="1650" spc="-20">
                <a:solidFill>
                  <a:srgbClr val="00A8CF"/>
                </a:solidFill>
                <a:latin typeface="Calibri"/>
                <a:cs typeface="Calibri"/>
              </a:rPr>
              <a:t>•</a:t>
            </a:r>
            <a:r>
              <a:rPr dirty="0" sz="1650" spc="220">
                <a:solidFill>
                  <a:srgbClr val="00A8CF"/>
                </a:solidFill>
                <a:latin typeface="Calibri"/>
                <a:cs typeface="Calibri"/>
              </a:rPr>
              <a:t> </a:t>
            </a:r>
            <a:r>
              <a:rPr dirty="0" sz="1650" spc="114">
                <a:solidFill>
                  <a:srgbClr val="36A8CA"/>
                </a:solidFill>
                <a:latin typeface="Calibri"/>
                <a:cs typeface="Calibri"/>
              </a:rPr>
              <a:t>POO</a:t>
            </a:r>
            <a:r>
              <a:rPr dirty="0" sz="1650" spc="150">
                <a:solidFill>
                  <a:srgbClr val="36A8CA"/>
                </a:solidFill>
                <a:latin typeface="Calibri"/>
                <a:cs typeface="Calibri"/>
              </a:rPr>
              <a:t> </a:t>
            </a:r>
            <a:r>
              <a:rPr dirty="0" sz="1650" spc="-25">
                <a:solidFill>
                  <a:srgbClr val="36A8CA"/>
                </a:solidFill>
                <a:latin typeface="Calibri"/>
                <a:cs typeface="Calibri"/>
              </a:rPr>
              <a:t>ll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80110" y="3047416"/>
            <a:ext cx="73025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100">
                <a:solidFill>
                  <a:srgbClr val="EF4244"/>
                </a:solidFill>
                <a:latin typeface="Calibri"/>
                <a:cs typeface="Calibri"/>
              </a:rPr>
              <a:t>•</a:t>
            </a:r>
            <a:r>
              <a:rPr dirty="0" sz="2050" spc="65">
                <a:solidFill>
                  <a:srgbClr val="EF4244"/>
                </a:solidFill>
                <a:latin typeface="Calibri"/>
                <a:cs typeface="Calibri"/>
              </a:rPr>
              <a:t>  </a:t>
            </a:r>
            <a:r>
              <a:rPr dirty="0" sz="2050" spc="100" i="1">
                <a:solidFill>
                  <a:srgbClr val="EF9E13"/>
                </a:solidFill>
                <a:latin typeface="Calibri"/>
                <a:cs typeface="Calibri"/>
              </a:rPr>
              <a:t>•</a:t>
            </a:r>
            <a:r>
              <a:rPr dirty="0" sz="2050" spc="85" i="1">
                <a:solidFill>
                  <a:srgbClr val="EF9E13"/>
                </a:solidFill>
                <a:latin typeface="Calibri"/>
                <a:cs typeface="Calibri"/>
              </a:rPr>
              <a:t>  </a:t>
            </a:r>
            <a:r>
              <a:rPr dirty="0" sz="2050" spc="50" i="1">
                <a:solidFill>
                  <a:srgbClr val="16B582"/>
                </a:solidFill>
                <a:latin typeface="Calibri"/>
                <a:cs typeface="Calibri"/>
              </a:rPr>
              <a:t>•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76784" y="3080791"/>
            <a:ext cx="210439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444444"/>
                </a:solidFill>
                <a:latin typeface="Calibri"/>
                <a:cs typeface="Calibri"/>
              </a:rPr>
              <a:t>Bout</a:t>
            </a:r>
            <a:r>
              <a:rPr dirty="0" sz="1650" spc="-15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650" spc="105">
                <a:solidFill>
                  <a:srgbClr val="4B4B4B"/>
                </a:solidFill>
                <a:latin typeface="Calibri"/>
                <a:cs typeface="Calibri"/>
              </a:rPr>
              <a:t>ique</a:t>
            </a:r>
            <a:r>
              <a:rPr dirty="0" sz="1650" spc="155">
                <a:solidFill>
                  <a:srgbClr val="4B4B4B"/>
                </a:solidFill>
                <a:latin typeface="Calibri"/>
                <a:cs typeface="Calibri"/>
              </a:rPr>
              <a:t>  </a:t>
            </a:r>
            <a:r>
              <a:rPr dirty="0" sz="1650" spc="95">
                <a:solidFill>
                  <a:srgbClr val="424242"/>
                </a:solidFill>
                <a:latin typeface="Calibri"/>
                <a:cs typeface="Calibri"/>
              </a:rPr>
              <a:t>Experience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40"/>
              </a:spcBef>
            </a:pPr>
            <a:r>
              <a:rPr dirty="0" sz="5500" spc="-185" b="1">
                <a:solidFill>
                  <a:srgbClr val="082646"/>
                </a:solidFill>
                <a:latin typeface="Cambria"/>
                <a:cs typeface="Cambria"/>
              </a:rPr>
              <a:t>Justificación</a:t>
            </a:r>
            <a:r>
              <a:rPr dirty="0" sz="5500" spc="10" b="1">
                <a:solidFill>
                  <a:srgbClr val="082646"/>
                </a:solidFill>
                <a:latin typeface="Cambria"/>
                <a:cs typeface="Cambria"/>
              </a:rPr>
              <a:t> </a:t>
            </a:r>
            <a:r>
              <a:rPr dirty="0" sz="5500" spc="-30">
                <a:solidFill>
                  <a:srgbClr val="0C233F"/>
                </a:solidFill>
              </a:rPr>
              <a:t>y</a:t>
            </a:r>
            <a:r>
              <a:rPr dirty="0" sz="5500" spc="-280">
                <a:solidFill>
                  <a:srgbClr val="0C233F"/>
                </a:solidFill>
              </a:rPr>
              <a:t> </a:t>
            </a:r>
            <a:r>
              <a:rPr dirty="0" sz="5500" spc="-10">
                <a:solidFill>
                  <a:srgbClr val="082646"/>
                </a:solidFill>
              </a:rPr>
              <a:t>Metodología</a:t>
            </a:r>
            <a:endParaRPr sz="55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37006" y="3644910"/>
            <a:ext cx="7512684" cy="33813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105" b="1">
                <a:solidFill>
                  <a:srgbClr val="03B1DB"/>
                </a:solidFill>
                <a:latin typeface="Times New Roman"/>
                <a:cs typeface="Times New Roman"/>
              </a:rPr>
              <a:t>O</a:t>
            </a:r>
            <a:r>
              <a:rPr dirty="0" sz="3450" spc="340" b="1">
                <a:solidFill>
                  <a:srgbClr val="03B1DB"/>
                </a:solidFill>
                <a:latin typeface="Times New Roman"/>
                <a:cs typeface="Times New Roman"/>
              </a:rPr>
              <a:t> </a:t>
            </a:r>
            <a:r>
              <a:rPr dirty="0" sz="3450" spc="-165" b="1">
                <a:solidFill>
                  <a:srgbClr val="002642"/>
                </a:solidFill>
                <a:latin typeface="Times New Roman"/>
                <a:cs typeface="Times New Roman"/>
              </a:rPr>
              <a:t>Justificación</a:t>
            </a:r>
            <a:r>
              <a:rPr dirty="0" sz="3450" spc="10" b="1">
                <a:solidFill>
                  <a:srgbClr val="002642"/>
                </a:solidFill>
                <a:latin typeface="Times New Roman"/>
                <a:cs typeface="Times New Roman"/>
              </a:rPr>
              <a:t> </a:t>
            </a:r>
            <a:r>
              <a:rPr dirty="0" sz="3450" spc="-85" b="1">
                <a:solidFill>
                  <a:srgbClr val="0F2D4B"/>
                </a:solidFill>
                <a:latin typeface="Times New Roman"/>
                <a:cs typeface="Times New Roman"/>
              </a:rPr>
              <a:t>Tripartita</a:t>
            </a:r>
            <a:endParaRPr sz="3450">
              <a:latin typeface="Times New Roman"/>
              <a:cs typeface="Times New Roman"/>
            </a:endParaRPr>
          </a:p>
          <a:p>
            <a:pPr marL="16510" marR="5080" indent="10795">
              <a:lnSpc>
                <a:spcPct val="112400"/>
              </a:lnSpc>
              <a:spcBef>
                <a:spcPts val="1485"/>
              </a:spcBef>
            </a:pPr>
            <a:r>
              <a:rPr dirty="0" sz="2200" spc="70" b="1">
                <a:solidFill>
                  <a:srgbClr val="3D3D3D"/>
                </a:solidFill>
                <a:latin typeface="Calibri"/>
                <a:cs typeface="Calibri"/>
              </a:rPr>
              <a:t>Técnica:</a:t>
            </a:r>
            <a:r>
              <a:rPr dirty="0" sz="2200" spc="140" b="1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83838"/>
                </a:solidFill>
                <a:latin typeface="Calibri"/>
                <a:cs typeface="Calibri"/>
              </a:rPr>
              <a:t>Arquitectura</a:t>
            </a:r>
            <a:r>
              <a:rPr dirty="0" sz="2200" spc="2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94949"/>
                </a:solidFill>
                <a:latin typeface="Calibri"/>
                <a:cs typeface="Calibri"/>
              </a:rPr>
              <a:t>limpia</a:t>
            </a:r>
            <a:r>
              <a:rPr dirty="0" sz="2200" spc="2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44444"/>
                </a:solidFill>
                <a:latin typeface="Calibri"/>
                <a:cs typeface="Calibri"/>
              </a:rPr>
              <a:t>(MVC</a:t>
            </a:r>
            <a:r>
              <a:rPr dirty="0" sz="2200" spc="3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24242"/>
                </a:solidFill>
                <a:latin typeface="Calibri"/>
                <a:cs typeface="Calibri"/>
              </a:rPr>
              <a:t>y</a:t>
            </a:r>
            <a:r>
              <a:rPr dirty="0" sz="2200" spc="13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D3D3D"/>
                </a:solidFill>
                <a:latin typeface="Calibri"/>
                <a:cs typeface="Calibri"/>
              </a:rPr>
              <a:t>Repository)</a:t>
            </a:r>
            <a:r>
              <a:rPr dirty="0" sz="2200" spc="19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A3A3A"/>
                </a:solidFill>
                <a:latin typeface="Calibri"/>
                <a:cs typeface="Calibri"/>
              </a:rPr>
              <a:t>para</a:t>
            </a:r>
            <a:r>
              <a:rPr dirty="0" sz="2200" spc="11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383838"/>
                </a:solidFill>
                <a:latin typeface="Calibri"/>
                <a:cs typeface="Calibri"/>
              </a:rPr>
              <a:t>garantizar </a:t>
            </a:r>
            <a:r>
              <a:rPr dirty="0" sz="2200">
                <a:solidFill>
                  <a:srgbClr val="4D4D4D"/>
                </a:solidFill>
                <a:latin typeface="Calibri"/>
                <a:cs typeface="Calibri"/>
              </a:rPr>
              <a:t>que</a:t>
            </a:r>
            <a:r>
              <a:rPr dirty="0" sz="2200" spc="3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94949"/>
                </a:solidFill>
                <a:latin typeface="Calibri"/>
                <a:cs typeface="Calibri"/>
              </a:rPr>
              <a:t>los</a:t>
            </a:r>
            <a:r>
              <a:rPr dirty="0" sz="2200" spc="2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83838"/>
                </a:solidFill>
                <a:latin typeface="Calibri"/>
                <a:cs typeface="Calibri"/>
              </a:rPr>
              <a:t>datos</a:t>
            </a:r>
            <a:r>
              <a:rPr dirty="0" sz="2200" spc="7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24242"/>
                </a:solidFill>
                <a:latin typeface="Calibri"/>
                <a:cs typeface="Calibri"/>
              </a:rPr>
              <a:t>estén</a:t>
            </a:r>
            <a:r>
              <a:rPr dirty="0" sz="2200" spc="2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24242"/>
                </a:solidFill>
                <a:latin typeface="Calibri"/>
                <a:cs typeface="Calibri"/>
              </a:rPr>
              <a:t>completamente</a:t>
            </a:r>
            <a:r>
              <a:rPr dirty="0" sz="2200" spc="33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24242"/>
                </a:solidFill>
                <a:latin typeface="Calibri"/>
                <a:cs typeface="Calibri"/>
              </a:rPr>
              <a:t>aislados</a:t>
            </a:r>
            <a:r>
              <a:rPr dirty="0" sz="2200" spc="15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 spc="75">
                <a:solidFill>
                  <a:srgbClr val="424242"/>
                </a:solidFill>
                <a:latin typeface="Calibri"/>
                <a:cs typeface="Calibri"/>
              </a:rPr>
              <a:t>de</a:t>
            </a:r>
            <a:r>
              <a:rPr dirty="0" sz="2200" spc="-1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 spc="65">
                <a:solidFill>
                  <a:srgbClr val="424242"/>
                </a:solidFill>
                <a:latin typeface="Calibri"/>
                <a:cs typeface="Calibri"/>
              </a:rPr>
              <a:t>la</a:t>
            </a:r>
            <a:r>
              <a:rPr dirty="0" sz="2200" spc="-4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444444"/>
                </a:solidFill>
                <a:latin typeface="Calibri"/>
                <a:cs typeface="Calibri"/>
              </a:rPr>
              <a:t>Ul.</a:t>
            </a:r>
            <a:endParaRPr sz="2200">
              <a:latin typeface="Calibri"/>
              <a:cs typeface="Calibri"/>
            </a:endParaRPr>
          </a:p>
          <a:p>
            <a:pPr marL="18415" marR="298450" indent="1270">
              <a:lnSpc>
                <a:spcPct val="120700"/>
              </a:lnSpc>
              <a:spcBef>
                <a:spcPts val="1450"/>
              </a:spcBef>
            </a:pPr>
            <a:r>
              <a:rPr dirty="0" sz="2050" spc="90" b="1">
                <a:solidFill>
                  <a:srgbClr val="3D3D3D"/>
                </a:solidFill>
                <a:latin typeface="Calibri"/>
                <a:cs typeface="Calibri"/>
              </a:rPr>
              <a:t>Operativa:</a:t>
            </a:r>
            <a:r>
              <a:rPr dirty="0" sz="2050" spc="114" b="1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050" spc="80">
                <a:solidFill>
                  <a:srgbClr val="424242"/>
                </a:solidFill>
                <a:latin typeface="Calibri"/>
                <a:cs typeface="Calibri"/>
              </a:rPr>
              <a:t>Implementación</a:t>
            </a:r>
            <a:r>
              <a:rPr dirty="0" sz="2050" spc="-14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050" spc="90">
                <a:solidFill>
                  <a:srgbClr val="4B4B4B"/>
                </a:solidFill>
                <a:latin typeface="Calibri"/>
                <a:cs typeface="Calibri"/>
              </a:rPr>
              <a:t>de</a:t>
            </a:r>
            <a:r>
              <a:rPr dirty="0" sz="2050" spc="11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050" spc="50">
                <a:solidFill>
                  <a:srgbClr val="494949"/>
                </a:solidFill>
                <a:latin typeface="Calibri"/>
                <a:cs typeface="Calibri"/>
              </a:rPr>
              <a:t>hilos</a:t>
            </a:r>
            <a:r>
              <a:rPr dirty="0" sz="2050" spc="8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050" spc="50" b="1">
                <a:solidFill>
                  <a:srgbClr val="424242"/>
                </a:solidFill>
                <a:latin typeface="Calibri"/>
                <a:cs typeface="Calibri"/>
              </a:rPr>
              <a:t>concurrentes</a:t>
            </a:r>
            <a:r>
              <a:rPr dirty="0" sz="2050" spc="275" b="1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050" spc="90">
                <a:solidFill>
                  <a:srgbClr val="444444"/>
                </a:solidFill>
                <a:latin typeface="Calibri"/>
                <a:cs typeface="Calibri"/>
              </a:rPr>
              <a:t>para </a:t>
            </a:r>
            <a:r>
              <a:rPr dirty="0" sz="2050">
                <a:solidFill>
                  <a:srgbClr val="414141"/>
                </a:solidFill>
                <a:latin typeface="Calibri"/>
                <a:cs typeface="Calibri"/>
              </a:rPr>
              <a:t>optimizar</a:t>
            </a:r>
            <a:r>
              <a:rPr dirty="0" sz="2050" spc="18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050" spc="110">
                <a:solidFill>
                  <a:srgbClr val="383838"/>
                </a:solidFill>
                <a:latin typeface="Calibri"/>
                <a:cs typeface="Calibri"/>
              </a:rPr>
              <a:t>colas</a:t>
            </a:r>
            <a:r>
              <a:rPr dirty="0" sz="2050" spc="7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050" spc="140">
                <a:solidFill>
                  <a:srgbClr val="424242"/>
                </a:solidFill>
                <a:latin typeface="Calibri"/>
                <a:cs typeface="Calibri"/>
              </a:rPr>
              <a:t>de</a:t>
            </a:r>
            <a:r>
              <a:rPr dirty="0" sz="2050" spc="2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050" spc="120">
                <a:solidFill>
                  <a:srgbClr val="3A3A3A"/>
                </a:solidFill>
                <a:latin typeface="Calibri"/>
                <a:cs typeface="Calibri"/>
              </a:rPr>
              <a:t>aseo</a:t>
            </a:r>
            <a:r>
              <a:rPr dirty="0" sz="2050" spc="-2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050" spc="120">
                <a:solidFill>
                  <a:srgbClr val="424242"/>
                </a:solidFill>
                <a:latin typeface="Calibri"/>
                <a:cs typeface="Calibri"/>
              </a:rPr>
              <a:t>y</a:t>
            </a:r>
            <a:r>
              <a:rPr dirty="0" sz="2050" spc="15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050" spc="45">
                <a:solidFill>
                  <a:srgbClr val="464646"/>
                </a:solidFill>
                <a:latin typeface="Calibri"/>
                <a:cs typeface="Calibri"/>
              </a:rPr>
              <a:t>mitigar</a:t>
            </a:r>
            <a:r>
              <a:rPr dirty="0" sz="2050" spc="27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050" spc="60">
                <a:solidFill>
                  <a:srgbClr val="444444"/>
                </a:solidFill>
                <a:latin typeface="Calibri"/>
                <a:cs typeface="Calibri"/>
              </a:rPr>
              <a:t>tiempos</a:t>
            </a:r>
            <a:r>
              <a:rPr dirty="0" sz="2050" spc="16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050" spc="55">
                <a:solidFill>
                  <a:srgbClr val="424242"/>
                </a:solidFill>
                <a:latin typeface="Calibri"/>
                <a:cs typeface="Calibri"/>
              </a:rPr>
              <a:t>muertos</a:t>
            </a:r>
            <a:r>
              <a:rPr dirty="0" sz="2050" spc="14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050" spc="60">
                <a:solidFill>
                  <a:srgbClr val="4D4D4D"/>
                </a:solidFill>
                <a:latin typeface="Calibri"/>
                <a:cs typeface="Calibri"/>
              </a:rPr>
              <a:t>en</a:t>
            </a:r>
            <a:r>
              <a:rPr dirty="0" sz="2050" spc="7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050" spc="70">
                <a:solidFill>
                  <a:srgbClr val="4B4B4B"/>
                </a:solidFill>
                <a:latin typeface="Calibri"/>
                <a:cs typeface="Calibri"/>
              </a:rPr>
              <a:t>un</a:t>
            </a:r>
            <a:r>
              <a:rPr dirty="0" sz="2050" spc="1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050" spc="105">
                <a:solidFill>
                  <a:srgbClr val="444444"/>
                </a:solidFill>
                <a:latin typeface="Calibri"/>
                <a:cs typeface="Calibri"/>
              </a:rPr>
              <a:t>40%.</a:t>
            </a:r>
            <a:endParaRPr sz="2050">
              <a:latin typeface="Calibri"/>
              <a:cs typeface="Calibri"/>
            </a:endParaRPr>
          </a:p>
          <a:p>
            <a:pPr marL="17145" marR="40640" indent="1270">
              <a:lnSpc>
                <a:spcPct val="112400"/>
              </a:lnSpc>
              <a:spcBef>
                <a:spcPts val="1515"/>
              </a:spcBef>
            </a:pPr>
            <a:r>
              <a:rPr dirty="0" sz="2200" spc="60" b="1">
                <a:solidFill>
                  <a:srgbClr val="414141"/>
                </a:solidFill>
                <a:latin typeface="Calibri"/>
                <a:cs typeface="Calibri"/>
              </a:rPr>
              <a:t>Comercial:</a:t>
            </a:r>
            <a:r>
              <a:rPr dirty="0" sz="2200" spc="190" b="1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D3D3D"/>
                </a:solidFill>
                <a:latin typeface="Calibri"/>
                <a:cs typeface="Calibri"/>
              </a:rPr>
              <a:t>Auditoría</a:t>
            </a:r>
            <a:r>
              <a:rPr dirty="0" sz="2200" spc="13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00" spc="75">
                <a:solidFill>
                  <a:srgbClr val="3F3F3F"/>
                </a:solidFill>
                <a:latin typeface="Calibri"/>
                <a:cs typeface="Calibri"/>
              </a:rPr>
              <a:t>de</a:t>
            </a:r>
            <a:r>
              <a:rPr dirty="0" sz="2200" spc="-3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24242"/>
                </a:solidFill>
                <a:latin typeface="Calibri"/>
                <a:cs typeface="Calibri"/>
              </a:rPr>
              <a:t>datos</a:t>
            </a:r>
            <a:r>
              <a:rPr dirty="0" sz="2200" spc="6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A3A3A"/>
                </a:solidFill>
                <a:latin typeface="Calibri"/>
                <a:cs typeface="Calibri"/>
              </a:rPr>
              <a:t>para</a:t>
            </a:r>
            <a:r>
              <a:rPr dirty="0" sz="2200" spc="4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F3F3F"/>
                </a:solidFill>
                <a:latin typeface="Calibri"/>
                <a:cs typeface="Calibri"/>
              </a:rPr>
              <a:t>blindar</a:t>
            </a:r>
            <a:r>
              <a:rPr dirty="0" sz="2200" spc="17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F3F3F"/>
                </a:solidFill>
                <a:latin typeface="Calibri"/>
                <a:cs typeface="Calibri"/>
              </a:rPr>
              <a:t>activos</a:t>
            </a:r>
            <a:r>
              <a:rPr dirty="0" sz="2200" spc="8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A3A3A"/>
                </a:solidFill>
                <a:latin typeface="Calibri"/>
                <a:cs typeface="Calibri"/>
              </a:rPr>
              <a:t>financieros</a:t>
            </a:r>
            <a:r>
              <a:rPr dirty="0" sz="2200" spc="17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200" spc="-50">
                <a:solidFill>
                  <a:srgbClr val="424242"/>
                </a:solidFill>
                <a:latin typeface="Calibri"/>
                <a:cs typeface="Calibri"/>
              </a:rPr>
              <a:t>y </a:t>
            </a:r>
            <a:r>
              <a:rPr dirty="0" sz="2200">
                <a:solidFill>
                  <a:srgbClr val="424242"/>
                </a:solidFill>
                <a:latin typeface="Calibri"/>
                <a:cs typeface="Calibri"/>
              </a:rPr>
              <a:t>agilizar</a:t>
            </a:r>
            <a:r>
              <a:rPr dirty="0" sz="2200" spc="14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84848"/>
                </a:solidFill>
                <a:latin typeface="Calibri"/>
                <a:cs typeface="Calibri"/>
              </a:rPr>
              <a:t>el</a:t>
            </a:r>
            <a:r>
              <a:rPr dirty="0" sz="2200" spc="-4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64646"/>
                </a:solidFill>
                <a:latin typeface="Calibri"/>
                <a:cs typeface="Calibri"/>
              </a:rPr>
              <a:t>checkout</a:t>
            </a:r>
            <a:r>
              <a:rPr dirty="0" sz="2200" spc="12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 spc="75">
                <a:solidFill>
                  <a:srgbClr val="424242"/>
                </a:solidFill>
                <a:latin typeface="Calibri"/>
                <a:cs typeface="Calibri"/>
              </a:rPr>
              <a:t>de</a:t>
            </a:r>
            <a:r>
              <a:rPr dirty="0" sz="2200" spc="-5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24242"/>
                </a:solidFill>
                <a:latin typeface="Calibri"/>
                <a:cs typeface="Calibri"/>
              </a:rPr>
              <a:t>delegaciones</a:t>
            </a:r>
            <a:r>
              <a:rPr dirty="0" sz="2200" spc="22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3A3A3A"/>
                </a:solidFill>
                <a:latin typeface="Calibri"/>
                <a:cs typeface="Calibri"/>
              </a:rPr>
              <a:t>ejecutivas.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9709" y="10368528"/>
            <a:ext cx="130302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89990" algn="l"/>
              </a:tabLst>
            </a:pPr>
            <a:r>
              <a:rPr dirty="0" sz="1650" spc="125">
                <a:solidFill>
                  <a:srgbClr val="2BB8C4"/>
                </a:solidFill>
                <a:latin typeface="Calibri"/>
                <a:cs typeface="Calibri"/>
              </a:rPr>
              <a:t>USIL</a:t>
            </a:r>
            <a:r>
              <a:rPr dirty="0" sz="1650" spc="190">
                <a:solidFill>
                  <a:srgbClr val="2BB8C4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11B3D8"/>
                </a:solidFill>
                <a:latin typeface="Calibri"/>
                <a:cs typeface="Calibri"/>
              </a:rPr>
              <a:t>•</a:t>
            </a:r>
            <a:r>
              <a:rPr dirty="0" sz="1650" spc="90">
                <a:solidFill>
                  <a:srgbClr val="11B3D8"/>
                </a:solidFill>
                <a:latin typeface="Calibri"/>
                <a:cs typeface="Calibri"/>
              </a:rPr>
              <a:t> </a:t>
            </a:r>
            <a:r>
              <a:rPr dirty="0" sz="1650" spc="-25">
                <a:solidFill>
                  <a:srgbClr val="36A8CA"/>
                </a:solidFill>
                <a:latin typeface="Calibri"/>
                <a:cs typeface="Calibri"/>
              </a:rPr>
              <a:t>POO</a:t>
            </a:r>
            <a:r>
              <a:rPr dirty="0" sz="1650">
                <a:solidFill>
                  <a:srgbClr val="36A8CA"/>
                </a:solidFill>
                <a:latin typeface="Calibri"/>
                <a:cs typeface="Calibri"/>
              </a:rPr>
              <a:t>	</a:t>
            </a:r>
            <a:r>
              <a:rPr dirty="0" sz="1650" spc="-25">
                <a:solidFill>
                  <a:srgbClr val="26AFD4"/>
                </a:solidFill>
                <a:latin typeface="Calibri"/>
                <a:cs typeface="Calibri"/>
              </a:rPr>
              <a:t>II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20048" y="3693993"/>
            <a:ext cx="7496809" cy="4240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-555" b="1">
                <a:solidFill>
                  <a:srgbClr val="03AAD8"/>
                </a:solidFill>
                <a:latin typeface="Cambria"/>
                <a:cs typeface="Cambria"/>
              </a:rPr>
              <a:t>Oo</a:t>
            </a:r>
            <a:r>
              <a:rPr dirty="0" sz="3100" spc="465" b="1">
                <a:solidFill>
                  <a:srgbClr val="03AAD8"/>
                </a:solidFill>
                <a:latin typeface="Cambria"/>
                <a:cs typeface="Cambria"/>
              </a:rPr>
              <a:t> </a:t>
            </a:r>
            <a:r>
              <a:rPr dirty="0" sz="3100" spc="-90" b="1">
                <a:solidFill>
                  <a:srgbClr val="152846"/>
                </a:solidFill>
                <a:latin typeface="Cambria"/>
                <a:cs typeface="Cambria"/>
              </a:rPr>
              <a:t>Objetivo</a:t>
            </a:r>
            <a:r>
              <a:rPr dirty="0" sz="3100" spc="-15" b="1">
                <a:solidFill>
                  <a:srgbClr val="152846"/>
                </a:solidFill>
                <a:latin typeface="Cambria"/>
                <a:cs typeface="Cambria"/>
              </a:rPr>
              <a:t> </a:t>
            </a:r>
            <a:r>
              <a:rPr dirty="0" sz="3100" spc="-130" b="1">
                <a:solidFill>
                  <a:srgbClr val="00284F"/>
                </a:solidFill>
                <a:latin typeface="Cambria"/>
                <a:cs typeface="Cambria"/>
              </a:rPr>
              <a:t>General</a:t>
            </a:r>
            <a:r>
              <a:rPr dirty="0" sz="3100" spc="-20" b="1">
                <a:solidFill>
                  <a:srgbClr val="00284F"/>
                </a:solidFill>
                <a:latin typeface="Cambria"/>
                <a:cs typeface="Cambria"/>
              </a:rPr>
              <a:t> </a:t>
            </a:r>
            <a:r>
              <a:rPr dirty="0" sz="3100" b="1">
                <a:solidFill>
                  <a:srgbClr val="0E2849"/>
                </a:solidFill>
                <a:latin typeface="Cambria"/>
                <a:cs typeface="Cambria"/>
              </a:rPr>
              <a:t>y</a:t>
            </a:r>
            <a:r>
              <a:rPr dirty="0" sz="3100" spc="-100" b="1">
                <a:solidFill>
                  <a:srgbClr val="0E2849"/>
                </a:solidFill>
                <a:latin typeface="Cambria"/>
                <a:cs typeface="Cambria"/>
              </a:rPr>
              <a:t> </a:t>
            </a:r>
            <a:r>
              <a:rPr dirty="0" sz="3100" spc="-10" b="1">
                <a:solidFill>
                  <a:srgbClr val="032A4F"/>
                </a:solidFill>
                <a:latin typeface="Cambria"/>
                <a:cs typeface="Cambria"/>
              </a:rPr>
              <a:t>SMART</a:t>
            </a:r>
            <a:endParaRPr sz="3100">
              <a:latin typeface="Cambria"/>
              <a:cs typeface="Cambria"/>
            </a:endParaRPr>
          </a:p>
          <a:p>
            <a:pPr marL="28575" marR="160020" indent="1905">
              <a:lnSpc>
                <a:spcPct val="112400"/>
              </a:lnSpc>
              <a:spcBef>
                <a:spcPts val="1550"/>
              </a:spcBef>
            </a:pPr>
            <a:r>
              <a:rPr dirty="0" sz="2200" b="1">
                <a:solidFill>
                  <a:srgbClr val="414141"/>
                </a:solidFill>
                <a:latin typeface="Calibri"/>
                <a:cs typeface="Calibri"/>
              </a:rPr>
              <a:t>General:</a:t>
            </a:r>
            <a:r>
              <a:rPr dirty="0" sz="2200" spc="55" b="1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44444"/>
                </a:solidFill>
                <a:latin typeface="Calibri"/>
                <a:cs typeface="Calibri"/>
              </a:rPr>
              <a:t>Implementar</a:t>
            </a:r>
            <a:r>
              <a:rPr dirty="0" sz="2200" spc="22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64646"/>
                </a:solidFill>
                <a:latin typeface="Calibri"/>
                <a:cs typeface="Calibri"/>
              </a:rPr>
              <a:t>un</a:t>
            </a:r>
            <a:r>
              <a:rPr dirty="0" sz="2200" spc="-8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84848"/>
                </a:solidFill>
                <a:latin typeface="Calibri"/>
                <a:cs typeface="Calibri"/>
              </a:rPr>
              <a:t>sistema</a:t>
            </a:r>
            <a:r>
              <a:rPr dirty="0" sz="2200" spc="6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24242"/>
                </a:solidFill>
                <a:latin typeface="Calibri"/>
                <a:cs typeface="Calibri"/>
              </a:rPr>
              <a:t>modular</a:t>
            </a:r>
            <a:r>
              <a:rPr dirty="0" sz="2200" spc="13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94949"/>
                </a:solidFill>
                <a:latin typeface="Calibri"/>
                <a:cs typeface="Calibri"/>
              </a:rPr>
              <a:t>en </a:t>
            </a:r>
            <a:r>
              <a:rPr dirty="0" sz="2200" spc="75">
                <a:solidFill>
                  <a:srgbClr val="3A3A3A"/>
                </a:solidFill>
                <a:latin typeface="Calibri"/>
                <a:cs typeface="Calibri"/>
              </a:rPr>
              <a:t>Java</a:t>
            </a:r>
            <a:r>
              <a:rPr dirty="0" sz="2200" spc="3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3F3F3F"/>
                </a:solidFill>
                <a:latin typeface="Calibri"/>
                <a:cs typeface="Calibri"/>
              </a:rPr>
              <a:t>robustecido </a:t>
            </a:r>
            <a:r>
              <a:rPr dirty="0" sz="2200" spc="50">
                <a:solidFill>
                  <a:srgbClr val="3D3D3D"/>
                </a:solidFill>
                <a:latin typeface="Calibri"/>
                <a:cs typeface="Calibri"/>
              </a:rPr>
              <a:t>con</a:t>
            </a:r>
            <a:r>
              <a:rPr dirty="0" sz="2200" spc="-11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24242"/>
                </a:solidFill>
                <a:latin typeface="Calibri"/>
                <a:cs typeface="Calibri"/>
              </a:rPr>
              <a:t>patrones</a:t>
            </a:r>
            <a:r>
              <a:rPr dirty="0" sz="2200" spc="5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 spc="-45" b="1">
                <a:solidFill>
                  <a:srgbClr val="494949"/>
                </a:solidFill>
                <a:latin typeface="Calibri"/>
                <a:cs typeface="Calibri"/>
              </a:rPr>
              <a:t>GoF,</a:t>
            </a:r>
            <a:r>
              <a:rPr dirty="0" sz="2200" spc="5" b="1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3D3D3D"/>
                </a:solidFill>
                <a:latin typeface="Calibri"/>
                <a:cs typeface="Calibri"/>
              </a:rPr>
              <a:t>concurrencia</a:t>
            </a:r>
            <a:r>
              <a:rPr dirty="0" sz="2200" spc="130" b="1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00" spc="90" b="1">
                <a:solidFill>
                  <a:srgbClr val="444444"/>
                </a:solidFill>
                <a:latin typeface="Calibri"/>
                <a:cs typeface="Calibri"/>
              </a:rPr>
              <a:t>y</a:t>
            </a:r>
            <a:r>
              <a:rPr dirty="0" sz="2200" spc="-65" b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44444"/>
                </a:solidFill>
                <a:latin typeface="Calibri"/>
                <a:cs typeface="Calibri"/>
              </a:rPr>
              <a:t>lambdas.</a:t>
            </a:r>
            <a:endParaRPr sz="2200">
              <a:latin typeface="Calibri"/>
              <a:cs typeface="Calibri"/>
            </a:endParaRPr>
          </a:p>
          <a:p>
            <a:pPr marL="31750">
              <a:lnSpc>
                <a:spcPct val="100000"/>
              </a:lnSpc>
              <a:spcBef>
                <a:spcPts val="1864"/>
              </a:spcBef>
            </a:pPr>
            <a:r>
              <a:rPr dirty="0" sz="1900">
                <a:solidFill>
                  <a:srgbClr val="494949"/>
                </a:solidFill>
                <a:latin typeface="Calibri"/>
                <a:cs typeface="Calibri"/>
              </a:rPr>
              <a:t>S</a:t>
            </a:r>
            <a:r>
              <a:rPr dirty="0" sz="1900" spc="35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00" spc="200">
                <a:solidFill>
                  <a:srgbClr val="444444"/>
                </a:solidFill>
                <a:latin typeface="Calibri"/>
                <a:cs typeface="Calibri"/>
              </a:rPr>
              <a:t>(Específico):</a:t>
            </a:r>
            <a:r>
              <a:rPr dirty="0" sz="1900" spc="5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900" spc="125">
                <a:solidFill>
                  <a:srgbClr val="464646"/>
                </a:solidFill>
                <a:latin typeface="Calibri"/>
                <a:cs typeface="Calibri"/>
              </a:rPr>
              <a:t>Usar</a:t>
            </a:r>
            <a:r>
              <a:rPr dirty="0" sz="1900" spc="9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130">
                <a:solidFill>
                  <a:srgbClr val="444444"/>
                </a:solidFill>
                <a:latin typeface="Calibri"/>
                <a:cs typeface="Calibri"/>
              </a:rPr>
              <a:t>patrón</a:t>
            </a:r>
            <a:r>
              <a:rPr dirty="0" sz="1900" spc="4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900" spc="204">
                <a:solidFill>
                  <a:srgbClr val="484848"/>
                </a:solidFill>
                <a:latin typeface="Calibri"/>
                <a:cs typeface="Calibri"/>
              </a:rPr>
              <a:t>MVC</a:t>
            </a:r>
            <a:r>
              <a:rPr dirty="0" sz="1900" spc="8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900" spc="100">
                <a:solidFill>
                  <a:srgbClr val="3F3F3F"/>
                </a:solidFill>
                <a:latin typeface="Calibri"/>
                <a:cs typeface="Calibri"/>
              </a:rPr>
              <a:t>estricto.</a:t>
            </a:r>
            <a:endParaRPr sz="1900">
              <a:latin typeface="Calibri"/>
              <a:cs typeface="Calibri"/>
            </a:endParaRPr>
          </a:p>
          <a:p>
            <a:pPr marL="39370" marR="5080" indent="-10795">
              <a:lnSpc>
                <a:spcPct val="120700"/>
              </a:lnSpc>
              <a:spcBef>
                <a:spcPts val="1019"/>
              </a:spcBef>
            </a:pPr>
            <a:r>
              <a:rPr dirty="0" sz="2050" spc="135">
                <a:solidFill>
                  <a:srgbClr val="46566D"/>
                </a:solidFill>
                <a:latin typeface="Arial MT"/>
                <a:cs typeface="Arial MT"/>
              </a:rPr>
              <a:t>M</a:t>
            </a:r>
            <a:r>
              <a:rPr dirty="0" sz="2050" spc="-170">
                <a:solidFill>
                  <a:srgbClr val="46566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424242"/>
                </a:solidFill>
                <a:latin typeface="Arial MT"/>
                <a:cs typeface="Arial MT"/>
              </a:rPr>
              <a:t>(Medible):</a:t>
            </a:r>
            <a:r>
              <a:rPr dirty="0" sz="2050" spc="-3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3D3D3D"/>
                </a:solidFill>
                <a:latin typeface="Arial MT"/>
                <a:cs typeface="Arial MT"/>
              </a:rPr>
              <a:t>Flujo</a:t>
            </a:r>
            <a:r>
              <a:rPr dirty="0" sz="205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383838"/>
                </a:solidFill>
                <a:latin typeface="Arial MT"/>
                <a:cs typeface="Arial MT"/>
              </a:rPr>
              <a:t>interactivo</a:t>
            </a:r>
            <a:r>
              <a:rPr dirty="0" sz="20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383838"/>
                </a:solidFill>
                <a:latin typeface="Arial MT"/>
                <a:cs typeface="Arial MT"/>
              </a:rPr>
              <a:t>libre</a:t>
            </a:r>
            <a:r>
              <a:rPr dirty="0" sz="205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4B4B4B"/>
                </a:solidFill>
                <a:latin typeface="Arial MT"/>
                <a:cs typeface="Arial MT"/>
              </a:rPr>
              <a:t>de</a:t>
            </a:r>
            <a:r>
              <a:rPr dirty="0" sz="2050" spc="3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424242"/>
                </a:solidFill>
                <a:latin typeface="Arial MT"/>
                <a:cs typeface="Arial MT"/>
              </a:rPr>
              <a:t>accesos</a:t>
            </a:r>
            <a:r>
              <a:rPr dirty="0" sz="2050" spc="18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494949"/>
                </a:solidFill>
                <a:latin typeface="Arial MT"/>
                <a:cs typeface="Arial MT"/>
              </a:rPr>
              <a:t>directos</a:t>
            </a:r>
            <a:r>
              <a:rPr dirty="0" sz="2050" spc="16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383838"/>
                </a:solidFill>
                <a:latin typeface="Arial MT"/>
                <a:cs typeface="Arial MT"/>
              </a:rPr>
              <a:t>desde</a:t>
            </a:r>
            <a:r>
              <a:rPr dirty="0" sz="2050" spc="10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424242"/>
                </a:solidFill>
                <a:latin typeface="Arial MT"/>
                <a:cs typeface="Arial MT"/>
              </a:rPr>
              <a:t>la </a:t>
            </a:r>
            <a:r>
              <a:rPr dirty="0" sz="2050">
                <a:solidFill>
                  <a:srgbClr val="414141"/>
                </a:solidFill>
                <a:latin typeface="Arial MT"/>
                <a:cs typeface="Arial MT"/>
              </a:rPr>
              <a:t>Vista</a:t>
            </a:r>
            <a:r>
              <a:rPr dirty="0" sz="2050" spc="-4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424242"/>
                </a:solidFill>
                <a:latin typeface="Arial MT"/>
                <a:cs typeface="Arial MT"/>
              </a:rPr>
              <a:t>al</a:t>
            </a:r>
            <a:r>
              <a:rPr dirty="0" sz="2050" spc="-8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414141"/>
                </a:solidFill>
                <a:latin typeface="Arial MT"/>
                <a:cs typeface="Arial MT"/>
              </a:rPr>
              <a:t>Modelo.</a:t>
            </a:r>
            <a:endParaRPr sz="2050">
              <a:latin typeface="Arial MT"/>
              <a:cs typeface="Arial MT"/>
            </a:endParaRPr>
          </a:p>
          <a:p>
            <a:pPr marL="35560">
              <a:lnSpc>
                <a:spcPct val="100000"/>
              </a:lnSpc>
              <a:spcBef>
                <a:spcPts val="1350"/>
              </a:spcBef>
            </a:pPr>
            <a:r>
              <a:rPr dirty="0" sz="2200" spc="75">
                <a:solidFill>
                  <a:srgbClr val="4D5D77"/>
                </a:solidFill>
                <a:latin typeface="Calibri"/>
                <a:cs typeface="Calibri"/>
              </a:rPr>
              <a:t>A</a:t>
            </a:r>
            <a:r>
              <a:rPr dirty="0" sz="2200" spc="-20">
                <a:solidFill>
                  <a:srgbClr val="4D5D77"/>
                </a:solidFill>
                <a:latin typeface="Calibri"/>
                <a:cs typeface="Calibri"/>
              </a:rPr>
              <a:t> </a:t>
            </a:r>
            <a:r>
              <a:rPr dirty="0" sz="2200" spc="65">
                <a:solidFill>
                  <a:srgbClr val="3F3F3F"/>
                </a:solidFill>
                <a:latin typeface="Calibri"/>
                <a:cs typeface="Calibri"/>
              </a:rPr>
              <a:t>(Alcanzable):</a:t>
            </a:r>
            <a:r>
              <a:rPr dirty="0" sz="2200" spc="23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83838"/>
                </a:solidFill>
                <a:latin typeface="Calibri"/>
                <a:cs typeface="Calibri"/>
              </a:rPr>
              <a:t>Viable</a:t>
            </a:r>
            <a:r>
              <a:rPr dirty="0" sz="2200" spc="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64646"/>
                </a:solidFill>
                <a:latin typeface="Calibri"/>
                <a:cs typeface="Calibri"/>
              </a:rPr>
              <a:t>usando</a:t>
            </a:r>
            <a:r>
              <a:rPr dirty="0" sz="2200" spc="6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14141"/>
                </a:solidFill>
                <a:latin typeface="Calibri"/>
                <a:cs typeface="Calibri"/>
              </a:rPr>
              <a:t>disparadores</a:t>
            </a:r>
            <a:r>
              <a:rPr dirty="0" sz="2200" spc="254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200" spc="75">
                <a:solidFill>
                  <a:srgbClr val="4B4B4B"/>
                </a:solidFill>
                <a:latin typeface="Calibri"/>
                <a:cs typeface="Calibri"/>
              </a:rPr>
              <a:t>de</a:t>
            </a:r>
            <a:r>
              <a:rPr dirty="0" sz="2200" spc="2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3A3A3A"/>
                </a:solidFill>
                <a:latin typeface="Calibri"/>
                <a:cs typeface="Calibri"/>
              </a:rPr>
              <a:t>eventos.</a:t>
            </a:r>
            <a:endParaRPr sz="220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1465"/>
              </a:spcBef>
            </a:pPr>
            <a:r>
              <a:rPr dirty="0" sz="2050">
                <a:solidFill>
                  <a:srgbClr val="44566E"/>
                </a:solidFill>
                <a:latin typeface="Calibri"/>
                <a:cs typeface="Calibri"/>
              </a:rPr>
              <a:t>T</a:t>
            </a:r>
            <a:r>
              <a:rPr dirty="0" sz="2050" spc="250">
                <a:solidFill>
                  <a:srgbClr val="44566E"/>
                </a:solidFill>
                <a:latin typeface="Calibri"/>
                <a:cs typeface="Calibri"/>
              </a:rPr>
              <a:t> </a:t>
            </a:r>
            <a:r>
              <a:rPr dirty="0" sz="2050" spc="85" b="1">
                <a:solidFill>
                  <a:srgbClr val="424242"/>
                </a:solidFill>
                <a:latin typeface="Calibri"/>
                <a:cs typeface="Calibri"/>
              </a:rPr>
              <a:t>(Temporal):</a:t>
            </a:r>
            <a:r>
              <a:rPr dirty="0" sz="2050" spc="114" b="1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050" spc="65">
                <a:solidFill>
                  <a:srgbClr val="3D3D3D"/>
                </a:solidFill>
                <a:latin typeface="Calibri"/>
                <a:cs typeface="Calibri"/>
              </a:rPr>
              <a:t>Integrado</a:t>
            </a:r>
            <a:r>
              <a:rPr dirty="0" sz="2050" spc="8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050" spc="70">
                <a:solidFill>
                  <a:srgbClr val="5D707E"/>
                </a:solidFill>
                <a:latin typeface="Calibri"/>
                <a:cs typeface="Calibri"/>
              </a:rPr>
              <a:t>y</a:t>
            </a:r>
            <a:r>
              <a:rPr dirty="0" sz="2050" spc="145">
                <a:solidFill>
                  <a:srgbClr val="5D707E"/>
                </a:solidFill>
                <a:latin typeface="Calibri"/>
                <a:cs typeface="Calibri"/>
              </a:rPr>
              <a:t> </a:t>
            </a:r>
            <a:r>
              <a:rPr dirty="0" sz="2050" spc="75">
                <a:solidFill>
                  <a:srgbClr val="3D3D3D"/>
                </a:solidFill>
                <a:latin typeface="Calibri"/>
                <a:cs typeface="Calibri"/>
              </a:rPr>
              <a:t>validado</a:t>
            </a:r>
            <a:r>
              <a:rPr dirty="0" sz="2050" spc="9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050" spc="75">
                <a:solidFill>
                  <a:srgbClr val="3D3D3D"/>
                </a:solidFill>
                <a:latin typeface="Calibri"/>
                <a:cs typeface="Calibri"/>
              </a:rPr>
              <a:t>antes</a:t>
            </a:r>
            <a:r>
              <a:rPr dirty="0" sz="2050" spc="4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050" spc="70">
                <a:solidFill>
                  <a:srgbClr val="383838"/>
                </a:solidFill>
                <a:latin typeface="Calibri"/>
                <a:cs typeface="Calibri"/>
              </a:rPr>
              <a:t>del</a:t>
            </a:r>
            <a:r>
              <a:rPr dirty="0" sz="2050" spc="9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050" spc="50" b="1">
                <a:solidFill>
                  <a:srgbClr val="4B4B4B"/>
                </a:solidFill>
                <a:latin typeface="Calibri"/>
                <a:cs typeface="Calibri"/>
              </a:rPr>
              <a:t>cierre</a:t>
            </a:r>
            <a:r>
              <a:rPr dirty="0" sz="2050" spc="85" b="1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050" spc="70">
                <a:solidFill>
                  <a:srgbClr val="464646"/>
                </a:solidFill>
                <a:latin typeface="Calibri"/>
                <a:cs typeface="Calibri"/>
              </a:rPr>
              <a:t>del</a:t>
            </a:r>
            <a:r>
              <a:rPr dirty="0" sz="2050" spc="9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050" spc="80" b="1">
                <a:solidFill>
                  <a:srgbClr val="464646"/>
                </a:solidFill>
                <a:latin typeface="Calibri"/>
                <a:cs typeface="Calibri"/>
              </a:rPr>
              <a:t>ciclo</a:t>
            </a:r>
            <a:endParaRPr sz="2050">
              <a:latin typeface="Calibri"/>
              <a:cs typeface="Calibri"/>
            </a:endParaRPr>
          </a:p>
          <a:p>
            <a:pPr marL="36830">
              <a:lnSpc>
                <a:spcPct val="100000"/>
              </a:lnSpc>
              <a:spcBef>
                <a:spcPts val="509"/>
              </a:spcBef>
            </a:pPr>
            <a:r>
              <a:rPr dirty="0" sz="2050" spc="70">
                <a:solidFill>
                  <a:srgbClr val="444444"/>
                </a:solidFill>
                <a:latin typeface="Calibri"/>
                <a:cs typeface="Calibri"/>
              </a:rPr>
              <a:t>académico.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16356" y="10384889"/>
            <a:ext cx="111379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65">
                <a:solidFill>
                  <a:srgbClr val="909090"/>
                </a:solidFill>
                <a:latin typeface="Calibri"/>
                <a:cs typeface="Calibri"/>
              </a:rPr>
              <a:t>Diapositiva</a:t>
            </a:r>
            <a:r>
              <a:rPr dirty="0" sz="1550" spc="70">
                <a:solidFill>
                  <a:srgbClr val="909090"/>
                </a:solidFill>
                <a:latin typeface="Calibri"/>
                <a:cs typeface="Calibri"/>
              </a:rPr>
              <a:t> </a:t>
            </a:r>
            <a:r>
              <a:rPr dirty="0" sz="1550" spc="-345">
                <a:solidFill>
                  <a:srgbClr val="9A9A9A"/>
                </a:solidFill>
                <a:latin typeface="Calibri"/>
                <a:cs typeface="Calibri"/>
              </a:rPr>
              <a:t>•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6176" y="3204090"/>
            <a:ext cx="8465710" cy="54500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38949" y="839368"/>
            <a:ext cx="7713980" cy="85026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400" spc="-85" b="1">
                <a:solidFill>
                  <a:srgbClr val="001A3B"/>
                </a:solidFill>
                <a:latin typeface="Times New Roman"/>
                <a:cs typeface="Times New Roman"/>
              </a:rPr>
              <a:t>Arquitectura</a:t>
            </a:r>
            <a:r>
              <a:rPr dirty="0" sz="5400" spc="90" b="1">
                <a:solidFill>
                  <a:srgbClr val="001A3B"/>
                </a:solidFill>
                <a:latin typeface="Times New Roman"/>
                <a:cs typeface="Times New Roman"/>
              </a:rPr>
              <a:t> </a:t>
            </a:r>
            <a:r>
              <a:rPr dirty="0" sz="5400" b="1">
                <a:solidFill>
                  <a:srgbClr val="082648"/>
                </a:solidFill>
                <a:latin typeface="Times New Roman"/>
                <a:cs typeface="Times New Roman"/>
              </a:rPr>
              <a:t>Base</a:t>
            </a:r>
            <a:r>
              <a:rPr dirty="0" sz="5400" spc="-195" b="1">
                <a:solidFill>
                  <a:srgbClr val="082648"/>
                </a:solidFill>
                <a:latin typeface="Times New Roman"/>
                <a:cs typeface="Times New Roman"/>
              </a:rPr>
              <a:t> </a:t>
            </a:r>
            <a:r>
              <a:rPr dirty="0" sz="5400" spc="135" b="1">
                <a:solidFill>
                  <a:srgbClr val="072446"/>
                </a:solidFill>
                <a:latin typeface="Times New Roman"/>
                <a:cs typeface="Times New Roman"/>
              </a:rPr>
              <a:t>y</a:t>
            </a:r>
            <a:r>
              <a:rPr dirty="0" sz="5400" spc="-254" b="1">
                <a:solidFill>
                  <a:srgbClr val="072446"/>
                </a:solidFill>
                <a:latin typeface="Times New Roman"/>
                <a:cs typeface="Times New Roman"/>
              </a:rPr>
              <a:t> </a:t>
            </a:r>
            <a:r>
              <a:rPr dirty="0" sz="5400" spc="-30" b="1">
                <a:solidFill>
                  <a:srgbClr val="082649"/>
                </a:solidFill>
                <a:latin typeface="Times New Roman"/>
                <a:cs typeface="Times New Roman"/>
              </a:rPr>
              <a:t>Reuso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2842" y="2572299"/>
            <a:ext cx="8191500" cy="63157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320" marR="227965" indent="-8255">
              <a:lnSpc>
                <a:spcPct val="117800"/>
              </a:lnSpc>
              <a:spcBef>
                <a:spcPts val="90"/>
              </a:spcBef>
            </a:pPr>
            <a:r>
              <a:rPr dirty="0" sz="2800">
                <a:solidFill>
                  <a:srgbClr val="597793"/>
                </a:solidFill>
                <a:latin typeface="Calibri"/>
                <a:cs typeface="Calibri"/>
              </a:rPr>
              <a:t>La</a:t>
            </a:r>
            <a:r>
              <a:rPr dirty="0" sz="2800" spc="150">
                <a:solidFill>
                  <a:srgbClr val="597793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797979"/>
                </a:solidFill>
                <a:latin typeface="Calibri"/>
                <a:cs typeface="Calibri"/>
              </a:rPr>
              <a:t>persistencia</a:t>
            </a:r>
            <a:r>
              <a:rPr dirty="0" sz="2800" spc="12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707070"/>
                </a:solidFill>
                <a:latin typeface="Calibri"/>
                <a:cs typeface="Calibri"/>
              </a:rPr>
              <a:t>y</a:t>
            </a:r>
            <a:r>
              <a:rPr dirty="0" sz="2800" spc="-35">
                <a:solidFill>
                  <a:srgbClr val="707070"/>
                </a:solidFill>
                <a:latin typeface="Calibri"/>
                <a:cs typeface="Calibri"/>
              </a:rPr>
              <a:t> </a:t>
            </a:r>
            <a:r>
              <a:rPr dirty="0" sz="2800" spc="-65">
                <a:solidFill>
                  <a:srgbClr val="8995A3"/>
                </a:solidFill>
                <a:latin typeface="Calibri"/>
                <a:cs typeface="Calibri"/>
              </a:rPr>
              <a:t>el</a:t>
            </a:r>
            <a:r>
              <a:rPr dirty="0" sz="2800" spc="-95">
                <a:solidFill>
                  <a:srgbClr val="8995A3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96969"/>
                </a:solidFill>
                <a:latin typeface="Calibri"/>
                <a:cs typeface="Calibri"/>
              </a:rPr>
              <a:t>reuso</a:t>
            </a:r>
            <a:r>
              <a:rPr dirty="0" sz="2800" spc="2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dirty="0" sz="2800" spc="65">
                <a:solidFill>
                  <a:srgbClr val="6E7C87"/>
                </a:solidFill>
                <a:latin typeface="Calibri"/>
                <a:cs typeface="Calibri"/>
              </a:rPr>
              <a:t>de</a:t>
            </a:r>
            <a:r>
              <a:rPr dirty="0" sz="2800" spc="-85">
                <a:solidFill>
                  <a:srgbClr val="6E7C87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76767"/>
                </a:solidFill>
                <a:latin typeface="Calibri"/>
                <a:cs typeface="Calibri"/>
              </a:rPr>
              <a:t>software</a:t>
            </a:r>
            <a:r>
              <a:rPr dirty="0" sz="2800" spc="55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dirty="0" sz="2800" spc="55">
                <a:solidFill>
                  <a:srgbClr val="6E7487"/>
                </a:solidFill>
                <a:latin typeface="Calibri"/>
                <a:cs typeface="Calibri"/>
              </a:rPr>
              <a:t>se</a:t>
            </a:r>
            <a:r>
              <a:rPr dirty="0" sz="2800" spc="-85">
                <a:solidFill>
                  <a:srgbClr val="6E7487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76767"/>
                </a:solidFill>
                <a:latin typeface="Calibri"/>
                <a:cs typeface="Calibri"/>
              </a:rPr>
              <a:t>solucionan </a:t>
            </a:r>
            <a:r>
              <a:rPr dirty="0" sz="2800" spc="40">
                <a:solidFill>
                  <a:srgbClr val="72798C"/>
                </a:solidFill>
                <a:latin typeface="Calibri"/>
                <a:cs typeface="Calibri"/>
              </a:rPr>
              <a:t>de </a:t>
            </a:r>
            <a:r>
              <a:rPr dirty="0" sz="2800">
                <a:solidFill>
                  <a:srgbClr val="5D7597"/>
                </a:solidFill>
                <a:latin typeface="Calibri"/>
                <a:cs typeface="Calibri"/>
              </a:rPr>
              <a:t>forma</a:t>
            </a:r>
            <a:r>
              <a:rPr dirty="0" sz="2800" spc="-114">
                <a:solidFill>
                  <a:srgbClr val="5D7597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707070"/>
                </a:solidFill>
                <a:latin typeface="Calibri"/>
                <a:cs typeface="Calibri"/>
              </a:rPr>
              <a:t>elegante</a:t>
            </a:r>
            <a:r>
              <a:rPr dirty="0" sz="2800" spc="50">
                <a:solidFill>
                  <a:srgbClr val="707070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858E9A"/>
                </a:solidFill>
                <a:latin typeface="Calibri"/>
                <a:cs typeface="Calibri"/>
              </a:rPr>
              <a:t>en</a:t>
            </a:r>
            <a:r>
              <a:rPr dirty="0" sz="2800" spc="-130">
                <a:solidFill>
                  <a:srgbClr val="858E9A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0758C"/>
                </a:solidFill>
                <a:latin typeface="Calibri"/>
                <a:cs typeface="Calibri"/>
              </a:rPr>
              <a:t>la</a:t>
            </a:r>
            <a:r>
              <a:rPr dirty="0" sz="2800" spc="-105">
                <a:solidFill>
                  <a:srgbClr val="60758C"/>
                </a:solidFill>
                <a:latin typeface="Calibri"/>
                <a:cs typeface="Calibri"/>
              </a:rPr>
              <a:t> </a:t>
            </a:r>
            <a:r>
              <a:rPr dirty="0" sz="2800" spc="80">
                <a:solidFill>
                  <a:srgbClr val="647483"/>
                </a:solidFill>
                <a:latin typeface="Calibri"/>
                <a:cs typeface="Calibri"/>
              </a:rPr>
              <a:t>capa</a:t>
            </a:r>
            <a:r>
              <a:rPr dirty="0" sz="2800" spc="-75">
                <a:solidFill>
                  <a:srgbClr val="647483"/>
                </a:solidFill>
                <a:latin typeface="Calibri"/>
                <a:cs typeface="Calibri"/>
              </a:rPr>
              <a:t> </a:t>
            </a:r>
            <a:r>
              <a:rPr dirty="0" sz="2800" spc="65">
                <a:solidFill>
                  <a:srgbClr val="72798C"/>
                </a:solidFill>
                <a:latin typeface="Calibri"/>
                <a:cs typeface="Calibri"/>
              </a:rPr>
              <a:t>de</a:t>
            </a:r>
            <a:r>
              <a:rPr dirty="0" sz="2800" spc="-120">
                <a:solidFill>
                  <a:srgbClr val="72798C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B6B6B"/>
                </a:solidFill>
                <a:latin typeface="Calibri"/>
                <a:cs typeface="Calibri"/>
              </a:rPr>
              <a:t>datos.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8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</a:pPr>
            <a:r>
              <a:rPr dirty="0" sz="3350" spc="-110" b="1">
                <a:solidFill>
                  <a:srgbClr val="0A244F"/>
                </a:solidFill>
                <a:latin typeface="Times New Roman"/>
                <a:cs typeface="Times New Roman"/>
              </a:rPr>
              <a:t>Infraestructura</a:t>
            </a:r>
            <a:r>
              <a:rPr dirty="0" sz="3350" spc="-265" b="1">
                <a:solidFill>
                  <a:srgbClr val="0A244F"/>
                </a:solidFill>
                <a:latin typeface="Times New Roman"/>
                <a:cs typeface="Times New Roman"/>
              </a:rPr>
              <a:t> </a:t>
            </a:r>
            <a:r>
              <a:rPr dirty="0" sz="3350" spc="-80" b="1">
                <a:solidFill>
                  <a:srgbClr val="0C284D"/>
                </a:solidFill>
                <a:latin typeface="Times New Roman"/>
                <a:cs typeface="Times New Roman"/>
              </a:rPr>
              <a:t>Parametrizada</a:t>
            </a:r>
            <a:endParaRPr sz="33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830"/>
              </a:spcBef>
            </a:pPr>
            <a:r>
              <a:rPr dirty="0" sz="2200">
                <a:solidFill>
                  <a:srgbClr val="464646"/>
                </a:solidFill>
                <a:latin typeface="Calibri"/>
                <a:cs typeface="Calibri"/>
              </a:rPr>
              <a:t>Se</a:t>
            </a:r>
            <a:r>
              <a:rPr dirty="0" sz="2200" spc="4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B3B3B"/>
                </a:solidFill>
                <a:latin typeface="Calibri"/>
                <a:cs typeface="Calibri"/>
              </a:rPr>
              <a:t>creó</a:t>
            </a:r>
            <a:r>
              <a:rPr dirty="0" sz="2200" spc="1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14141"/>
                </a:solidFill>
                <a:latin typeface="Calibri"/>
                <a:cs typeface="Calibri"/>
              </a:rPr>
              <a:t>una</a:t>
            </a:r>
            <a:r>
              <a:rPr dirty="0" sz="2200" spc="10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200" spc="65">
                <a:solidFill>
                  <a:srgbClr val="3B3B3B"/>
                </a:solidFill>
                <a:latin typeface="Calibri"/>
                <a:cs typeface="Calibri"/>
              </a:rPr>
              <a:t>clase</a:t>
            </a:r>
            <a:r>
              <a:rPr dirty="0" sz="2200" spc="11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200" spc="65">
                <a:solidFill>
                  <a:srgbClr val="444444"/>
                </a:solidFill>
                <a:latin typeface="Calibri"/>
                <a:cs typeface="Calibri"/>
              </a:rPr>
              <a:t>base</a:t>
            </a:r>
            <a:r>
              <a:rPr dirty="0" sz="2200" spc="17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D3D3D"/>
                </a:solidFill>
                <a:latin typeface="Calibri"/>
                <a:cs typeface="Calibri"/>
              </a:rPr>
              <a:t>abstracta</a:t>
            </a:r>
            <a:r>
              <a:rPr dirty="0" sz="2200" spc="15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F3F3F"/>
                </a:solidFill>
                <a:latin typeface="Calibri"/>
                <a:cs typeface="Calibri"/>
              </a:rPr>
              <a:t>parametrizada</a:t>
            </a:r>
            <a:r>
              <a:rPr dirty="0" sz="2200" spc="27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3F3F3F"/>
                </a:solidFill>
                <a:latin typeface="Calibri"/>
                <a:cs typeface="Calibri"/>
              </a:rPr>
              <a:t>denominada</a:t>
            </a:r>
            <a:endParaRPr sz="2200">
              <a:latin typeface="Calibri"/>
              <a:cs typeface="Calibri"/>
            </a:endParaRPr>
          </a:p>
          <a:p>
            <a:pPr marL="15875" marR="5080" indent="89535">
              <a:lnSpc>
                <a:spcPts val="2970"/>
              </a:lnSpc>
              <a:spcBef>
                <a:spcPts val="90"/>
              </a:spcBef>
              <a:tabLst>
                <a:tab pos="2032000" algn="l"/>
              </a:tabLst>
            </a:pPr>
            <a:r>
              <a:rPr dirty="0" sz="2200" spc="-10">
                <a:solidFill>
                  <a:srgbClr val="FF99BF"/>
                </a:solidFill>
                <a:latin typeface="Calibri"/>
                <a:cs typeface="Calibri"/>
              </a:rPr>
              <a:t>Repos</a:t>
            </a:r>
            <a:r>
              <a:rPr dirty="0" sz="2200" spc="-10">
                <a:solidFill>
                  <a:srgbClr val="D8335B"/>
                </a:solidFill>
                <a:latin typeface="Calibri"/>
                <a:cs typeface="Calibri"/>
              </a:rPr>
              <a:t>1toryBase</a:t>
            </a:r>
            <a:r>
              <a:rPr dirty="0" sz="2200">
                <a:solidFill>
                  <a:srgbClr val="D8335B"/>
                </a:solidFill>
                <a:latin typeface="Calibri"/>
                <a:cs typeface="Calibri"/>
              </a:rPr>
              <a:t>	</a:t>
            </a:r>
            <a:r>
              <a:rPr dirty="0" sz="2200">
                <a:solidFill>
                  <a:srgbClr val="3F3F3F"/>
                </a:solidFill>
                <a:latin typeface="Calibri"/>
                <a:cs typeface="Calibri"/>
              </a:rPr>
              <a:t>que</a:t>
            </a:r>
            <a:r>
              <a:rPr dirty="0" sz="2200" spc="3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44444"/>
                </a:solidFill>
                <a:latin typeface="Calibri"/>
                <a:cs typeface="Calibri"/>
              </a:rPr>
              <a:t>evita</a:t>
            </a:r>
            <a:r>
              <a:rPr dirty="0" sz="2200" spc="5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spc="65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dirty="0" sz="2200" spc="-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D3D3D"/>
                </a:solidFill>
                <a:latin typeface="Calibri"/>
                <a:cs typeface="Calibri"/>
              </a:rPr>
              <a:t>redundancia</a:t>
            </a:r>
            <a:r>
              <a:rPr dirty="0" sz="2200" spc="22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00" spc="75">
                <a:solidFill>
                  <a:srgbClr val="444444"/>
                </a:solidFill>
                <a:latin typeface="Calibri"/>
                <a:cs typeface="Calibri"/>
              </a:rPr>
              <a:t>de</a:t>
            </a:r>
            <a:r>
              <a:rPr dirty="0" sz="2200" spc="-1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44444"/>
                </a:solidFill>
                <a:latin typeface="Calibri"/>
                <a:cs typeface="Calibri"/>
              </a:rPr>
              <a:t>código</a:t>
            </a:r>
            <a:r>
              <a:rPr dirty="0" sz="2200" spc="2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D4D4D"/>
                </a:solidFill>
                <a:latin typeface="Calibri"/>
                <a:cs typeface="Calibri"/>
              </a:rPr>
              <a:t>en</a:t>
            </a:r>
            <a:r>
              <a:rPr dirty="0" sz="2200" spc="-6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94949"/>
                </a:solidFill>
                <a:latin typeface="Calibri"/>
                <a:cs typeface="Calibri"/>
              </a:rPr>
              <a:t>el</a:t>
            </a:r>
            <a:r>
              <a:rPr dirty="0" sz="2200" spc="7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64646"/>
                </a:solidFill>
                <a:latin typeface="Calibri"/>
                <a:cs typeface="Calibri"/>
              </a:rPr>
              <a:t>backend</a:t>
            </a:r>
            <a:r>
              <a:rPr dirty="0" sz="2200" spc="12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494949"/>
                </a:solidFill>
                <a:latin typeface="Calibri"/>
                <a:cs typeface="Calibri"/>
              </a:rPr>
              <a:t>del </a:t>
            </a:r>
            <a:r>
              <a:rPr dirty="0" sz="2200" spc="-10">
                <a:solidFill>
                  <a:srgbClr val="3F3F3F"/>
                </a:solidFill>
                <a:latin typeface="Calibri"/>
                <a:cs typeface="Calibri"/>
              </a:rPr>
              <a:t>software.</a:t>
            </a:r>
            <a:endParaRPr sz="2200">
              <a:latin typeface="Calibri"/>
              <a:cs typeface="Calibri"/>
            </a:endParaRPr>
          </a:p>
          <a:p>
            <a:pPr marL="485140" marR="291465" indent="-635">
              <a:lnSpc>
                <a:spcPct val="103099"/>
              </a:lnSpc>
              <a:spcBef>
                <a:spcPts val="2440"/>
              </a:spcBef>
            </a:pPr>
            <a:r>
              <a:rPr dirty="0" sz="2200" spc="-10">
                <a:solidFill>
                  <a:srgbClr val="424242"/>
                </a:solidFill>
                <a:latin typeface="Calibri"/>
                <a:cs typeface="Calibri"/>
              </a:rPr>
              <a:t>Centraliza</a:t>
            </a:r>
            <a:r>
              <a:rPr dirty="0" sz="2200" spc="-114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F4F4F"/>
                </a:solidFill>
                <a:latin typeface="Calibri"/>
                <a:cs typeface="Calibri"/>
              </a:rPr>
              <a:t>las</a:t>
            </a:r>
            <a:r>
              <a:rPr dirty="0" sz="2200" spc="-8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B4B4B"/>
                </a:solidFill>
                <a:latin typeface="Calibri"/>
                <a:cs typeface="Calibri"/>
              </a:rPr>
              <a:t>operaciones</a:t>
            </a:r>
            <a:r>
              <a:rPr dirty="0" sz="2200" spc="6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464646"/>
                </a:solidFill>
                <a:latin typeface="Calibri"/>
                <a:cs typeface="Calibri"/>
              </a:rPr>
              <a:t>CRUD </a:t>
            </a:r>
            <a:r>
              <a:rPr dirty="0" sz="2200" spc="-30">
                <a:solidFill>
                  <a:srgbClr val="4D4D4D"/>
                </a:solidFill>
                <a:latin typeface="Calibri"/>
                <a:cs typeface="Calibri"/>
              </a:rPr>
              <a:t>tradicionales</a:t>
            </a:r>
            <a:r>
              <a:rPr dirty="0" sz="2200" spc="3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200" spc="-45">
                <a:solidFill>
                  <a:srgbClr val="4D4D4D"/>
                </a:solidFill>
                <a:latin typeface="Calibri"/>
                <a:cs typeface="Calibri"/>
              </a:rPr>
              <a:t>(guardar,</a:t>
            </a:r>
            <a:r>
              <a:rPr dirty="0" sz="2200" spc="-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D4D4D"/>
                </a:solidFill>
                <a:latin typeface="Calibri"/>
                <a:cs typeface="Calibri"/>
              </a:rPr>
              <a:t>recuperar, </a:t>
            </a:r>
            <a:r>
              <a:rPr dirty="0" sz="2200" spc="-20">
                <a:solidFill>
                  <a:srgbClr val="85939A"/>
                </a:solidFill>
                <a:latin typeface="Calibri"/>
                <a:cs typeface="Calibri"/>
              </a:rPr>
              <a:t>borrar)</a:t>
            </a:r>
            <a:r>
              <a:rPr dirty="0" sz="2200" spc="-30">
                <a:solidFill>
                  <a:srgbClr val="85939A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D4D4D"/>
                </a:solidFill>
                <a:latin typeface="Calibri"/>
                <a:cs typeface="Calibri"/>
              </a:rPr>
              <a:t>de</a:t>
            </a:r>
            <a:r>
              <a:rPr dirty="0" sz="2200" spc="-5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64646"/>
                </a:solidFill>
                <a:latin typeface="Calibri"/>
                <a:cs typeface="Calibri"/>
              </a:rPr>
              <a:t>listas</a:t>
            </a:r>
            <a:r>
              <a:rPr dirty="0" sz="2200" spc="-2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 spc="-45">
                <a:solidFill>
                  <a:srgbClr val="444444"/>
                </a:solidFill>
                <a:latin typeface="Calibri"/>
                <a:cs typeface="Calibri"/>
              </a:rPr>
              <a:t>mutables</a:t>
            </a:r>
            <a:r>
              <a:rPr dirty="0" sz="2200" spc="6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94949"/>
                </a:solidFill>
                <a:latin typeface="Calibri"/>
                <a:cs typeface="Calibri"/>
              </a:rPr>
              <a:t>en</a:t>
            </a:r>
            <a:r>
              <a:rPr dirty="0" sz="2200" spc="-12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D4D4D"/>
                </a:solidFill>
                <a:latin typeface="Calibri"/>
                <a:cs typeface="Calibri"/>
              </a:rPr>
              <a:t>memoria.</a:t>
            </a:r>
            <a:endParaRPr sz="2200">
              <a:latin typeface="Calibri"/>
              <a:cs typeface="Calibri"/>
            </a:endParaRPr>
          </a:p>
          <a:p>
            <a:pPr marL="488950" marR="175895" indent="-5080">
              <a:lnSpc>
                <a:spcPct val="110600"/>
              </a:lnSpc>
              <a:spcBef>
                <a:spcPts val="2320"/>
              </a:spcBef>
            </a:pPr>
            <a:r>
              <a:rPr dirty="0" sz="2050">
                <a:solidFill>
                  <a:srgbClr val="4B4B4B"/>
                </a:solidFill>
                <a:latin typeface="Calibri"/>
                <a:cs typeface="Calibri"/>
              </a:rPr>
              <a:t>Las</a:t>
            </a:r>
            <a:r>
              <a:rPr dirty="0" sz="2050" spc="90">
                <a:solidFill>
                  <a:srgbClr val="4B4B4B"/>
                </a:solidFill>
                <a:latin typeface="Calibri"/>
                <a:cs typeface="Calibri"/>
              </a:rPr>
              <a:t>  </a:t>
            </a:r>
            <a:r>
              <a:rPr dirty="0" sz="2050" spc="65">
                <a:solidFill>
                  <a:srgbClr val="494949"/>
                </a:solidFill>
                <a:latin typeface="Calibri"/>
                <a:cs typeface="Calibri"/>
              </a:rPr>
              <a:t>subclases</a:t>
            </a:r>
            <a:r>
              <a:rPr dirty="0" sz="2050" spc="18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050" spc="50">
                <a:solidFill>
                  <a:srgbClr val="9EB5C4"/>
                </a:solidFill>
                <a:latin typeface="Calibri"/>
                <a:cs typeface="Calibri"/>
              </a:rPr>
              <a:t>como</a:t>
            </a:r>
            <a:r>
              <a:rPr dirty="0" sz="2050" spc="40">
                <a:solidFill>
                  <a:srgbClr val="9EB5C4"/>
                </a:solidFill>
                <a:latin typeface="Calibri"/>
                <a:cs typeface="Calibri"/>
              </a:rPr>
              <a:t> </a:t>
            </a:r>
            <a:r>
              <a:rPr dirty="0" sz="2050" spc="-20">
                <a:solidFill>
                  <a:srgbClr val="4D4D4D"/>
                </a:solidFill>
                <a:latin typeface="Calibri"/>
                <a:cs typeface="Calibri"/>
              </a:rPr>
              <a:t>Rese</a:t>
            </a:r>
            <a:r>
              <a:rPr dirty="0" sz="2050" spc="-20">
                <a:solidFill>
                  <a:srgbClr val="484848"/>
                </a:solidFill>
                <a:latin typeface="Calibri"/>
                <a:cs typeface="Calibri"/>
              </a:rPr>
              <a:t>rvaRepos</a:t>
            </a:r>
            <a:r>
              <a:rPr dirty="0" sz="2050" spc="-12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050" spc="165">
                <a:solidFill>
                  <a:srgbClr val="464646"/>
                </a:solidFill>
                <a:latin typeface="Calibri"/>
                <a:cs typeface="Calibri"/>
              </a:rPr>
              <a:t>itory</a:t>
            </a:r>
            <a:r>
              <a:rPr dirty="0" sz="2050" spc="15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70809A"/>
                </a:solidFill>
                <a:latin typeface="Calibri"/>
                <a:cs typeface="Calibri"/>
              </a:rPr>
              <a:t>heredan</a:t>
            </a:r>
            <a:r>
              <a:rPr dirty="0" sz="2050" spc="135">
                <a:solidFill>
                  <a:srgbClr val="70809A"/>
                </a:solidFill>
                <a:latin typeface="Calibri"/>
                <a:cs typeface="Calibri"/>
              </a:rPr>
              <a:t> </a:t>
            </a:r>
            <a:r>
              <a:rPr dirty="0" sz="2050" spc="105">
                <a:solidFill>
                  <a:srgbClr val="4B4B4B"/>
                </a:solidFill>
                <a:latin typeface="Calibri"/>
                <a:cs typeface="Calibri"/>
              </a:rPr>
              <a:t>esta</a:t>
            </a:r>
            <a:r>
              <a:rPr dirty="0" sz="2050" spc="-6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050" spc="-10">
                <a:solidFill>
                  <a:srgbClr val="464646"/>
                </a:solidFill>
                <a:latin typeface="Calibri"/>
                <a:cs typeface="Calibri"/>
              </a:rPr>
              <a:t>funcionalidad </a:t>
            </a:r>
            <a:r>
              <a:rPr dirty="0" sz="2050">
                <a:solidFill>
                  <a:srgbClr val="424242"/>
                </a:solidFill>
                <a:latin typeface="Calibri"/>
                <a:cs typeface="Calibri"/>
              </a:rPr>
              <a:t>inmediatamente</a:t>
            </a:r>
            <a:r>
              <a:rPr dirty="0" sz="2050" spc="19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050" spc="45">
                <a:solidFill>
                  <a:srgbClr val="494949"/>
                </a:solidFill>
                <a:latin typeface="Calibri"/>
                <a:cs typeface="Calibri"/>
              </a:rPr>
              <a:t>gracias</a:t>
            </a:r>
            <a:r>
              <a:rPr dirty="0" sz="2050" spc="27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F4F4F"/>
                </a:solidFill>
                <a:latin typeface="Calibri"/>
                <a:cs typeface="Calibri"/>
              </a:rPr>
              <a:t>al</a:t>
            </a:r>
            <a:r>
              <a:rPr dirty="0" sz="2050" spc="9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3F3F3F"/>
                </a:solidFill>
                <a:latin typeface="Calibri"/>
                <a:cs typeface="Calibri"/>
              </a:rPr>
              <a:t>tipado</a:t>
            </a:r>
            <a:r>
              <a:rPr dirty="0" sz="2050" spc="2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64646"/>
                </a:solidFill>
                <a:latin typeface="Calibri"/>
                <a:cs typeface="Calibri"/>
              </a:rPr>
              <a:t>genérico</a:t>
            </a:r>
            <a:r>
              <a:rPr dirty="0" sz="2050" spc="22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050" spc="50">
                <a:solidFill>
                  <a:srgbClr val="525252"/>
                </a:solidFill>
                <a:latin typeface="Calibri"/>
                <a:cs typeface="Calibri"/>
              </a:rPr>
              <a:t>de</a:t>
            </a:r>
            <a:r>
              <a:rPr dirty="0" sz="2050" spc="26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2050" spc="-10">
                <a:solidFill>
                  <a:srgbClr val="464646"/>
                </a:solidFill>
                <a:latin typeface="Calibri"/>
                <a:cs typeface="Calibri"/>
              </a:rPr>
              <a:t>Java.</a:t>
            </a:r>
            <a:endParaRPr sz="2050">
              <a:latin typeface="Calibri"/>
              <a:cs typeface="Calibri"/>
            </a:endParaRPr>
          </a:p>
          <a:p>
            <a:pPr marL="485140" marR="484505" indent="-3175">
              <a:lnSpc>
                <a:spcPct val="103099"/>
              </a:lnSpc>
              <a:spcBef>
                <a:spcPts val="2380"/>
              </a:spcBef>
            </a:pPr>
            <a:r>
              <a:rPr dirty="0" sz="2200" spc="-40">
                <a:solidFill>
                  <a:srgbClr val="525252"/>
                </a:solidFill>
                <a:latin typeface="Calibri"/>
                <a:cs typeface="Calibri"/>
              </a:rPr>
              <a:t>Promueve</a:t>
            </a:r>
            <a:r>
              <a:rPr dirty="0" sz="2200" spc="-6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2200" spc="-55">
                <a:solidFill>
                  <a:srgbClr val="464646"/>
                </a:solidFill>
                <a:latin typeface="Calibri"/>
                <a:cs typeface="Calibri"/>
              </a:rPr>
              <a:t>la</a:t>
            </a:r>
            <a:r>
              <a:rPr dirty="0" sz="2200" spc="-10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 spc="-40">
                <a:solidFill>
                  <a:srgbClr val="3F3F3F"/>
                </a:solidFill>
                <a:latin typeface="Calibri"/>
                <a:cs typeface="Calibri"/>
              </a:rPr>
              <a:t>extensibilidad:</a:t>
            </a:r>
            <a:r>
              <a:rPr dirty="0" sz="2200" spc="-8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200" spc="-45">
                <a:solidFill>
                  <a:srgbClr val="464646"/>
                </a:solidFill>
                <a:latin typeface="Calibri"/>
                <a:cs typeface="Calibri"/>
              </a:rPr>
              <a:t>Añadir</a:t>
            </a:r>
            <a:r>
              <a:rPr dirty="0" sz="2200" spc="-1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44444"/>
                </a:solidFill>
                <a:latin typeface="Calibri"/>
                <a:cs typeface="Calibri"/>
              </a:rPr>
              <a:t>nuevas</a:t>
            </a:r>
            <a:r>
              <a:rPr dirty="0" sz="2200" spc="-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64646"/>
                </a:solidFill>
                <a:latin typeface="Calibri"/>
                <a:cs typeface="Calibri"/>
              </a:rPr>
              <a:t>entidades</a:t>
            </a:r>
            <a:r>
              <a:rPr dirty="0" sz="2200" spc="7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 spc="-40">
                <a:solidFill>
                  <a:srgbClr val="464646"/>
                </a:solidFill>
                <a:latin typeface="Calibri"/>
                <a:cs typeface="Calibri"/>
              </a:rPr>
              <a:t>del</a:t>
            </a:r>
            <a:r>
              <a:rPr dirty="0" sz="2200" spc="-9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 spc="-40">
                <a:solidFill>
                  <a:srgbClr val="444444"/>
                </a:solidFill>
                <a:latin typeface="Calibri"/>
                <a:cs typeface="Calibri"/>
              </a:rPr>
              <a:t>hotel</a:t>
            </a:r>
            <a:r>
              <a:rPr dirty="0" sz="2200" spc="-8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444444"/>
                </a:solidFill>
                <a:latin typeface="Calibri"/>
                <a:cs typeface="Calibri"/>
              </a:rPr>
              <a:t>no </a:t>
            </a:r>
            <a:r>
              <a:rPr dirty="0" sz="2200" spc="-10">
                <a:solidFill>
                  <a:srgbClr val="494949"/>
                </a:solidFill>
                <a:latin typeface="Calibri"/>
                <a:cs typeface="Calibri"/>
              </a:rPr>
              <a:t>requiere</a:t>
            </a:r>
            <a:r>
              <a:rPr dirty="0" sz="2200" spc="6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44444"/>
                </a:solidFill>
                <a:latin typeface="Calibri"/>
                <a:cs typeface="Calibri"/>
              </a:rPr>
              <a:t>reescribir</a:t>
            </a:r>
            <a:r>
              <a:rPr dirty="0" sz="2200" spc="15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spc="-55">
                <a:solidFill>
                  <a:srgbClr val="4B4B4B"/>
                </a:solidFill>
                <a:latin typeface="Calibri"/>
                <a:cs typeface="Calibri"/>
              </a:rPr>
              <a:t>la</a:t>
            </a:r>
            <a:r>
              <a:rPr dirty="0" sz="2200" spc="-10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64646"/>
                </a:solidFill>
                <a:latin typeface="Calibri"/>
                <a:cs typeface="Calibri"/>
              </a:rPr>
              <a:t>lógica</a:t>
            </a:r>
            <a:r>
              <a:rPr dirty="0" sz="2200" spc="-7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6D7582"/>
                </a:solidFill>
                <a:latin typeface="Calibri"/>
                <a:cs typeface="Calibri"/>
              </a:rPr>
              <a:t>de</a:t>
            </a:r>
            <a:r>
              <a:rPr dirty="0" sz="2200" spc="10">
                <a:solidFill>
                  <a:srgbClr val="6D758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94949"/>
                </a:solidFill>
                <a:latin typeface="Calibri"/>
                <a:cs typeface="Calibri"/>
              </a:rPr>
              <a:t>persistencia</a:t>
            </a:r>
            <a:r>
              <a:rPr dirty="0" sz="2200" spc="-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94949"/>
                </a:solidFill>
                <a:latin typeface="Calibri"/>
                <a:cs typeface="Calibri"/>
              </a:rPr>
              <a:t>base.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7562" y="10368528"/>
            <a:ext cx="131254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90">
                <a:solidFill>
                  <a:srgbClr val="2BB8C4"/>
                </a:solidFill>
                <a:latin typeface="Calibri"/>
                <a:cs typeface="Calibri"/>
              </a:rPr>
              <a:t>USIL</a:t>
            </a:r>
            <a:r>
              <a:rPr dirty="0" sz="1650" spc="285">
                <a:solidFill>
                  <a:srgbClr val="2BB8C4"/>
                </a:solidFill>
                <a:latin typeface="Calibri"/>
                <a:cs typeface="Calibri"/>
              </a:rPr>
              <a:t> </a:t>
            </a:r>
            <a:r>
              <a:rPr dirty="0" sz="1650" spc="-20">
                <a:solidFill>
                  <a:srgbClr val="00A8CF"/>
                </a:solidFill>
                <a:latin typeface="Calibri"/>
                <a:cs typeface="Calibri"/>
              </a:rPr>
              <a:t>•</a:t>
            </a:r>
            <a:r>
              <a:rPr dirty="0" sz="1650" spc="220">
                <a:solidFill>
                  <a:srgbClr val="00A8CF"/>
                </a:solidFill>
                <a:latin typeface="Calibri"/>
                <a:cs typeface="Calibri"/>
              </a:rPr>
              <a:t> </a:t>
            </a:r>
            <a:r>
              <a:rPr dirty="0" sz="1650" spc="114">
                <a:solidFill>
                  <a:srgbClr val="36A8CA"/>
                </a:solidFill>
                <a:latin typeface="Calibri"/>
                <a:cs typeface="Calibri"/>
              </a:rPr>
              <a:t>POO</a:t>
            </a:r>
            <a:r>
              <a:rPr dirty="0" sz="1650" spc="150">
                <a:solidFill>
                  <a:srgbClr val="36A8CA"/>
                </a:solidFill>
                <a:latin typeface="Calibri"/>
                <a:cs typeface="Calibri"/>
              </a:rPr>
              <a:t> </a:t>
            </a:r>
            <a:r>
              <a:rPr dirty="0" sz="1650" spc="-25">
                <a:solidFill>
                  <a:srgbClr val="36A8CA"/>
                </a:solidFill>
                <a:latin typeface="Calibri"/>
                <a:cs typeface="Calibri"/>
              </a:rPr>
              <a:t>ll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7443" y="3881160"/>
            <a:ext cx="31642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1160" algn="l"/>
              </a:tabLst>
            </a:pPr>
            <a:r>
              <a:rPr dirty="0" sz="1800" spc="-20">
                <a:solidFill>
                  <a:srgbClr val="075D9A"/>
                </a:solidFill>
                <a:latin typeface="Cambria"/>
                <a:cs typeface="Cambria"/>
              </a:rPr>
              <a:t>D</a:t>
            </a:r>
            <a:r>
              <a:rPr dirty="0" sz="1800" spc="-95">
                <a:solidFill>
                  <a:srgbClr val="075D9A"/>
                </a:solidFill>
                <a:latin typeface="Cambria"/>
                <a:cs typeface="Cambria"/>
              </a:rPr>
              <a:t> </a:t>
            </a:r>
            <a:r>
              <a:rPr dirty="0" sz="1800" spc="-155">
                <a:solidFill>
                  <a:srgbClr val="003D66"/>
                </a:solidFill>
                <a:latin typeface="Cambria"/>
                <a:cs typeface="Cambria"/>
              </a:rPr>
              <a:t>E</a:t>
            </a:r>
            <a:r>
              <a:rPr dirty="0" sz="1800" spc="-80">
                <a:solidFill>
                  <a:srgbClr val="003D66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003B4B"/>
                </a:solidFill>
                <a:latin typeface="Cambria"/>
                <a:cs typeface="Cambria"/>
              </a:rPr>
              <a:t>TA</a:t>
            </a:r>
            <a:r>
              <a:rPr dirty="0" sz="1800" spc="-55">
                <a:solidFill>
                  <a:srgbClr val="003B4B"/>
                </a:solidFill>
                <a:latin typeface="Cambria"/>
                <a:cs typeface="Cambria"/>
              </a:rPr>
              <a:t> </a:t>
            </a:r>
            <a:r>
              <a:rPr dirty="0" sz="1800" spc="-105">
                <a:solidFill>
                  <a:srgbClr val="003A60"/>
                </a:solidFill>
                <a:latin typeface="Cambria"/>
                <a:cs typeface="Cambria"/>
              </a:rPr>
              <a:t>L</a:t>
            </a:r>
            <a:r>
              <a:rPr dirty="0" sz="1800" spc="-114">
                <a:solidFill>
                  <a:srgbClr val="003A60"/>
                </a:solidFill>
                <a:latin typeface="Cambria"/>
                <a:cs typeface="Cambria"/>
              </a:rPr>
              <a:t> </a:t>
            </a:r>
            <a:r>
              <a:rPr dirty="0" sz="1800" spc="-760">
                <a:solidFill>
                  <a:srgbClr val="169AB1"/>
                </a:solidFill>
                <a:latin typeface="Cambria"/>
                <a:cs typeface="Cambria"/>
              </a:rPr>
              <a:t>c</a:t>
            </a:r>
            <a:r>
              <a:rPr dirty="0" sz="1800" spc="-60">
                <a:solidFill>
                  <a:srgbClr val="004166"/>
                </a:solidFill>
                <a:latin typeface="Cambria"/>
                <a:cs typeface="Cambria"/>
              </a:rPr>
              <a:t>L</a:t>
            </a:r>
            <a:r>
              <a:rPr dirty="0" sz="1800" spc="-35">
                <a:solidFill>
                  <a:srgbClr val="004166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1F83A5"/>
                </a:solidFill>
                <a:latin typeface="Cambria"/>
                <a:cs typeface="Cambria"/>
              </a:rPr>
              <a:t>E</a:t>
            </a:r>
            <a:r>
              <a:rPr dirty="0" sz="1800" spc="60">
                <a:solidFill>
                  <a:srgbClr val="1F83A5"/>
                </a:solidFill>
                <a:latin typeface="Cambria"/>
                <a:cs typeface="Cambria"/>
              </a:rPr>
              <a:t>  </a:t>
            </a:r>
            <a:r>
              <a:rPr dirty="0" sz="1800" spc="-50">
                <a:solidFill>
                  <a:srgbClr val="015983"/>
                </a:solidFill>
                <a:latin typeface="Cambria"/>
                <a:cs typeface="Cambria"/>
              </a:rPr>
              <a:t>D</a:t>
            </a:r>
            <a:r>
              <a:rPr dirty="0" sz="1800">
                <a:solidFill>
                  <a:srgbClr val="015983"/>
                </a:solidFill>
                <a:latin typeface="Cambria"/>
                <a:cs typeface="Cambria"/>
              </a:rPr>
              <a:t>	</a:t>
            </a:r>
            <a:r>
              <a:rPr dirty="0" sz="1800" spc="-300">
                <a:solidFill>
                  <a:srgbClr val="3D8A9A"/>
                </a:solidFill>
                <a:latin typeface="Cambria"/>
                <a:cs typeface="Cambria"/>
              </a:rPr>
              <a:t>I</a:t>
            </a:r>
            <a:r>
              <a:rPr dirty="0" sz="1800" spc="55">
                <a:solidFill>
                  <a:srgbClr val="3D8A9A"/>
                </a:solidFill>
                <a:latin typeface="Cambria"/>
                <a:cs typeface="Cambria"/>
              </a:rPr>
              <a:t> </a:t>
            </a:r>
            <a:r>
              <a:rPr dirty="0" sz="1800" spc="-80">
                <a:solidFill>
                  <a:srgbClr val="1D748A"/>
                </a:solidFill>
                <a:latin typeface="Cambria"/>
                <a:cs typeface="Cambria"/>
              </a:rPr>
              <a:t>N</a:t>
            </a:r>
            <a:r>
              <a:rPr dirty="0" sz="1800" spc="-70">
                <a:solidFill>
                  <a:srgbClr val="1D748A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004179"/>
                </a:solidFill>
                <a:latin typeface="Cambria"/>
                <a:cs typeface="Cambria"/>
              </a:rPr>
              <a:t>G</a:t>
            </a:r>
            <a:r>
              <a:rPr dirty="0" sz="1800" spc="35">
                <a:solidFill>
                  <a:srgbClr val="004179"/>
                </a:solidFill>
                <a:latin typeface="Cambria"/>
                <a:cs typeface="Cambria"/>
              </a:rPr>
              <a:t> </a:t>
            </a:r>
            <a:r>
              <a:rPr dirty="0" sz="1800" spc="-155">
                <a:solidFill>
                  <a:srgbClr val="004664"/>
                </a:solidFill>
                <a:latin typeface="Cambria"/>
                <a:cs typeface="Cambria"/>
              </a:rPr>
              <a:t>E</a:t>
            </a:r>
            <a:r>
              <a:rPr dirty="0" sz="1800" spc="-60">
                <a:solidFill>
                  <a:srgbClr val="004664"/>
                </a:solidFill>
                <a:latin typeface="Cambria"/>
                <a:cs typeface="Cambria"/>
              </a:rPr>
              <a:t> </a:t>
            </a:r>
            <a:r>
              <a:rPr dirty="0" sz="1800" spc="-80">
                <a:solidFill>
                  <a:srgbClr val="28757B"/>
                </a:solidFill>
                <a:latin typeface="Cambria"/>
                <a:cs typeface="Cambria"/>
              </a:rPr>
              <a:t>N</a:t>
            </a:r>
            <a:r>
              <a:rPr dirty="0" sz="1800" spc="-70">
                <a:solidFill>
                  <a:srgbClr val="28757B"/>
                </a:solidFill>
                <a:latin typeface="Cambria"/>
                <a:cs typeface="Cambria"/>
              </a:rPr>
              <a:t> </a:t>
            </a:r>
            <a:r>
              <a:rPr dirty="0" sz="1800" spc="-300">
                <a:solidFill>
                  <a:srgbClr val="3D95AA"/>
                </a:solidFill>
                <a:latin typeface="Cambria"/>
                <a:cs typeface="Cambria"/>
              </a:rPr>
              <a:t>I</a:t>
            </a:r>
            <a:r>
              <a:rPr dirty="0" sz="1800" spc="50">
                <a:solidFill>
                  <a:srgbClr val="3D95AA"/>
                </a:solidFill>
                <a:latin typeface="Cambria"/>
                <a:cs typeface="Cambria"/>
              </a:rPr>
              <a:t> </a:t>
            </a:r>
            <a:r>
              <a:rPr dirty="0" sz="1800" spc="-155">
                <a:solidFill>
                  <a:srgbClr val="003D66"/>
                </a:solidFill>
                <a:latin typeface="Cambria"/>
                <a:cs typeface="Cambria"/>
              </a:rPr>
              <a:t>E</a:t>
            </a:r>
            <a:r>
              <a:rPr dirty="0" sz="1800" spc="-65">
                <a:solidFill>
                  <a:srgbClr val="003D66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053B4D"/>
                </a:solidFill>
                <a:latin typeface="Cambria"/>
                <a:cs typeface="Cambria"/>
              </a:rPr>
              <a:t>P</a:t>
            </a:r>
            <a:r>
              <a:rPr dirty="0" sz="1800" spc="-135">
                <a:solidFill>
                  <a:srgbClr val="053B4D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48859C"/>
                </a:solidFill>
                <a:latin typeface="Cambria"/>
                <a:cs typeface="Cambria"/>
              </a:rPr>
              <a:t>İ</a:t>
            </a:r>
            <a:r>
              <a:rPr dirty="0" sz="1800" spc="15">
                <a:solidFill>
                  <a:srgbClr val="48859C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003B4D"/>
                </a:solidFill>
                <a:latin typeface="Cambria"/>
                <a:cs typeface="Cambria"/>
              </a:rPr>
              <a:t>A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 descr="$PPTXTitle"/>
          <p:cNvSpPr txBox="1"/>
          <p:nvPr/>
        </p:nvSpPr>
        <p:spPr>
          <a:xfrm>
            <a:off x="2992983" y="4041495"/>
            <a:ext cx="14100810" cy="1380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850" spc="475">
                <a:solidFill>
                  <a:srgbClr val="FFFFFF"/>
                </a:solidFill>
                <a:latin typeface="Cambria"/>
                <a:cs typeface="Cambria"/>
              </a:rPr>
              <a:t>YÓDULOS</a:t>
            </a:r>
            <a:r>
              <a:rPr dirty="0" sz="8850" spc="2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8850">
                <a:solidFill>
                  <a:srgbClr val="FFFFFF"/>
                </a:solidFill>
                <a:latin typeface="Cambria"/>
                <a:cs typeface="Cambria"/>
              </a:rPr>
              <a:t>&amp;</a:t>
            </a:r>
            <a:r>
              <a:rPr dirty="0" sz="8850" spc="-3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8850" spc="145">
                <a:solidFill>
                  <a:srgbClr val="FFFFFF"/>
                </a:solidFill>
                <a:latin typeface="Cambria"/>
                <a:cs typeface="Cambria"/>
              </a:rPr>
              <a:t>CÓDIGO</a:t>
            </a:r>
            <a:r>
              <a:rPr dirty="0" sz="8850" spc="-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8850" spc="135">
                <a:solidFill>
                  <a:srgbClr val="FFFFFF"/>
                </a:solidFill>
                <a:latin typeface="Cambria"/>
                <a:cs typeface="Cambria"/>
              </a:rPr>
              <a:t>CLAVE</a:t>
            </a:r>
            <a:endParaRPr sz="885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06" y="6533832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40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A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706" y="6910784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A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18426" y="6396136"/>
            <a:ext cx="8856345" cy="779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7735" marR="5080" indent="-915669">
              <a:lnSpc>
                <a:spcPct val="112400"/>
              </a:lnSpc>
              <a:spcBef>
                <a:spcPts val="100"/>
              </a:spcBef>
              <a:tabLst>
                <a:tab pos="4744085" algn="l"/>
              </a:tabLst>
            </a:pPr>
            <a:r>
              <a:rPr dirty="0" sz="2200" spc="-90">
                <a:solidFill>
                  <a:srgbClr val="081A33"/>
                </a:solidFill>
                <a:latin typeface="Arial MT"/>
                <a:cs typeface="Arial MT"/>
              </a:rPr>
              <a:t>Análisis</a:t>
            </a:r>
            <a:r>
              <a:rPr dirty="0" sz="2200" spc="-65">
                <a:solidFill>
                  <a:srgbClr val="081A33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13233D"/>
                </a:solidFill>
                <a:latin typeface="Arial MT"/>
                <a:cs typeface="Arial MT"/>
              </a:rPr>
              <a:t>de</a:t>
            </a:r>
            <a:r>
              <a:rPr dirty="0" sz="2200" spc="-65">
                <a:solidFill>
                  <a:srgbClr val="13233D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97A5B1"/>
                </a:solidFill>
                <a:latin typeface="Arial MT"/>
                <a:cs typeface="Arial MT"/>
              </a:rPr>
              <a:t>la</a:t>
            </a:r>
            <a:r>
              <a:rPr dirty="0" sz="2200" spc="-60">
                <a:solidFill>
                  <a:srgbClr val="97A5B1"/>
                </a:solidFill>
                <a:latin typeface="Arial MT"/>
                <a:cs typeface="Arial MT"/>
              </a:rPr>
              <a:t> </a:t>
            </a:r>
            <a:r>
              <a:rPr dirty="0" sz="2200" spc="-45">
                <a:solidFill>
                  <a:srgbClr val="8E8E8E"/>
                </a:solidFill>
                <a:latin typeface="Arial MT"/>
                <a:cs typeface="Arial MT"/>
              </a:rPr>
              <a:t>arauitectura</a:t>
            </a:r>
            <a:r>
              <a:rPr dirty="0" sz="2200" spc="125">
                <a:solidFill>
                  <a:srgbClr val="8E8E8E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13233D"/>
                </a:solidFill>
                <a:latin typeface="Arial MT"/>
                <a:cs typeface="Arial MT"/>
              </a:rPr>
              <a:t>de</a:t>
            </a:r>
            <a:r>
              <a:rPr dirty="0" sz="2200" spc="-70">
                <a:solidFill>
                  <a:srgbClr val="13233D"/>
                </a:solidFill>
                <a:latin typeface="Arial MT"/>
                <a:cs typeface="Arial MT"/>
              </a:rPr>
              <a:t> </a:t>
            </a:r>
            <a:r>
              <a:rPr dirty="0" sz="2200" spc="-75">
                <a:solidFill>
                  <a:srgbClr val="979797"/>
                </a:solidFill>
                <a:latin typeface="Arial MT"/>
                <a:cs typeface="Arial MT"/>
              </a:rPr>
              <a:t>software</a:t>
            </a:r>
            <a:r>
              <a:rPr dirty="0" sz="2200" spc="-30">
                <a:solidFill>
                  <a:srgbClr val="979797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7E8C9C"/>
                </a:solidFill>
                <a:latin typeface="Arial MT"/>
                <a:cs typeface="Arial MT"/>
              </a:rPr>
              <a:t>aplicada,</a:t>
            </a:r>
            <a:r>
              <a:rPr dirty="0" sz="2200" spc="-75">
                <a:solidFill>
                  <a:srgbClr val="7E8C9C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081A33"/>
                </a:solidFill>
                <a:latin typeface="Arial MT"/>
                <a:cs typeface="Arial MT"/>
              </a:rPr>
              <a:t>patrones</a:t>
            </a:r>
            <a:r>
              <a:rPr dirty="0" sz="2200">
                <a:solidFill>
                  <a:srgbClr val="081A33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13233D"/>
                </a:solidFill>
                <a:latin typeface="Arial MT"/>
                <a:cs typeface="Arial MT"/>
              </a:rPr>
              <a:t>de</a:t>
            </a:r>
            <a:r>
              <a:rPr dirty="0" sz="2200" spc="-65">
                <a:solidFill>
                  <a:srgbClr val="13233D"/>
                </a:solidFill>
                <a:latin typeface="Arial MT"/>
                <a:cs typeface="Arial MT"/>
              </a:rPr>
              <a:t> </a:t>
            </a:r>
            <a:r>
              <a:rPr dirty="0" sz="2200" spc="-95">
                <a:solidFill>
                  <a:srgbClr val="0A182D"/>
                </a:solidFill>
                <a:latin typeface="Arial MT"/>
                <a:cs typeface="Arial MT"/>
              </a:rPr>
              <a:t>diseño</a:t>
            </a:r>
            <a:r>
              <a:rPr dirty="0" sz="2200" spc="-55">
                <a:solidFill>
                  <a:srgbClr val="0A182D"/>
                </a:solidFill>
                <a:latin typeface="Arial MT"/>
                <a:cs typeface="Arial MT"/>
              </a:rPr>
              <a:t> </a:t>
            </a:r>
            <a:r>
              <a:rPr dirty="0" sz="2200" spc="-35">
                <a:solidFill>
                  <a:srgbClr val="081A33"/>
                </a:solidFill>
                <a:latin typeface="Arial MT"/>
                <a:cs typeface="Arial MT"/>
              </a:rPr>
              <a:t>clásicos </a:t>
            </a:r>
            <a:r>
              <a:rPr dirty="0" sz="2200" spc="-75">
                <a:solidFill>
                  <a:srgbClr val="0F2438"/>
                </a:solidFill>
                <a:latin typeface="Arial MT"/>
                <a:cs typeface="Arial MT"/>
              </a:rPr>
              <a:t>implementados</a:t>
            </a:r>
            <a:r>
              <a:rPr dirty="0" sz="2200" spc="95">
                <a:solidFill>
                  <a:srgbClr val="0F243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798C93"/>
                </a:solidFill>
                <a:latin typeface="Arial MT"/>
                <a:cs typeface="Arial MT"/>
              </a:rPr>
              <a:t>y</a:t>
            </a:r>
            <a:r>
              <a:rPr dirty="0" sz="2200" spc="-135">
                <a:solidFill>
                  <a:srgbClr val="798C93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E213A"/>
                </a:solidFill>
                <a:latin typeface="Arial MT"/>
                <a:cs typeface="Arial MT"/>
              </a:rPr>
              <a:t>fragmentos</a:t>
            </a:r>
            <a:r>
              <a:rPr dirty="0" sz="2200">
                <a:solidFill>
                  <a:srgbClr val="0E213A"/>
                </a:solidFill>
                <a:latin typeface="Arial MT"/>
                <a:cs typeface="Arial MT"/>
              </a:rPr>
              <a:t>	</a:t>
            </a:r>
            <a:r>
              <a:rPr dirty="0" sz="2200" spc="-70">
                <a:solidFill>
                  <a:srgbClr val="01162F"/>
                </a:solidFill>
                <a:latin typeface="Arial MT"/>
                <a:cs typeface="Arial MT"/>
              </a:rPr>
              <a:t>código</a:t>
            </a:r>
            <a:r>
              <a:rPr dirty="0" sz="2200" spc="-75">
                <a:solidFill>
                  <a:srgbClr val="01162F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11233B"/>
                </a:solidFill>
                <a:latin typeface="Arial MT"/>
                <a:cs typeface="Arial MT"/>
              </a:rPr>
              <a:t>concurrentes</a:t>
            </a:r>
            <a:r>
              <a:rPr dirty="0" sz="2200" spc="65">
                <a:solidFill>
                  <a:srgbClr val="11233B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6D7C95"/>
                </a:solidFill>
                <a:latin typeface="Arial MT"/>
                <a:cs typeface="Arial MT"/>
              </a:rPr>
              <a:t>reales.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50470" y="2654369"/>
            <a:ext cx="8465820" cy="6589395"/>
            <a:chOff x="10350470" y="2654369"/>
            <a:chExt cx="8465820" cy="65893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81883" y="8905487"/>
              <a:ext cx="8418591" cy="2984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29002" y="3581042"/>
              <a:ext cx="235594" cy="53087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33467" y="3565336"/>
              <a:ext cx="172769" cy="532444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70103" y="2654369"/>
              <a:ext cx="0" cy="6589395"/>
            </a:xfrm>
            <a:custGeom>
              <a:avLst/>
              <a:gdLst/>
              <a:ahLst/>
              <a:cxnLst/>
              <a:rect l="l" t="t" r="r" b="b"/>
              <a:pathLst>
                <a:path w="0" h="6589395">
                  <a:moveTo>
                    <a:pt x="0" y="6588805"/>
                  </a:moveTo>
                  <a:lnTo>
                    <a:pt x="0" y="0"/>
                  </a:lnTo>
                </a:path>
              </a:pathLst>
            </a:custGeom>
            <a:ln w="39265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796548" y="2654369"/>
              <a:ext cx="0" cy="6589395"/>
            </a:xfrm>
            <a:custGeom>
              <a:avLst/>
              <a:gdLst/>
              <a:ahLst/>
              <a:cxnLst/>
              <a:rect l="l" t="t" r="r" b="b"/>
              <a:pathLst>
                <a:path w="0" h="6589395">
                  <a:moveTo>
                    <a:pt x="0" y="6588805"/>
                  </a:moveTo>
                  <a:lnTo>
                    <a:pt x="0" y="0"/>
                  </a:lnTo>
                </a:path>
              </a:pathLst>
            </a:custGeom>
            <a:ln w="39265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350470" y="9223541"/>
              <a:ext cx="8465820" cy="0"/>
            </a:xfrm>
            <a:custGeom>
              <a:avLst/>
              <a:gdLst/>
              <a:ahLst/>
              <a:cxnLst/>
              <a:rect l="l" t="t" r="r" b="b"/>
              <a:pathLst>
                <a:path w="8465819" h="0">
                  <a:moveTo>
                    <a:pt x="0" y="0"/>
                  </a:moveTo>
                  <a:lnTo>
                    <a:pt x="8465711" y="0"/>
                  </a:lnTo>
                </a:path>
              </a:pathLst>
            </a:custGeom>
            <a:ln w="39265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350470" y="8917267"/>
              <a:ext cx="8465820" cy="0"/>
            </a:xfrm>
            <a:custGeom>
              <a:avLst/>
              <a:gdLst/>
              <a:ahLst/>
              <a:cxnLst/>
              <a:rect l="l" t="t" r="r" b="b"/>
              <a:pathLst>
                <a:path w="8465819" h="0">
                  <a:moveTo>
                    <a:pt x="0" y="0"/>
                  </a:moveTo>
                  <a:lnTo>
                    <a:pt x="8465711" y="0"/>
                  </a:lnTo>
                </a:path>
              </a:pathLst>
            </a:custGeom>
            <a:ln w="39265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50470" y="2654369"/>
              <a:ext cx="8465711" cy="9423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81883" y="2685782"/>
              <a:ext cx="8418591" cy="863848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261254" y="10468268"/>
            <a:ext cx="1547073" cy="164916"/>
          </a:xfrm>
          <a:prstGeom prst="rect">
            <a:avLst/>
          </a:prstGeom>
        </p:spPr>
      </p:pic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125"/>
              </a:spcBef>
            </a:pPr>
            <a:r>
              <a:rPr dirty="0" sz="5900" spc="-530">
                <a:solidFill>
                  <a:srgbClr val="082646"/>
                </a:solidFill>
                <a:latin typeface="Times New Roman"/>
                <a:cs typeface="Times New Roman"/>
              </a:rPr>
              <a:t>M1:</a:t>
            </a:r>
            <a:r>
              <a:rPr dirty="0" sz="5900" spc="-185">
                <a:solidFill>
                  <a:srgbClr val="082646"/>
                </a:solidFill>
                <a:latin typeface="Times New Roman"/>
                <a:cs typeface="Times New Roman"/>
              </a:rPr>
              <a:t> </a:t>
            </a:r>
            <a:r>
              <a:rPr dirty="0" sz="5900" spc="-70">
                <a:solidFill>
                  <a:srgbClr val="082344"/>
                </a:solidFill>
                <a:latin typeface="Times New Roman"/>
                <a:cs typeface="Times New Roman"/>
              </a:rPr>
              <a:t>Habitaciones</a:t>
            </a:r>
            <a:r>
              <a:rPr dirty="0" sz="5900" spc="-150">
                <a:solidFill>
                  <a:srgbClr val="082344"/>
                </a:solidFill>
                <a:latin typeface="Times New Roman"/>
                <a:cs typeface="Times New Roman"/>
              </a:rPr>
              <a:t> </a:t>
            </a:r>
            <a:r>
              <a:rPr dirty="0" sz="5900">
                <a:solidFill>
                  <a:srgbClr val="0A213F"/>
                </a:solidFill>
                <a:latin typeface="Times New Roman"/>
                <a:cs typeface="Times New Roman"/>
              </a:rPr>
              <a:t>e</a:t>
            </a:r>
            <a:r>
              <a:rPr dirty="0" sz="5900" spc="-365">
                <a:solidFill>
                  <a:srgbClr val="0A213F"/>
                </a:solidFill>
                <a:latin typeface="Times New Roman"/>
                <a:cs typeface="Times New Roman"/>
              </a:rPr>
              <a:t> </a:t>
            </a:r>
            <a:r>
              <a:rPr dirty="0" sz="5900" spc="-10">
                <a:solidFill>
                  <a:srgbClr val="082646"/>
                </a:solidFill>
                <a:latin typeface="Times New Roman"/>
                <a:cs typeface="Times New Roman"/>
              </a:rPr>
              <a:t>Inventario</a:t>
            </a:r>
            <a:endParaRPr sz="5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1992" y="3567033"/>
            <a:ext cx="8248650" cy="1965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10">
                <a:solidFill>
                  <a:srgbClr val="072A4F"/>
                </a:solidFill>
                <a:latin typeface="Times New Roman"/>
                <a:cs typeface="Times New Roman"/>
              </a:rPr>
              <a:t>Composite</a:t>
            </a:r>
            <a:r>
              <a:rPr dirty="0" sz="3350" spc="-135">
                <a:solidFill>
                  <a:srgbClr val="072A4F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0A264D"/>
                </a:solidFill>
                <a:latin typeface="Times New Roman"/>
                <a:cs typeface="Times New Roman"/>
              </a:rPr>
              <a:t>y</a:t>
            </a:r>
            <a:r>
              <a:rPr dirty="0" sz="3350" spc="-210">
                <a:solidFill>
                  <a:srgbClr val="0A264D"/>
                </a:solidFill>
                <a:latin typeface="Times New Roman"/>
                <a:cs typeface="Times New Roman"/>
              </a:rPr>
              <a:t> </a:t>
            </a:r>
            <a:r>
              <a:rPr dirty="0" sz="3350" spc="-60">
                <a:solidFill>
                  <a:srgbClr val="05284F"/>
                </a:solidFill>
                <a:latin typeface="Times New Roman"/>
                <a:cs typeface="Times New Roman"/>
              </a:rPr>
              <a:t>Factory</a:t>
            </a:r>
            <a:r>
              <a:rPr dirty="0" sz="3350" spc="-150">
                <a:solidFill>
                  <a:srgbClr val="05284F"/>
                </a:solidFill>
                <a:latin typeface="Times New Roman"/>
                <a:cs typeface="Times New Roman"/>
              </a:rPr>
              <a:t> </a:t>
            </a:r>
            <a:r>
              <a:rPr dirty="0" sz="3350" spc="-10">
                <a:solidFill>
                  <a:srgbClr val="132A50"/>
                </a:solidFill>
                <a:latin typeface="Times New Roman"/>
                <a:cs typeface="Times New Roman"/>
              </a:rPr>
              <a:t>Method</a:t>
            </a:r>
            <a:endParaRPr sz="335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  <a:spcBef>
                <a:spcPts val="1695"/>
              </a:spcBef>
            </a:pPr>
            <a:r>
              <a:rPr dirty="0" sz="1650" spc="125">
                <a:solidFill>
                  <a:srgbClr val="464646"/>
                </a:solidFill>
                <a:latin typeface="Times New Roman"/>
                <a:cs typeface="Times New Roman"/>
              </a:rPr>
              <a:t>Permite</a:t>
            </a:r>
            <a:r>
              <a:rPr dirty="0" sz="1650" spc="325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1650" spc="160">
                <a:solidFill>
                  <a:srgbClr val="464646"/>
                </a:solidFill>
                <a:latin typeface="Times New Roman"/>
                <a:cs typeface="Times New Roman"/>
              </a:rPr>
              <a:t>modelar</a:t>
            </a:r>
            <a:r>
              <a:rPr dirty="0" sz="1650" spc="204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1650" spc="160">
                <a:solidFill>
                  <a:srgbClr val="494949"/>
                </a:solidFill>
                <a:latin typeface="Times New Roman"/>
                <a:cs typeface="Times New Roman"/>
              </a:rPr>
              <a:t>de</a:t>
            </a:r>
            <a:r>
              <a:rPr dirty="0" sz="1650" spc="285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z="1650" spc="150">
                <a:solidFill>
                  <a:srgbClr val="464646"/>
                </a:solidFill>
                <a:latin typeface="Times New Roman"/>
                <a:cs typeface="Times New Roman"/>
              </a:rPr>
              <a:t>forma</a:t>
            </a:r>
            <a:r>
              <a:rPr dirty="0" sz="1650" spc="355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1650" spc="110">
                <a:solidFill>
                  <a:srgbClr val="4F4F4F"/>
                </a:solidFill>
                <a:latin typeface="Times New Roman"/>
                <a:cs typeface="Times New Roman"/>
              </a:rPr>
              <a:t>jeràrquica</a:t>
            </a:r>
            <a:r>
              <a:rPr dirty="0" sz="1650" spc="445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7E9AB3"/>
                </a:solidFill>
                <a:latin typeface="Times New Roman"/>
                <a:cs typeface="Times New Roman"/>
              </a:rPr>
              <a:t>la</a:t>
            </a:r>
            <a:r>
              <a:rPr dirty="0" sz="1650" spc="315">
                <a:solidFill>
                  <a:srgbClr val="7E9AB3"/>
                </a:solidFill>
                <a:latin typeface="Times New Roman"/>
                <a:cs typeface="Times New Roman"/>
              </a:rPr>
              <a:t> </a:t>
            </a:r>
            <a:r>
              <a:rPr dirty="0" sz="1650" spc="140">
                <a:solidFill>
                  <a:srgbClr val="464646"/>
                </a:solidFill>
                <a:latin typeface="Times New Roman"/>
                <a:cs typeface="Times New Roman"/>
              </a:rPr>
              <a:t>infraestructura</a:t>
            </a:r>
            <a:r>
              <a:rPr dirty="0" sz="1650" spc="24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1650" spc="65">
                <a:solidFill>
                  <a:srgbClr val="505050"/>
                </a:solidFill>
                <a:latin typeface="Times New Roman"/>
                <a:cs typeface="Times New Roman"/>
              </a:rPr>
              <a:t>física</a:t>
            </a:r>
            <a:r>
              <a:rPr dirty="0" sz="1650" spc="285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1650" spc="75">
                <a:solidFill>
                  <a:srgbClr val="444444"/>
                </a:solidFill>
                <a:latin typeface="Times New Roman"/>
                <a:cs typeface="Times New Roman"/>
              </a:rPr>
              <a:t>del</a:t>
            </a:r>
            <a:r>
              <a:rPr dirty="0" sz="1650" spc="405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dirty="0" sz="1650" spc="110">
                <a:solidFill>
                  <a:srgbClr val="4B4B4B"/>
                </a:solidFill>
                <a:latin typeface="Times New Roman"/>
                <a:cs typeface="Times New Roman"/>
              </a:rPr>
              <a:t>hotel.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650">
              <a:latin typeface="Times New Roman"/>
              <a:cs typeface="Times New Roman"/>
            </a:endParaRPr>
          </a:p>
          <a:p>
            <a:pPr marL="486409">
              <a:lnSpc>
                <a:spcPct val="100000"/>
              </a:lnSpc>
            </a:pPr>
            <a:r>
              <a:rPr dirty="0" sz="1900" spc="140">
                <a:solidFill>
                  <a:srgbClr val="424242"/>
                </a:solidFill>
                <a:latin typeface="Calibri"/>
                <a:cs typeface="Calibri"/>
              </a:rPr>
              <a:t>Patrón</a:t>
            </a:r>
            <a:r>
              <a:rPr dirty="0" sz="1900" spc="2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900" spc="160">
                <a:solidFill>
                  <a:srgbClr val="4B4B4B"/>
                </a:solidFill>
                <a:latin typeface="Calibri"/>
                <a:cs typeface="Calibri"/>
              </a:rPr>
              <a:t>Composite:</a:t>
            </a:r>
            <a:r>
              <a:rPr dirty="0" sz="1900" spc="12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 spc="60">
                <a:solidFill>
                  <a:srgbClr val="5D7287"/>
                </a:solidFill>
                <a:latin typeface="Calibri"/>
                <a:cs typeface="Calibri"/>
              </a:rPr>
              <a:t>Implementado</a:t>
            </a:r>
            <a:r>
              <a:rPr dirty="0" sz="1900" spc="325">
                <a:solidFill>
                  <a:srgbClr val="5D7287"/>
                </a:solidFill>
                <a:latin typeface="Calibri"/>
                <a:cs typeface="Calibri"/>
              </a:rPr>
              <a:t> </a:t>
            </a:r>
            <a:r>
              <a:rPr dirty="0" sz="1900" spc="75">
                <a:solidFill>
                  <a:srgbClr val="758297"/>
                </a:solidFill>
                <a:latin typeface="Calibri"/>
                <a:cs typeface="Calibri"/>
              </a:rPr>
              <a:t>por</a:t>
            </a:r>
            <a:r>
              <a:rPr dirty="0" sz="1900" spc="185">
                <a:solidFill>
                  <a:srgbClr val="758297"/>
                </a:solidFill>
                <a:latin typeface="Calibri"/>
                <a:cs typeface="Calibri"/>
              </a:rPr>
              <a:t> </a:t>
            </a:r>
            <a:r>
              <a:rPr dirty="0" sz="1900" spc="-185">
                <a:solidFill>
                  <a:srgbClr val="494949"/>
                </a:solidFill>
                <a:latin typeface="Calibri"/>
                <a:cs typeface="Calibri"/>
              </a:rPr>
              <a:t>ComponenteHab</a:t>
            </a:r>
            <a:r>
              <a:rPr dirty="0" sz="1900" spc="-10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525252"/>
                </a:solidFill>
                <a:latin typeface="Calibri"/>
                <a:cs typeface="Calibri"/>
              </a:rPr>
              <a:t>i</a:t>
            </a:r>
            <a:r>
              <a:rPr dirty="0" sz="1900" spc="12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D4D4D"/>
                </a:solidFill>
                <a:latin typeface="Calibri"/>
                <a:cs typeface="Calibri"/>
              </a:rPr>
              <a:t>tac</a:t>
            </a:r>
            <a:r>
              <a:rPr dirty="0" sz="1900" spc="-2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565656"/>
                </a:solidFill>
                <a:latin typeface="Calibri"/>
                <a:cs typeface="Calibri"/>
              </a:rPr>
              <a:t>ion</a:t>
            </a:r>
            <a:r>
              <a:rPr dirty="0" sz="1900" spc="10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dirty="0" sz="1900" spc="95">
                <a:solidFill>
                  <a:srgbClr val="4B4B4B"/>
                </a:solidFill>
                <a:latin typeface="Calibri"/>
                <a:cs typeface="Calibri"/>
              </a:rPr>
              <a:t>para</a:t>
            </a:r>
            <a:r>
              <a:rPr dirty="0" sz="1900" spc="7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 spc="40">
                <a:solidFill>
                  <a:srgbClr val="4D4D4D"/>
                </a:solidFill>
                <a:latin typeface="Calibri"/>
                <a:cs typeface="Calibri"/>
              </a:rPr>
              <a:t>tratar</a:t>
            </a:r>
            <a:endParaRPr sz="1900">
              <a:latin typeface="Calibri"/>
              <a:cs typeface="Calibri"/>
            </a:endParaRPr>
          </a:p>
          <a:p>
            <a:pPr marL="496570">
              <a:lnSpc>
                <a:spcPct val="100000"/>
              </a:lnSpc>
              <a:spcBef>
                <a:spcPts val="665"/>
              </a:spcBef>
            </a:pPr>
            <a:r>
              <a:rPr dirty="0" sz="1800" spc="165">
                <a:solidFill>
                  <a:srgbClr val="4F4F4F"/>
                </a:solidFill>
                <a:latin typeface="Calibri"/>
                <a:cs typeface="Calibri"/>
              </a:rPr>
              <a:t>cuartos</a:t>
            </a:r>
            <a:r>
              <a:rPr dirty="0" sz="1800" spc="20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4B4B4B"/>
                </a:solidFill>
                <a:latin typeface="Calibri"/>
                <a:cs typeface="Calibri"/>
              </a:rPr>
              <a:t>individuales</a:t>
            </a:r>
            <a:r>
              <a:rPr dirty="0" sz="1800" spc="26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800" spc="160">
                <a:solidFill>
                  <a:srgbClr val="464646"/>
                </a:solidFill>
                <a:latin typeface="Calibri"/>
                <a:cs typeface="Calibri"/>
              </a:rPr>
              <a:t>o</a:t>
            </a:r>
            <a:r>
              <a:rPr dirty="0" sz="1800" spc="17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800" spc="165">
                <a:solidFill>
                  <a:srgbClr val="484848"/>
                </a:solidFill>
                <a:latin typeface="Calibri"/>
                <a:cs typeface="Calibri"/>
              </a:rPr>
              <a:t>suites</a:t>
            </a:r>
            <a:r>
              <a:rPr dirty="0" sz="1800" spc="22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484848"/>
                </a:solidFill>
                <a:latin typeface="Calibri"/>
                <a:cs typeface="Calibri"/>
              </a:rPr>
              <a:t>familiares</a:t>
            </a:r>
            <a:r>
              <a:rPr dirty="0" sz="1800" spc="28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800" spc="150">
                <a:solidFill>
                  <a:srgbClr val="494949"/>
                </a:solidFill>
                <a:latin typeface="Calibri"/>
                <a:cs typeface="Calibri"/>
              </a:rPr>
              <a:t>homogéneamente.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30725" y="6221403"/>
            <a:ext cx="49764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60">
                <a:solidFill>
                  <a:srgbClr val="464646"/>
                </a:solidFill>
                <a:latin typeface="Times New Roman"/>
                <a:cs typeface="Times New Roman"/>
              </a:rPr>
              <a:t>central</a:t>
            </a:r>
            <a:r>
              <a:rPr dirty="0" sz="1800" spc="31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1800" spc="165">
                <a:solidFill>
                  <a:srgbClr val="464646"/>
                </a:solidFill>
                <a:latin typeface="Times New Roman"/>
                <a:cs typeface="Times New Roman"/>
              </a:rPr>
              <a:t>mediante</a:t>
            </a:r>
            <a:r>
              <a:rPr dirty="0" sz="1800" spc="365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D4D4D"/>
                </a:solidFill>
                <a:latin typeface="Times New Roman"/>
                <a:cs typeface="Times New Roman"/>
              </a:rPr>
              <a:t>la</a:t>
            </a:r>
            <a:r>
              <a:rPr dirty="0" sz="1800" spc="16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800" spc="105">
                <a:solidFill>
                  <a:srgbClr val="464646"/>
                </a:solidFill>
                <a:latin typeface="Times New Roman"/>
                <a:cs typeface="Times New Roman"/>
              </a:rPr>
              <a:t>fábric</a:t>
            </a:r>
            <a:r>
              <a:rPr dirty="0" sz="1800" spc="-165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1800" spc="60">
                <a:solidFill>
                  <a:srgbClr val="828C99"/>
                </a:solidFill>
                <a:latin typeface="Times New Roman"/>
                <a:cs typeface="Times New Roman"/>
              </a:rPr>
              <a:t>a</a:t>
            </a:r>
            <a:r>
              <a:rPr dirty="0" sz="1800" spc="215">
                <a:solidFill>
                  <a:srgbClr val="828C99"/>
                </a:solidFill>
                <a:latin typeface="Times New Roman"/>
                <a:cs typeface="Times New Roman"/>
              </a:rPr>
              <a:t> </a:t>
            </a:r>
            <a:r>
              <a:rPr dirty="0" sz="1800" spc="-170">
                <a:solidFill>
                  <a:srgbClr val="4B4B4B"/>
                </a:solidFill>
                <a:latin typeface="Times New Roman"/>
                <a:cs typeface="Times New Roman"/>
              </a:rPr>
              <a:t>diab</a:t>
            </a:r>
            <a:r>
              <a:rPr dirty="0" sz="1800" spc="-22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800" spc="155">
                <a:solidFill>
                  <a:srgbClr val="484848"/>
                </a:solidFill>
                <a:latin typeface="Times New Roman"/>
                <a:cs typeface="Times New Roman"/>
              </a:rPr>
              <a:t>itac</a:t>
            </a:r>
            <a:r>
              <a:rPr dirty="0" sz="1800" spc="-225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F4F4F"/>
                </a:solidFill>
                <a:latin typeface="Times New Roman"/>
                <a:cs typeface="Times New Roman"/>
              </a:rPr>
              <a:t>ion</a:t>
            </a:r>
            <a:r>
              <a:rPr dirty="0" sz="1800" spc="-11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B4B4B"/>
                </a:solidFill>
                <a:latin typeface="Times New Roman"/>
                <a:cs typeface="Times New Roman"/>
              </a:rPr>
              <a:t>Factor</a:t>
            </a:r>
            <a:r>
              <a:rPr dirty="0" sz="1800" spc="-16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565656"/>
                </a:solidFill>
                <a:latin typeface="Times New Roman"/>
                <a:cs typeface="Times New Roman"/>
              </a:rPr>
              <a:t>y.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30868" y="6733440"/>
            <a:ext cx="7863840" cy="112014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650" spc="215">
                <a:solidFill>
                  <a:srgbClr val="464646"/>
                </a:solidFill>
                <a:latin typeface="Times New Roman"/>
                <a:cs typeface="Times New Roman"/>
              </a:rPr>
              <a:t>Control</a:t>
            </a:r>
            <a:r>
              <a:rPr dirty="0" sz="1650" spc="315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1650" spc="235">
                <a:solidFill>
                  <a:srgbClr val="3B5079"/>
                </a:solidFill>
                <a:latin typeface="Times New Roman"/>
                <a:cs typeface="Times New Roman"/>
              </a:rPr>
              <a:t>de</a:t>
            </a:r>
            <a:r>
              <a:rPr dirty="0" sz="1650" spc="320">
                <a:solidFill>
                  <a:srgbClr val="3B5079"/>
                </a:solidFill>
                <a:latin typeface="Times New Roman"/>
                <a:cs typeface="Times New Roman"/>
              </a:rPr>
              <a:t> </a:t>
            </a:r>
            <a:r>
              <a:rPr dirty="0" sz="1650" spc="240">
                <a:solidFill>
                  <a:srgbClr val="424242"/>
                </a:solidFill>
                <a:latin typeface="Times New Roman"/>
                <a:cs typeface="Times New Roman"/>
              </a:rPr>
              <a:t>Concurrencia:</a:t>
            </a:r>
            <a:r>
              <a:rPr dirty="0" sz="1650" spc="31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dirty="0" sz="1650" spc="215">
                <a:solidFill>
                  <a:srgbClr val="565656"/>
                </a:solidFill>
                <a:latin typeface="Times New Roman"/>
                <a:cs typeface="Times New Roman"/>
              </a:rPr>
              <a:t>I</a:t>
            </a:r>
            <a:r>
              <a:rPr dirty="0" sz="1650" spc="215">
                <a:solidFill>
                  <a:srgbClr val="4D4D4D"/>
                </a:solidFill>
                <a:latin typeface="Times New Roman"/>
                <a:cs typeface="Times New Roman"/>
              </a:rPr>
              <a:t>mplementado</a:t>
            </a:r>
            <a:r>
              <a:rPr dirty="0" sz="1650" spc="31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650" spc="200">
                <a:solidFill>
                  <a:srgbClr val="525252"/>
                </a:solidFill>
                <a:latin typeface="Times New Roman"/>
                <a:cs typeface="Times New Roman"/>
              </a:rPr>
              <a:t>en</a:t>
            </a:r>
            <a:endParaRPr sz="16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965"/>
              </a:spcBef>
            </a:pPr>
            <a:r>
              <a:rPr dirty="0" sz="1550" spc="-10">
                <a:solidFill>
                  <a:srgbClr val="565656"/>
                </a:solidFill>
                <a:latin typeface="Times New Roman"/>
                <a:cs typeface="Times New Roman"/>
              </a:rPr>
              <a:t>Ge</a:t>
            </a:r>
            <a:r>
              <a:rPr dirty="0" sz="1550" spc="-10">
                <a:solidFill>
                  <a:srgbClr val="4B4B4B"/>
                </a:solidFill>
                <a:latin typeface="Times New Roman"/>
                <a:cs typeface="Times New Roman"/>
              </a:rPr>
              <a:t>s </a:t>
            </a:r>
            <a:r>
              <a:rPr dirty="0" sz="1550">
                <a:solidFill>
                  <a:srgbClr val="4D4D4D"/>
                </a:solidFill>
                <a:latin typeface="Times New Roman"/>
                <a:cs typeface="Times New Roman"/>
              </a:rPr>
              <a:t>t</a:t>
            </a:r>
            <a:r>
              <a:rPr dirty="0" sz="1550" spc="5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4B4B4B"/>
                </a:solidFill>
                <a:latin typeface="Times New Roman"/>
                <a:cs typeface="Times New Roman"/>
              </a:rPr>
              <a:t>o</a:t>
            </a:r>
            <a:r>
              <a:rPr dirty="0" sz="1550" spc="-19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B4B4B"/>
                </a:solidFill>
                <a:latin typeface="Times New Roman"/>
                <a:cs typeface="Times New Roman"/>
              </a:rPr>
              <a:t>rConc</a:t>
            </a:r>
            <a:r>
              <a:rPr dirty="0" sz="1550" spc="-11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550" spc="-185">
                <a:solidFill>
                  <a:srgbClr val="596277"/>
                </a:solidFill>
                <a:latin typeface="Times New Roman"/>
                <a:cs typeface="Times New Roman"/>
              </a:rPr>
              <a:t>u</a:t>
            </a:r>
            <a:r>
              <a:rPr dirty="0" sz="1550" spc="-70">
                <a:solidFill>
                  <a:srgbClr val="596277"/>
                </a:solidFill>
                <a:latin typeface="Times New Roman"/>
                <a:cs typeface="Times New Roman"/>
              </a:rPr>
              <a:t> </a:t>
            </a:r>
            <a:r>
              <a:rPr dirty="0" sz="1550" spc="160">
                <a:solidFill>
                  <a:srgbClr val="414141"/>
                </a:solidFill>
                <a:latin typeface="Times New Roman"/>
                <a:cs typeface="Times New Roman"/>
              </a:rPr>
              <a:t>rrenc</a:t>
            </a:r>
            <a:r>
              <a:rPr dirty="0" sz="1550" spc="-114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dirty="0" sz="1550" spc="114">
                <a:solidFill>
                  <a:srgbClr val="3F3F3F"/>
                </a:solidFill>
                <a:latin typeface="Times New Roman"/>
                <a:cs typeface="Times New Roman"/>
              </a:rPr>
              <a:t>i</a:t>
            </a:r>
            <a:r>
              <a:rPr dirty="0" sz="1550" spc="-13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550" spc="-40">
                <a:solidFill>
                  <a:srgbClr val="809597"/>
                </a:solidFill>
                <a:latin typeface="Times New Roman"/>
                <a:cs typeface="Times New Roman"/>
              </a:rPr>
              <a:t>a</a:t>
            </a:r>
            <a:r>
              <a:rPr dirty="0" sz="1550" spc="-155">
                <a:solidFill>
                  <a:srgbClr val="809597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3F3F3F"/>
                </a:solidFill>
                <a:latin typeface="Times New Roman"/>
                <a:cs typeface="Times New Roman"/>
              </a:rPr>
              <a:t>Hab</a:t>
            </a:r>
            <a:r>
              <a:rPr dirty="0" sz="1550">
                <a:solidFill>
                  <a:srgbClr val="545454"/>
                </a:solidFill>
                <a:latin typeface="Times New Roman"/>
                <a:cs typeface="Times New Roman"/>
              </a:rPr>
              <a:t>i</a:t>
            </a:r>
            <a:r>
              <a:rPr dirty="0" sz="1550" spc="4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B4B4B"/>
                </a:solidFill>
                <a:latin typeface="Times New Roman"/>
                <a:cs typeface="Times New Roman"/>
              </a:rPr>
              <a:t>t</a:t>
            </a:r>
            <a:r>
              <a:rPr dirty="0" sz="1550" spc="3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05050"/>
                </a:solidFill>
                <a:latin typeface="Times New Roman"/>
                <a:cs typeface="Times New Roman"/>
              </a:rPr>
              <a:t>ac</a:t>
            </a:r>
            <a:r>
              <a:rPr dirty="0" sz="1550" spc="12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1550" spc="155">
                <a:solidFill>
                  <a:srgbClr val="464646"/>
                </a:solidFill>
                <a:latin typeface="Times New Roman"/>
                <a:cs typeface="Times New Roman"/>
              </a:rPr>
              <a:t>iones</a:t>
            </a:r>
            <a:r>
              <a:rPr dirty="0" sz="1550" spc="35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1550" spc="220">
                <a:solidFill>
                  <a:srgbClr val="494949"/>
                </a:solidFill>
                <a:latin typeface="Times New Roman"/>
                <a:cs typeface="Times New Roman"/>
              </a:rPr>
              <a:t>para</a:t>
            </a:r>
            <a:r>
              <a:rPr dirty="0" sz="1550" spc="24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z="1550" spc="225">
                <a:solidFill>
                  <a:srgbClr val="4B4B4B"/>
                </a:solidFill>
                <a:latin typeface="Times New Roman"/>
                <a:cs typeface="Times New Roman"/>
              </a:rPr>
              <a:t>evitar</a:t>
            </a:r>
            <a:r>
              <a:rPr dirty="0" sz="1550" spc="33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550" spc="280">
                <a:solidFill>
                  <a:srgbClr val="4D4D4D"/>
                </a:solidFill>
                <a:latin typeface="Times New Roman"/>
                <a:cs typeface="Times New Roman"/>
              </a:rPr>
              <a:t>s</a:t>
            </a:r>
            <a:r>
              <a:rPr dirty="0" sz="1550" spc="280">
                <a:solidFill>
                  <a:srgbClr val="99AABD"/>
                </a:solidFill>
                <a:latin typeface="Times New Roman"/>
                <a:cs typeface="Times New Roman"/>
              </a:rPr>
              <a:t>obr</a:t>
            </a:r>
            <a:r>
              <a:rPr dirty="0" sz="1550" spc="-225">
                <a:solidFill>
                  <a:srgbClr val="99AABD"/>
                </a:solidFill>
                <a:latin typeface="Times New Roman"/>
                <a:cs typeface="Times New Roman"/>
              </a:rPr>
              <a:t> </a:t>
            </a:r>
            <a:r>
              <a:rPr dirty="0" sz="1550" spc="260">
                <a:solidFill>
                  <a:srgbClr val="444444"/>
                </a:solidFill>
                <a:latin typeface="Times New Roman"/>
                <a:cs typeface="Times New Roman"/>
              </a:rPr>
              <a:t>e</a:t>
            </a:r>
            <a:r>
              <a:rPr dirty="0" sz="1550" spc="-25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dirty="0" sz="1550" spc="290">
                <a:solidFill>
                  <a:srgbClr val="484848"/>
                </a:solidFill>
                <a:latin typeface="Times New Roman"/>
                <a:cs typeface="Times New Roman"/>
              </a:rPr>
              <a:t>ventas</a:t>
            </a:r>
            <a:r>
              <a:rPr dirty="0" sz="1550" spc="305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dirty="0" sz="1550" spc="275">
                <a:solidFill>
                  <a:srgbClr val="575757"/>
                </a:solidFill>
                <a:latin typeface="Times New Roman"/>
                <a:cs typeface="Times New Roman"/>
              </a:rPr>
              <a:t>ac</a:t>
            </a:r>
            <a:r>
              <a:rPr dirty="0" sz="1550" spc="275">
                <a:solidFill>
                  <a:srgbClr val="4D4D4D"/>
                </a:solidFill>
                <a:latin typeface="Times New Roman"/>
                <a:cs typeface="Times New Roman"/>
              </a:rPr>
              <a:t>ci</a:t>
            </a:r>
            <a:r>
              <a:rPr dirty="0" sz="1550" spc="275">
                <a:solidFill>
                  <a:srgbClr val="3F3F3F"/>
                </a:solidFill>
                <a:latin typeface="Times New Roman"/>
                <a:cs typeface="Times New Roman"/>
              </a:rPr>
              <a:t>dentale</a:t>
            </a:r>
            <a:r>
              <a:rPr dirty="0" sz="1550" spc="-21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550" spc="260">
                <a:solidFill>
                  <a:srgbClr val="4D4D4D"/>
                </a:solidFill>
                <a:latin typeface="Times New Roman"/>
                <a:cs typeface="Times New Roman"/>
              </a:rPr>
              <a:t>s</a:t>
            </a:r>
            <a:r>
              <a:rPr dirty="0" sz="1550" spc="20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550" spc="280">
                <a:solidFill>
                  <a:srgbClr val="464646"/>
                </a:solidFill>
                <a:latin typeface="Times New Roman"/>
                <a:cs typeface="Times New Roman"/>
              </a:rPr>
              <a:t>de</a:t>
            </a:r>
            <a:endParaRPr sz="155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  <a:spcBef>
                <a:spcPts val="760"/>
              </a:spcBef>
            </a:pPr>
            <a:r>
              <a:rPr dirty="0" sz="1650" spc="130">
                <a:solidFill>
                  <a:srgbClr val="70839C"/>
                </a:solidFill>
                <a:latin typeface="Times New Roman"/>
                <a:cs typeface="Times New Roman"/>
              </a:rPr>
              <a:t>habi</a:t>
            </a:r>
            <a:r>
              <a:rPr dirty="0" sz="1650" spc="-165">
                <a:solidFill>
                  <a:srgbClr val="70839C"/>
                </a:solidFill>
                <a:latin typeface="Times New Roman"/>
                <a:cs typeface="Times New Roman"/>
              </a:rPr>
              <a:t> </a:t>
            </a:r>
            <a:r>
              <a:rPr dirty="0" sz="1650" spc="245">
                <a:solidFill>
                  <a:srgbClr val="494949"/>
                </a:solidFill>
                <a:latin typeface="Times New Roman"/>
                <a:cs typeface="Times New Roman"/>
              </a:rPr>
              <a:t>taciones</a:t>
            </a:r>
            <a:r>
              <a:rPr dirty="0" sz="1650" spc="375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z="1650" spc="-50">
                <a:solidFill>
                  <a:srgbClr val="3D5974"/>
                </a:solidFill>
                <a:latin typeface="Times New Roman"/>
                <a:cs typeface="Times New Roman"/>
              </a:rPr>
              <a:t>u</a:t>
            </a:r>
            <a:r>
              <a:rPr dirty="0" sz="1650" spc="-160">
                <a:solidFill>
                  <a:srgbClr val="3D5974"/>
                </a:solidFill>
                <a:latin typeface="Times New Roman"/>
                <a:cs typeface="Times New Roman"/>
              </a:rPr>
              <a:t> </a:t>
            </a:r>
            <a:r>
              <a:rPr dirty="0" sz="1650" spc="140">
                <a:solidFill>
                  <a:srgbClr val="424242"/>
                </a:solidFill>
                <a:latin typeface="Times New Roman"/>
                <a:cs typeface="Times New Roman"/>
              </a:rPr>
              <a:t>tilizando</a:t>
            </a:r>
            <a:r>
              <a:rPr dirty="0" sz="1650" spc="315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dirty="0" sz="1650" spc="145">
                <a:solidFill>
                  <a:srgbClr val="4B4B4B"/>
                </a:solidFill>
                <a:latin typeface="Times New Roman"/>
                <a:cs typeface="Times New Roman"/>
              </a:rPr>
              <a:t>exclusi</a:t>
            </a:r>
            <a:r>
              <a:rPr dirty="0" sz="1650" spc="-12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650" spc="185">
                <a:solidFill>
                  <a:srgbClr val="7085A1"/>
                </a:solidFill>
                <a:latin typeface="Times New Roman"/>
                <a:cs typeface="Times New Roman"/>
              </a:rPr>
              <a:t>ón</a:t>
            </a:r>
            <a:r>
              <a:rPr dirty="0" sz="1650" spc="320">
                <a:solidFill>
                  <a:srgbClr val="7085A1"/>
                </a:solidFill>
                <a:latin typeface="Times New Roman"/>
                <a:cs typeface="Times New Roman"/>
              </a:rPr>
              <a:t> </a:t>
            </a:r>
            <a:r>
              <a:rPr dirty="0" sz="1650" spc="204">
                <a:solidFill>
                  <a:srgbClr val="70839E"/>
                </a:solidFill>
                <a:latin typeface="Times New Roman"/>
                <a:cs typeface="Times New Roman"/>
              </a:rPr>
              <a:t>mu</a:t>
            </a:r>
            <a:r>
              <a:rPr dirty="0" sz="1650" spc="204">
                <a:solidFill>
                  <a:srgbClr val="9AAFC4"/>
                </a:solidFill>
                <a:latin typeface="Times New Roman"/>
                <a:cs typeface="Times New Roman"/>
              </a:rPr>
              <a:t>tu</a:t>
            </a:r>
            <a:r>
              <a:rPr dirty="0" sz="1650" spc="-125">
                <a:solidFill>
                  <a:srgbClr val="9AAFC4"/>
                </a:solidFill>
                <a:latin typeface="Times New Roman"/>
                <a:cs typeface="Times New Roman"/>
              </a:rPr>
              <a:t> </a:t>
            </a:r>
            <a:r>
              <a:rPr dirty="0" sz="1650" spc="160">
                <a:solidFill>
                  <a:srgbClr val="7E93A7"/>
                </a:solidFill>
                <a:latin typeface="Times New Roman"/>
                <a:cs typeface="Times New Roman"/>
              </a:rPr>
              <a:t>a</a:t>
            </a:r>
            <a:r>
              <a:rPr dirty="0" sz="1650" spc="180">
                <a:solidFill>
                  <a:srgbClr val="7E93A7"/>
                </a:solidFill>
                <a:latin typeface="Times New Roman"/>
                <a:cs typeface="Times New Roman"/>
              </a:rPr>
              <a:t> </a:t>
            </a:r>
            <a:r>
              <a:rPr dirty="0" sz="1650" spc="175">
                <a:solidFill>
                  <a:srgbClr val="494949"/>
                </a:solidFill>
                <a:latin typeface="Times New Roman"/>
                <a:cs typeface="Times New Roman"/>
              </a:rPr>
              <a:t>de</a:t>
            </a:r>
            <a:r>
              <a:rPr dirty="0" sz="1650" spc="434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z="1650" spc="95">
                <a:solidFill>
                  <a:srgbClr val="424242"/>
                </a:solidFill>
                <a:latin typeface="Times New Roman"/>
                <a:cs typeface="Times New Roman"/>
              </a:rPr>
              <a:t>hilos.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74251" y="10401249"/>
            <a:ext cx="1290320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-229">
                <a:solidFill>
                  <a:srgbClr val="3DBFCD"/>
                </a:solidFill>
                <a:latin typeface="Times New Roman"/>
                <a:cs typeface="Times New Roman"/>
              </a:rPr>
              <a:t>U</a:t>
            </a:r>
            <a:r>
              <a:rPr dirty="0" sz="1400" spc="-120">
                <a:solidFill>
                  <a:srgbClr val="3DBFC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3BAFD6"/>
                </a:solidFill>
                <a:latin typeface="Times New Roman"/>
                <a:cs typeface="Times New Roman"/>
              </a:rPr>
              <a:t>SI</a:t>
            </a:r>
            <a:r>
              <a:rPr dirty="0" sz="1400" spc="-90">
                <a:solidFill>
                  <a:srgbClr val="3BAFD6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6A0CF"/>
                </a:solidFill>
                <a:latin typeface="Times New Roman"/>
                <a:cs typeface="Times New Roman"/>
              </a:rPr>
              <a:t>L</a:t>
            </a:r>
            <a:r>
              <a:rPr dirty="0" sz="1400" spc="380">
                <a:solidFill>
                  <a:srgbClr val="26A0C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0A8CF"/>
                </a:solidFill>
                <a:latin typeface="Times New Roman"/>
                <a:cs typeface="Times New Roman"/>
              </a:rPr>
              <a:t>•</a:t>
            </a:r>
            <a:r>
              <a:rPr dirty="0" sz="1400" spc="385">
                <a:solidFill>
                  <a:srgbClr val="00A8CF"/>
                </a:solidFill>
                <a:latin typeface="Times New Roman"/>
                <a:cs typeface="Times New Roman"/>
              </a:rPr>
              <a:t> </a:t>
            </a:r>
            <a:r>
              <a:rPr dirty="0" sz="1400" spc="50">
                <a:solidFill>
                  <a:srgbClr val="36A8CA"/>
                </a:solidFill>
                <a:latin typeface="Times New Roman"/>
                <a:cs typeface="Times New Roman"/>
              </a:rPr>
              <a:t>POO</a:t>
            </a:r>
            <a:r>
              <a:rPr dirty="0" sz="1400" spc="114">
                <a:solidFill>
                  <a:srgbClr val="36A8CA"/>
                </a:solidFill>
                <a:latin typeface="Times New Roman"/>
                <a:cs typeface="Times New Roman"/>
              </a:rPr>
              <a:t>  </a:t>
            </a:r>
            <a:r>
              <a:rPr dirty="0" sz="1400" spc="-254">
                <a:solidFill>
                  <a:srgbClr val="36A8CA"/>
                </a:solidFill>
                <a:latin typeface="Times New Roman"/>
                <a:cs typeface="Times New Roman"/>
              </a:rPr>
              <a:t>I</a:t>
            </a:r>
            <a:r>
              <a:rPr dirty="0" sz="1400" spc="-75">
                <a:solidFill>
                  <a:srgbClr val="36A8CA"/>
                </a:solidFill>
                <a:latin typeface="Times New Roman"/>
                <a:cs typeface="Times New Roman"/>
              </a:rPr>
              <a:t> </a:t>
            </a:r>
            <a:r>
              <a:rPr dirty="0" sz="1400" spc="-135">
                <a:solidFill>
                  <a:srgbClr val="38A5CD"/>
                </a:solidFill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169426" y="5540141"/>
            <a:ext cx="4538345" cy="1184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600" spc="155">
                <a:solidFill>
                  <a:srgbClr val="979797"/>
                </a:solidFill>
                <a:latin typeface="Calibri"/>
                <a:cs typeface="Calibri"/>
              </a:rPr>
              <a:t>${}{}</a:t>
            </a:r>
            <a:r>
              <a:rPr dirty="0" sz="7600" spc="1035">
                <a:solidFill>
                  <a:srgbClr val="979797"/>
                </a:solidFill>
                <a:latin typeface="Calibri"/>
                <a:cs typeface="Calibri"/>
              </a:rPr>
              <a:t> </a:t>
            </a:r>
            <a:r>
              <a:rPr dirty="0" sz="7600" spc="195">
                <a:solidFill>
                  <a:srgbClr val="999999"/>
                </a:solidFill>
                <a:latin typeface="Calibri"/>
                <a:cs typeface="Calibri"/>
              </a:rPr>
              <a:t>x</a:t>
            </a:r>
            <a:r>
              <a:rPr dirty="0" sz="7600" spc="1130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baseline="-4385" sz="11400" spc="292">
                <a:solidFill>
                  <a:srgbClr val="999999"/>
                </a:solidFill>
                <a:latin typeface="Calibri"/>
                <a:cs typeface="Calibri"/>
              </a:rPr>
              <a:t>400</a:t>
            </a:r>
            <a:endParaRPr baseline="-4385" sz="1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2212" y="2795726"/>
            <a:ext cx="8465710" cy="628253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800" spc="-330">
                <a:solidFill>
                  <a:srgbClr val="082646"/>
                </a:solidFill>
                <a:latin typeface="Times New Roman"/>
                <a:cs typeface="Times New Roman"/>
              </a:rPr>
              <a:t>M2:</a:t>
            </a:r>
            <a:r>
              <a:rPr dirty="0" sz="5800" spc="-215">
                <a:solidFill>
                  <a:srgbClr val="082646"/>
                </a:solidFill>
                <a:latin typeface="Times New Roman"/>
                <a:cs typeface="Times New Roman"/>
              </a:rPr>
              <a:t> </a:t>
            </a:r>
            <a:r>
              <a:rPr dirty="0" sz="5800" spc="-80">
                <a:solidFill>
                  <a:srgbClr val="0A284B"/>
                </a:solidFill>
                <a:latin typeface="Times New Roman"/>
                <a:cs typeface="Times New Roman"/>
              </a:rPr>
              <a:t>Usuarios,</a:t>
            </a:r>
            <a:r>
              <a:rPr dirty="0" sz="5800" spc="-285">
                <a:solidFill>
                  <a:srgbClr val="0A284B"/>
                </a:solidFill>
                <a:latin typeface="Times New Roman"/>
                <a:cs typeface="Times New Roman"/>
              </a:rPr>
              <a:t> </a:t>
            </a:r>
            <a:r>
              <a:rPr dirty="0" sz="5800" spc="-10">
                <a:solidFill>
                  <a:srgbClr val="082642"/>
                </a:solidFill>
                <a:latin typeface="Times New Roman"/>
                <a:cs typeface="Times New Roman"/>
              </a:rPr>
              <a:t>Seguridad</a:t>
            </a:r>
            <a:r>
              <a:rPr dirty="0" sz="5800" spc="-185">
                <a:solidFill>
                  <a:srgbClr val="082642"/>
                </a:solidFill>
                <a:latin typeface="Times New Roman"/>
                <a:cs typeface="Times New Roman"/>
              </a:rPr>
              <a:t> </a:t>
            </a:r>
            <a:r>
              <a:rPr dirty="0" sz="5800">
                <a:solidFill>
                  <a:srgbClr val="052146"/>
                </a:solidFill>
                <a:latin typeface="Times New Roman"/>
                <a:cs typeface="Times New Roman"/>
              </a:rPr>
              <a:t>e</a:t>
            </a:r>
            <a:r>
              <a:rPr dirty="0" sz="5800" spc="-355">
                <a:solidFill>
                  <a:srgbClr val="052146"/>
                </a:solidFill>
                <a:latin typeface="Times New Roman"/>
                <a:cs typeface="Times New Roman"/>
              </a:rPr>
              <a:t> </a:t>
            </a:r>
            <a:r>
              <a:rPr dirty="0" sz="5800" spc="-10">
                <a:solidFill>
                  <a:srgbClr val="052642"/>
                </a:solidFill>
                <a:latin typeface="Times New Roman"/>
                <a:cs typeface="Times New Roman"/>
              </a:rPr>
              <a:t>Inicio</a:t>
            </a:r>
            <a:endParaRPr sz="5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920" y="10384889"/>
            <a:ext cx="130365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89990" algn="l"/>
              </a:tabLst>
            </a:pPr>
            <a:r>
              <a:rPr dirty="0" sz="1550">
                <a:solidFill>
                  <a:srgbClr val="2BB8C4"/>
                </a:solidFill>
                <a:latin typeface="Calibri"/>
                <a:cs typeface="Calibri"/>
              </a:rPr>
              <a:t>USI</a:t>
            </a:r>
            <a:r>
              <a:rPr dirty="0" sz="1550" spc="125">
                <a:solidFill>
                  <a:srgbClr val="2BB8C4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26A0CF"/>
                </a:solidFill>
                <a:latin typeface="Calibri"/>
                <a:cs typeface="Calibri"/>
              </a:rPr>
              <a:t>L</a:t>
            </a:r>
            <a:r>
              <a:rPr dirty="0" sz="1550" spc="360">
                <a:solidFill>
                  <a:srgbClr val="26A0C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00A8CF"/>
                </a:solidFill>
                <a:latin typeface="Calibri"/>
                <a:cs typeface="Calibri"/>
              </a:rPr>
              <a:t>•</a:t>
            </a:r>
            <a:r>
              <a:rPr dirty="0" sz="1550" spc="215">
                <a:solidFill>
                  <a:srgbClr val="00A8CF"/>
                </a:solidFill>
                <a:latin typeface="Calibri"/>
                <a:cs typeface="Calibri"/>
              </a:rPr>
              <a:t> </a:t>
            </a:r>
            <a:r>
              <a:rPr dirty="0" sz="1550" spc="-25">
                <a:solidFill>
                  <a:srgbClr val="36A8CA"/>
                </a:solidFill>
                <a:latin typeface="Calibri"/>
                <a:cs typeface="Calibri"/>
              </a:rPr>
              <a:t>POO</a:t>
            </a:r>
            <a:r>
              <a:rPr dirty="0" sz="1550">
                <a:solidFill>
                  <a:srgbClr val="36A8CA"/>
                </a:solidFill>
                <a:latin typeface="Calibri"/>
                <a:cs typeface="Calibri"/>
              </a:rPr>
              <a:t>	</a:t>
            </a:r>
            <a:r>
              <a:rPr dirty="0" sz="1550" spc="-100">
                <a:solidFill>
                  <a:srgbClr val="36A8CA"/>
                </a:solidFill>
                <a:latin typeface="Calibri"/>
                <a:cs typeface="Calibri"/>
              </a:rPr>
              <a:t>I</a:t>
            </a:r>
            <a:r>
              <a:rPr dirty="0" sz="1550" spc="-150">
                <a:solidFill>
                  <a:srgbClr val="36A8CA"/>
                </a:solidFill>
                <a:latin typeface="Calibri"/>
                <a:cs typeface="Calibri"/>
              </a:rPr>
              <a:t> </a:t>
            </a:r>
            <a:r>
              <a:rPr dirty="0" sz="1550" spc="-50">
                <a:solidFill>
                  <a:srgbClr val="38A5CD"/>
                </a:solidFill>
                <a:latin typeface="Calibri"/>
                <a:cs typeface="Calibri"/>
              </a:rPr>
              <a:t>I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Estructura</a:t>
            </a:r>
            <a:r>
              <a:rPr dirty="0" spc="50"/>
              <a:t> </a:t>
            </a:r>
            <a:r>
              <a:rPr dirty="0">
                <a:solidFill>
                  <a:srgbClr val="13264D"/>
                </a:solidFill>
              </a:rPr>
              <a:t>de</a:t>
            </a:r>
            <a:r>
              <a:rPr dirty="0" spc="-235">
                <a:solidFill>
                  <a:srgbClr val="13264D"/>
                </a:solidFill>
              </a:rPr>
              <a:t> </a:t>
            </a:r>
            <a:r>
              <a:rPr dirty="0" spc="-10">
                <a:solidFill>
                  <a:srgbClr val="032B59"/>
                </a:solidFill>
              </a:rPr>
              <a:t>Seguridad</a:t>
            </a: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1900" spc="50">
                <a:solidFill>
                  <a:srgbClr val="4B4B4B"/>
                </a:solidFill>
                <a:latin typeface="Calibri"/>
                <a:cs typeface="Calibri"/>
              </a:rPr>
              <a:t>Control</a:t>
            </a:r>
            <a:r>
              <a:rPr dirty="0" sz="1900" spc="114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64646"/>
                </a:solidFill>
                <a:latin typeface="Calibri"/>
                <a:cs typeface="Calibri"/>
              </a:rPr>
              <a:t>estricto</a:t>
            </a:r>
            <a:r>
              <a:rPr dirty="0" sz="1900" spc="24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494F74"/>
                </a:solidFill>
                <a:latin typeface="Calibri"/>
                <a:cs typeface="Calibri"/>
              </a:rPr>
              <a:t>de</a:t>
            </a:r>
            <a:r>
              <a:rPr dirty="0" sz="1900" spc="95">
                <a:solidFill>
                  <a:srgbClr val="494F74"/>
                </a:solidFill>
                <a:latin typeface="Calibri"/>
                <a:cs typeface="Calibri"/>
              </a:rPr>
              <a:t> </a:t>
            </a:r>
            <a:r>
              <a:rPr dirty="0" sz="1900" spc="110">
                <a:solidFill>
                  <a:srgbClr val="484848"/>
                </a:solidFill>
                <a:latin typeface="Calibri"/>
                <a:cs typeface="Calibri"/>
              </a:rPr>
              <a:t>accesos</a:t>
            </a:r>
            <a:r>
              <a:rPr dirty="0" sz="1900" spc="21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465967"/>
                </a:solidFill>
                <a:latin typeface="Calibri"/>
                <a:cs typeface="Calibri"/>
              </a:rPr>
              <a:t>y</a:t>
            </a:r>
            <a:r>
              <a:rPr dirty="0" sz="1900" spc="150">
                <a:solidFill>
                  <a:srgbClr val="465967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D4D4D"/>
                </a:solidFill>
                <a:latin typeface="Calibri"/>
                <a:cs typeface="Calibri"/>
              </a:rPr>
              <a:t>perfiles</a:t>
            </a:r>
            <a:r>
              <a:rPr dirty="0" sz="1900" spc="2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494D70"/>
                </a:solidFill>
                <a:latin typeface="Calibri"/>
                <a:cs typeface="Calibri"/>
              </a:rPr>
              <a:t>de</a:t>
            </a:r>
            <a:r>
              <a:rPr dirty="0" sz="1900" spc="105">
                <a:solidFill>
                  <a:srgbClr val="494D7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94949"/>
                </a:solidFill>
                <a:latin typeface="Calibri"/>
                <a:cs typeface="Calibri"/>
              </a:rPr>
              <a:t>usuarios</a:t>
            </a:r>
            <a:r>
              <a:rPr dirty="0" sz="1900" spc="18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4B5069"/>
                </a:solidFill>
                <a:latin typeface="Calibri"/>
                <a:cs typeface="Calibri"/>
              </a:rPr>
              <a:t>de</a:t>
            </a:r>
            <a:r>
              <a:rPr dirty="0" sz="1900" spc="95">
                <a:solidFill>
                  <a:srgbClr val="4B5069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F4F4F"/>
                </a:solidFill>
                <a:latin typeface="Calibri"/>
                <a:cs typeface="Calibri"/>
              </a:rPr>
              <a:t>la</a:t>
            </a:r>
            <a:r>
              <a:rPr dirty="0" sz="1900" spc="10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444444"/>
                </a:solidFill>
                <a:latin typeface="Calibri"/>
                <a:cs typeface="Calibri"/>
              </a:rPr>
              <a:t>organización.</a:t>
            </a:r>
            <a:endParaRPr sz="1900">
              <a:latin typeface="Calibri"/>
              <a:cs typeface="Calibri"/>
            </a:endParaRPr>
          </a:p>
          <a:p>
            <a:pPr marL="484505" marR="5080" indent="5715">
              <a:lnSpc>
                <a:spcPct val="119300"/>
              </a:lnSpc>
              <a:spcBef>
                <a:spcPts val="1980"/>
              </a:spcBef>
            </a:pPr>
            <a:r>
              <a:rPr dirty="0" sz="1900" spc="185">
                <a:solidFill>
                  <a:srgbClr val="424242"/>
                </a:solidFill>
                <a:latin typeface="Calibri"/>
                <a:cs typeface="Calibri"/>
              </a:rPr>
              <a:t>Abstracción</a:t>
            </a:r>
            <a:r>
              <a:rPr dirty="0" sz="1900" spc="9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900" spc="210">
                <a:solidFill>
                  <a:srgbClr val="42576E"/>
                </a:solidFill>
                <a:latin typeface="Calibri"/>
                <a:cs typeface="Calibri"/>
              </a:rPr>
              <a:t>de</a:t>
            </a:r>
            <a:r>
              <a:rPr dirty="0" sz="1900" spc="25">
                <a:solidFill>
                  <a:srgbClr val="42576E"/>
                </a:solidFill>
                <a:latin typeface="Calibri"/>
                <a:cs typeface="Calibri"/>
              </a:rPr>
              <a:t> </a:t>
            </a:r>
            <a:r>
              <a:rPr dirty="0" sz="1900" spc="150">
                <a:solidFill>
                  <a:srgbClr val="464646"/>
                </a:solidFill>
                <a:latin typeface="Calibri"/>
                <a:cs typeface="Calibri"/>
              </a:rPr>
              <a:t>Datos:</a:t>
            </a:r>
            <a:r>
              <a:rPr dirty="0" sz="1900" spc="6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130">
                <a:solidFill>
                  <a:srgbClr val="4B4B4B"/>
                </a:solidFill>
                <a:latin typeface="Calibri"/>
                <a:cs typeface="Calibri"/>
              </a:rPr>
              <a:t>Clase</a:t>
            </a:r>
            <a:r>
              <a:rPr dirty="0" sz="1900" spc="14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414141"/>
                </a:solidFill>
                <a:latin typeface="Calibri"/>
                <a:cs typeface="Calibri"/>
              </a:rPr>
              <a:t>padre</a:t>
            </a:r>
            <a:r>
              <a:rPr dirty="0" sz="1900" spc="13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1900" spc="75">
                <a:solidFill>
                  <a:srgbClr val="5D748C"/>
                </a:solidFill>
                <a:latin typeface="Calibri"/>
                <a:cs typeface="Calibri"/>
              </a:rPr>
              <a:t>Us</a:t>
            </a:r>
            <a:r>
              <a:rPr dirty="0" sz="1900" spc="-254">
                <a:solidFill>
                  <a:srgbClr val="5D748C"/>
                </a:solidFill>
                <a:latin typeface="Calibri"/>
                <a:cs typeface="Calibri"/>
              </a:rPr>
              <a:t> </a:t>
            </a:r>
            <a:r>
              <a:rPr dirty="0" sz="1900" spc="290">
                <a:solidFill>
                  <a:srgbClr val="464646"/>
                </a:solidFill>
                <a:latin typeface="Calibri"/>
                <a:cs typeface="Calibri"/>
              </a:rPr>
              <a:t>uario</a:t>
            </a:r>
            <a:r>
              <a:rPr dirty="0" sz="1900" spc="7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210">
                <a:solidFill>
                  <a:srgbClr val="9CAAB5"/>
                </a:solidFill>
                <a:latin typeface="Calibri"/>
                <a:cs typeface="Calibri"/>
              </a:rPr>
              <a:t>con</a:t>
            </a:r>
            <a:r>
              <a:rPr dirty="0" sz="1900" spc="210">
                <a:solidFill>
                  <a:srgbClr val="464646"/>
                </a:solidFill>
                <a:latin typeface="Calibri"/>
                <a:cs typeface="Calibri"/>
              </a:rPr>
              <a:t>tres</a:t>
            </a:r>
            <a:r>
              <a:rPr dirty="0" sz="1900" spc="15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100">
                <a:solidFill>
                  <a:srgbClr val="4B4B4B"/>
                </a:solidFill>
                <a:latin typeface="Calibri"/>
                <a:cs typeface="Calibri"/>
              </a:rPr>
              <a:t>ramificaciones </a:t>
            </a:r>
            <a:r>
              <a:rPr dirty="0" sz="1900" spc="70">
                <a:solidFill>
                  <a:srgbClr val="565656"/>
                </a:solidFill>
                <a:latin typeface="Calibri"/>
                <a:cs typeface="Calibri"/>
              </a:rPr>
              <a:t>polimórficas</a:t>
            </a:r>
            <a:r>
              <a:rPr dirty="0" sz="1900" spc="254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dirty="0" sz="1900" spc="105">
                <a:solidFill>
                  <a:srgbClr val="464646"/>
                </a:solidFill>
                <a:latin typeface="Calibri"/>
                <a:cs typeface="Calibri"/>
              </a:rPr>
              <a:t>directas:</a:t>
            </a:r>
            <a:r>
              <a:rPr dirty="0" sz="1900" spc="5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100">
                <a:solidFill>
                  <a:srgbClr val="424242"/>
                </a:solidFill>
                <a:latin typeface="Calibri"/>
                <a:cs typeface="Calibri"/>
              </a:rPr>
              <a:t>Hues</a:t>
            </a:r>
            <a:r>
              <a:rPr dirty="0" sz="1900" spc="-22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494949"/>
                </a:solidFill>
                <a:latin typeface="Calibri"/>
                <a:cs typeface="Calibri"/>
              </a:rPr>
              <a:t>ped,</a:t>
            </a:r>
            <a:r>
              <a:rPr dirty="0" sz="1900" spc="10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00" spc="60">
                <a:solidFill>
                  <a:srgbClr val="667B95"/>
                </a:solidFill>
                <a:latin typeface="Calibri"/>
                <a:cs typeface="Calibri"/>
              </a:rPr>
              <a:t>Rec</a:t>
            </a:r>
            <a:r>
              <a:rPr dirty="0" sz="1900" spc="-55">
                <a:solidFill>
                  <a:srgbClr val="667B95"/>
                </a:solidFill>
                <a:latin typeface="Calibri"/>
                <a:cs typeface="Calibri"/>
              </a:rPr>
              <a:t> </a:t>
            </a:r>
            <a:r>
              <a:rPr dirty="0" sz="1900" spc="60">
                <a:solidFill>
                  <a:srgbClr val="4D4D4D"/>
                </a:solidFill>
                <a:latin typeface="Calibri"/>
                <a:cs typeface="Calibri"/>
              </a:rPr>
              <a:t>epc</a:t>
            </a:r>
            <a:r>
              <a:rPr dirty="0" sz="1900" spc="-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85B75"/>
                </a:solidFill>
                <a:latin typeface="Calibri"/>
                <a:cs typeface="Calibri"/>
              </a:rPr>
              <a:t>i</a:t>
            </a:r>
            <a:r>
              <a:rPr dirty="0" sz="1900" spc="220">
                <a:solidFill>
                  <a:srgbClr val="485B75"/>
                </a:solidFill>
                <a:latin typeface="Calibri"/>
                <a:cs typeface="Calibri"/>
              </a:rPr>
              <a:t> </a:t>
            </a:r>
            <a:r>
              <a:rPr dirty="0" sz="1900" spc="335">
                <a:solidFill>
                  <a:srgbClr val="545454"/>
                </a:solidFill>
                <a:latin typeface="Calibri"/>
                <a:cs typeface="Calibri"/>
              </a:rPr>
              <a:t>on</a:t>
            </a:r>
            <a:r>
              <a:rPr dirty="0" sz="1900" spc="335">
                <a:solidFill>
                  <a:srgbClr val="4B5E77"/>
                </a:solidFill>
                <a:latin typeface="Calibri"/>
                <a:cs typeface="Calibri"/>
              </a:rPr>
              <a:t>ista</a:t>
            </a:r>
            <a:r>
              <a:rPr dirty="0" sz="1900" spc="-45">
                <a:solidFill>
                  <a:srgbClr val="4B5E77"/>
                </a:solidFill>
                <a:latin typeface="Calibri"/>
                <a:cs typeface="Calibri"/>
              </a:rPr>
              <a:t> </a:t>
            </a:r>
            <a:r>
              <a:rPr dirty="0" sz="1900" spc="145">
                <a:solidFill>
                  <a:srgbClr val="4D5769"/>
                </a:solidFill>
                <a:latin typeface="Calibri"/>
                <a:cs typeface="Calibri"/>
              </a:rPr>
              <a:t>y</a:t>
            </a:r>
            <a:r>
              <a:rPr dirty="0" sz="1900" spc="145">
                <a:solidFill>
                  <a:srgbClr val="484848"/>
                </a:solidFill>
                <a:latin typeface="Calibri"/>
                <a:cs typeface="Calibri"/>
              </a:rPr>
              <a:t>Admin</a:t>
            </a:r>
            <a:r>
              <a:rPr dirty="0" sz="1900" spc="-21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9596B"/>
                </a:solidFill>
                <a:latin typeface="Calibri"/>
                <a:cs typeface="Calibri"/>
              </a:rPr>
              <a:t>i</a:t>
            </a:r>
            <a:r>
              <a:rPr dirty="0" sz="1900" spc="235">
                <a:solidFill>
                  <a:srgbClr val="49596B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4B4B4B"/>
                </a:solidFill>
                <a:latin typeface="Calibri"/>
                <a:cs typeface="Calibri"/>
              </a:rPr>
              <a:t>s</a:t>
            </a:r>
            <a:r>
              <a:rPr dirty="0" sz="1900" spc="-4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8095AC"/>
                </a:solidFill>
                <a:latin typeface="Calibri"/>
                <a:cs typeface="Calibri"/>
              </a:rPr>
              <a:t>t</a:t>
            </a:r>
            <a:r>
              <a:rPr dirty="0" sz="1900" spc="-30">
                <a:solidFill>
                  <a:srgbClr val="8095AC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525B72"/>
                </a:solidFill>
                <a:latin typeface="Calibri"/>
                <a:cs typeface="Calibri"/>
              </a:rPr>
              <a:t>r</a:t>
            </a:r>
            <a:r>
              <a:rPr dirty="0" sz="1900" spc="-15">
                <a:solidFill>
                  <a:srgbClr val="525B72"/>
                </a:solidFill>
                <a:latin typeface="Calibri"/>
                <a:cs typeface="Calibri"/>
              </a:rPr>
              <a:t> </a:t>
            </a:r>
            <a:r>
              <a:rPr dirty="0" sz="1900" spc="90">
                <a:solidFill>
                  <a:srgbClr val="8CACB3"/>
                </a:solidFill>
                <a:latin typeface="Calibri"/>
                <a:cs typeface="Calibri"/>
              </a:rPr>
              <a:t>ado</a:t>
            </a:r>
            <a:r>
              <a:rPr dirty="0" sz="1900" spc="90">
                <a:solidFill>
                  <a:srgbClr val="4D4D4D"/>
                </a:solidFill>
                <a:latin typeface="Calibri"/>
                <a:cs typeface="Calibri"/>
              </a:rPr>
              <a:t>r.</a:t>
            </a:r>
            <a:endParaRPr sz="1900">
              <a:latin typeface="Calibri"/>
              <a:cs typeface="Calibri"/>
            </a:endParaRPr>
          </a:p>
          <a:p>
            <a:pPr marL="484505" marR="297815" indent="-2540">
              <a:lnSpc>
                <a:spcPct val="122000"/>
              </a:lnSpc>
              <a:spcBef>
                <a:spcPts val="2290"/>
              </a:spcBef>
            </a:pPr>
            <a:r>
              <a:rPr dirty="0" sz="1900" spc="95">
                <a:solidFill>
                  <a:srgbClr val="414F6E"/>
                </a:solidFill>
                <a:latin typeface="Calibri"/>
                <a:cs typeface="Calibri"/>
              </a:rPr>
              <a:t>Uso</a:t>
            </a:r>
            <a:r>
              <a:rPr dirty="0" sz="1900" spc="135">
                <a:solidFill>
                  <a:srgbClr val="414F6E"/>
                </a:solidFill>
                <a:latin typeface="Calibri"/>
                <a:cs typeface="Calibri"/>
              </a:rPr>
              <a:t> </a:t>
            </a:r>
            <a:r>
              <a:rPr dirty="0" sz="1900" spc="95">
                <a:solidFill>
                  <a:srgbClr val="495B6E"/>
                </a:solidFill>
                <a:latin typeface="Calibri"/>
                <a:cs typeface="Calibri"/>
              </a:rPr>
              <a:t>de</a:t>
            </a:r>
            <a:r>
              <a:rPr dirty="0" sz="1900" spc="265">
                <a:solidFill>
                  <a:srgbClr val="495B6E"/>
                </a:solidFill>
                <a:latin typeface="Calibri"/>
                <a:cs typeface="Calibri"/>
              </a:rPr>
              <a:t> </a:t>
            </a:r>
            <a:r>
              <a:rPr dirty="0" sz="1900" spc="135">
                <a:solidFill>
                  <a:srgbClr val="465767"/>
                </a:solidFill>
                <a:latin typeface="Calibri"/>
                <a:cs typeface="Calibri"/>
              </a:rPr>
              <a:t>Optional</a:t>
            </a:r>
            <a:r>
              <a:rPr dirty="0" sz="1900" spc="180">
                <a:solidFill>
                  <a:srgbClr val="465767"/>
                </a:solidFill>
                <a:latin typeface="Calibri"/>
                <a:cs typeface="Calibri"/>
              </a:rPr>
              <a:t> </a:t>
            </a:r>
            <a:r>
              <a:rPr dirty="0" sz="1900" spc="145">
                <a:solidFill>
                  <a:srgbClr val="425670"/>
                </a:solidFill>
                <a:latin typeface="Calibri"/>
                <a:cs typeface="Calibri"/>
              </a:rPr>
              <a:t>y</a:t>
            </a:r>
            <a:r>
              <a:rPr dirty="0" sz="1900" spc="105">
                <a:solidFill>
                  <a:srgbClr val="425670"/>
                </a:solidFill>
                <a:latin typeface="Calibri"/>
                <a:cs typeface="Calibri"/>
              </a:rPr>
              <a:t> </a:t>
            </a:r>
            <a:r>
              <a:rPr dirty="0" sz="1900" spc="170">
                <a:solidFill>
                  <a:srgbClr val="3F3F3F"/>
                </a:solidFill>
                <a:latin typeface="Calibri"/>
                <a:cs typeface="Calibri"/>
              </a:rPr>
              <a:t>Lambdas:</a:t>
            </a:r>
            <a:r>
              <a:rPr dirty="0" sz="1900" spc="12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3D3D3D"/>
                </a:solidFill>
                <a:latin typeface="Calibri"/>
                <a:cs typeface="Calibri"/>
              </a:rPr>
              <a:t>El</a:t>
            </a:r>
            <a:r>
              <a:rPr dirty="0" sz="1900" spc="-2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900" spc="125">
                <a:solidFill>
                  <a:srgbClr val="444444"/>
                </a:solidFill>
                <a:latin typeface="Calibri"/>
                <a:cs typeface="Calibri"/>
              </a:rPr>
              <a:t>servicio</a:t>
            </a:r>
            <a:r>
              <a:rPr dirty="0" sz="1900" spc="17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4F4F4F"/>
                </a:solidFill>
                <a:latin typeface="Calibri"/>
                <a:cs typeface="Calibri"/>
              </a:rPr>
              <a:t>Au</a:t>
            </a:r>
            <a:r>
              <a:rPr dirty="0" sz="1900" spc="-254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7E91AF"/>
                </a:solidFill>
                <a:latin typeface="Calibri"/>
                <a:cs typeface="Calibri"/>
              </a:rPr>
              <a:t>t</a:t>
            </a:r>
            <a:r>
              <a:rPr dirty="0" sz="1900" spc="-5">
                <a:solidFill>
                  <a:srgbClr val="7E91AF"/>
                </a:solidFill>
                <a:latin typeface="Calibri"/>
                <a:cs typeface="Calibri"/>
              </a:rPr>
              <a:t> </a:t>
            </a:r>
            <a:r>
              <a:rPr dirty="0" sz="1900" spc="120">
                <a:solidFill>
                  <a:srgbClr val="505050"/>
                </a:solidFill>
                <a:latin typeface="Calibri"/>
                <a:cs typeface="Calibri"/>
              </a:rPr>
              <a:t>en</a:t>
            </a:r>
            <a:r>
              <a:rPr dirty="0" sz="1900" spc="120">
                <a:solidFill>
                  <a:srgbClr val="828EA3"/>
                </a:solidFill>
                <a:latin typeface="Calibri"/>
                <a:cs typeface="Calibri"/>
              </a:rPr>
              <a:t>t</a:t>
            </a:r>
            <a:r>
              <a:rPr dirty="0" sz="1900" spc="-40">
                <a:solidFill>
                  <a:srgbClr val="828EA3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666B7E"/>
                </a:solidFill>
                <a:latin typeface="Calibri"/>
                <a:cs typeface="Calibri"/>
              </a:rPr>
              <a:t>i</a:t>
            </a:r>
            <a:r>
              <a:rPr dirty="0" sz="1900" spc="250">
                <a:solidFill>
                  <a:srgbClr val="666B7E"/>
                </a:solidFill>
                <a:latin typeface="Calibri"/>
                <a:cs typeface="Calibri"/>
              </a:rPr>
              <a:t> </a:t>
            </a:r>
            <a:r>
              <a:rPr dirty="0" sz="1900" spc="140">
                <a:solidFill>
                  <a:srgbClr val="4B4B4B"/>
                </a:solidFill>
                <a:latin typeface="Calibri"/>
                <a:cs typeface="Calibri"/>
              </a:rPr>
              <a:t>c</a:t>
            </a:r>
            <a:r>
              <a:rPr dirty="0" sz="1900" spc="140">
                <a:solidFill>
                  <a:srgbClr val="494949"/>
                </a:solidFill>
                <a:latin typeface="Calibri"/>
                <a:cs typeface="Calibri"/>
              </a:rPr>
              <a:t>ado</a:t>
            </a:r>
            <a:r>
              <a:rPr dirty="0" sz="1900" spc="140">
                <a:solidFill>
                  <a:srgbClr val="445677"/>
                </a:solidFill>
                <a:latin typeface="Calibri"/>
                <a:cs typeface="Calibri"/>
              </a:rPr>
              <a:t>r</a:t>
            </a:r>
            <a:r>
              <a:rPr dirty="0" sz="1900" spc="-30">
                <a:solidFill>
                  <a:srgbClr val="445677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42505D"/>
                </a:solidFill>
                <a:latin typeface="Calibri"/>
                <a:cs typeface="Calibri"/>
              </a:rPr>
              <a:t>Se</a:t>
            </a:r>
            <a:r>
              <a:rPr dirty="0" sz="1900" spc="-229">
                <a:solidFill>
                  <a:srgbClr val="42505D"/>
                </a:solidFill>
                <a:latin typeface="Calibri"/>
                <a:cs typeface="Calibri"/>
              </a:rPr>
              <a:t> </a:t>
            </a:r>
            <a:r>
              <a:rPr dirty="0" sz="1900" spc="65">
                <a:solidFill>
                  <a:srgbClr val="4D4D4D"/>
                </a:solidFill>
                <a:latin typeface="Calibri"/>
                <a:cs typeface="Calibri"/>
              </a:rPr>
              <a:t>r</a:t>
            </a:r>
            <a:r>
              <a:rPr dirty="0" sz="190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120">
                <a:solidFill>
                  <a:srgbClr val="4B4B4B"/>
                </a:solidFill>
                <a:latin typeface="Calibri"/>
                <a:cs typeface="Calibri"/>
              </a:rPr>
              <a:t>v</a:t>
            </a:r>
            <a:r>
              <a:rPr dirty="0" sz="1900" spc="120">
                <a:solidFill>
                  <a:srgbClr val="4F4F4F"/>
                </a:solidFill>
                <a:latin typeface="Calibri"/>
                <a:cs typeface="Calibri"/>
              </a:rPr>
              <a:t>i</a:t>
            </a:r>
            <a:r>
              <a:rPr dirty="0" sz="1900" spc="26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900" spc="145">
                <a:solidFill>
                  <a:srgbClr val="7E8A9A"/>
                </a:solidFill>
                <a:latin typeface="Calibri"/>
                <a:cs typeface="Calibri"/>
              </a:rPr>
              <a:t>c</a:t>
            </a:r>
            <a:r>
              <a:rPr dirty="0" sz="1900" spc="145">
                <a:solidFill>
                  <a:srgbClr val="4B4B4B"/>
                </a:solidFill>
                <a:latin typeface="Calibri"/>
                <a:cs typeface="Calibri"/>
              </a:rPr>
              <a:t>e </a:t>
            </a:r>
            <a:r>
              <a:rPr dirty="0" sz="1900" spc="160">
                <a:solidFill>
                  <a:srgbClr val="484848"/>
                </a:solidFill>
                <a:latin typeface="Calibri"/>
                <a:cs typeface="Calibri"/>
              </a:rPr>
              <a:t>procesa</a:t>
            </a:r>
            <a:r>
              <a:rPr dirty="0" sz="1900" spc="2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900" spc="114">
                <a:solidFill>
                  <a:srgbClr val="414141"/>
                </a:solidFill>
                <a:latin typeface="Calibri"/>
                <a:cs typeface="Calibri"/>
              </a:rPr>
              <a:t>credenciales</a:t>
            </a:r>
            <a:r>
              <a:rPr dirty="0" sz="1900" spc="31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1900" spc="60">
                <a:solidFill>
                  <a:srgbClr val="3D3D3D"/>
                </a:solidFill>
                <a:latin typeface="Calibri"/>
                <a:cs typeface="Calibri"/>
              </a:rPr>
              <a:t>utilizando</a:t>
            </a:r>
            <a:r>
              <a:rPr dirty="0" sz="1900" spc="12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900" spc="65">
                <a:solidFill>
                  <a:srgbClr val="424242"/>
                </a:solidFill>
                <a:latin typeface="Calibri"/>
                <a:cs typeface="Calibri"/>
              </a:rPr>
              <a:t>flujos</a:t>
            </a:r>
            <a:r>
              <a:rPr dirty="0" sz="1900" spc="17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900" spc="120">
                <a:solidFill>
                  <a:srgbClr val="3B3B3B"/>
                </a:solidFill>
                <a:latin typeface="Calibri"/>
                <a:cs typeface="Calibri"/>
              </a:rPr>
              <a:t>seguros</a:t>
            </a:r>
            <a:r>
              <a:rPr dirty="0" sz="1900" spc="17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1900" spc="140">
                <a:solidFill>
                  <a:srgbClr val="464646"/>
                </a:solidFill>
                <a:latin typeface="Calibri"/>
                <a:cs typeface="Calibri"/>
              </a:rPr>
              <a:t>de </a:t>
            </a:r>
            <a:r>
              <a:rPr dirty="0" sz="1900" spc="155">
                <a:solidFill>
                  <a:srgbClr val="525252"/>
                </a:solidFill>
                <a:latin typeface="Calibri"/>
                <a:cs typeface="Calibri"/>
              </a:rPr>
              <a:t>Java</a:t>
            </a:r>
            <a:r>
              <a:rPr dirty="0" sz="1900" spc="1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900" spc="95">
                <a:solidFill>
                  <a:srgbClr val="424242"/>
                </a:solidFill>
                <a:latin typeface="Calibri"/>
                <a:cs typeface="Calibri"/>
              </a:rPr>
              <a:t>para</a:t>
            </a:r>
            <a:r>
              <a:rPr dirty="0" sz="1900" spc="1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900" spc="45">
                <a:solidFill>
                  <a:srgbClr val="494949"/>
                </a:solidFill>
                <a:latin typeface="Calibri"/>
                <a:cs typeface="Calibri"/>
              </a:rPr>
              <a:t>mitigar </a:t>
            </a:r>
            <a:r>
              <a:rPr dirty="0" sz="1900" spc="114">
                <a:solidFill>
                  <a:srgbClr val="3B3B3B"/>
                </a:solidFill>
                <a:latin typeface="Calibri"/>
                <a:cs typeface="Calibri"/>
              </a:rPr>
              <a:t>riesgos</a:t>
            </a:r>
            <a:r>
              <a:rPr dirty="0" sz="1900" spc="17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1900" spc="150">
                <a:solidFill>
                  <a:srgbClr val="607293"/>
                </a:solidFill>
                <a:latin typeface="Calibri"/>
                <a:cs typeface="Calibri"/>
              </a:rPr>
              <a:t>de</a:t>
            </a:r>
            <a:r>
              <a:rPr dirty="0" sz="1900" spc="50">
                <a:solidFill>
                  <a:srgbClr val="607293"/>
                </a:solidFill>
                <a:latin typeface="Calibri"/>
                <a:cs typeface="Calibri"/>
              </a:rPr>
              <a:t> </a:t>
            </a:r>
            <a:r>
              <a:rPr dirty="0" sz="1900" spc="130">
                <a:solidFill>
                  <a:srgbClr val="464646"/>
                </a:solidFill>
                <a:latin typeface="Calibri"/>
                <a:cs typeface="Calibri"/>
              </a:rPr>
              <a:t>excepciones</a:t>
            </a:r>
            <a:r>
              <a:rPr dirty="0" sz="1900" spc="31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65">
                <a:solidFill>
                  <a:srgbClr val="414141"/>
                </a:solidFill>
                <a:latin typeface="Calibri"/>
                <a:cs typeface="Calibri"/>
              </a:rPr>
              <a:t>nulas</a:t>
            </a:r>
            <a:r>
              <a:rPr dirty="0" sz="1900" spc="145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1900" spc="285">
                <a:solidFill>
                  <a:srgbClr val="99B8CD"/>
                </a:solidFill>
                <a:latin typeface="Calibri"/>
                <a:cs typeface="Calibri"/>
              </a:rPr>
              <a:t>(Null</a:t>
            </a:r>
            <a:r>
              <a:rPr dirty="0" sz="1900" spc="285">
                <a:solidFill>
                  <a:srgbClr val="494949"/>
                </a:solidFill>
                <a:latin typeface="Calibri"/>
                <a:cs typeface="Calibri"/>
              </a:rPr>
              <a:t>Pointer</a:t>
            </a:r>
            <a:r>
              <a:rPr dirty="0" sz="1900" spc="-22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00" spc="204">
                <a:solidFill>
                  <a:srgbClr val="444444"/>
                </a:solidFill>
                <a:latin typeface="Calibri"/>
                <a:cs typeface="Calibri"/>
              </a:rPr>
              <a:t>Exception).</a:t>
            </a:r>
            <a:endParaRPr sz="1900">
              <a:latin typeface="Calibri"/>
              <a:cs typeface="Calibri"/>
            </a:endParaRPr>
          </a:p>
          <a:p>
            <a:pPr algn="just" marL="483870" marR="809625" indent="-1270">
              <a:lnSpc>
                <a:spcPct val="122000"/>
              </a:lnSpc>
              <a:spcBef>
                <a:spcPts val="2165"/>
              </a:spcBef>
            </a:pPr>
            <a:r>
              <a:rPr dirty="0" sz="1900" spc="140">
                <a:solidFill>
                  <a:srgbClr val="4D4D4D"/>
                </a:solidFill>
                <a:latin typeface="Calibri"/>
                <a:cs typeface="Calibri"/>
              </a:rPr>
              <a:t>Patrón</a:t>
            </a:r>
            <a:r>
              <a:rPr dirty="0" sz="1900" spc="-11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145">
                <a:solidFill>
                  <a:srgbClr val="465B74"/>
                </a:solidFill>
                <a:latin typeface="Calibri"/>
                <a:cs typeface="Calibri"/>
              </a:rPr>
              <a:t>Creacional</a:t>
            </a:r>
            <a:r>
              <a:rPr dirty="0" sz="1900" spc="95">
                <a:solidFill>
                  <a:srgbClr val="465B74"/>
                </a:solidFill>
                <a:latin typeface="Calibri"/>
                <a:cs typeface="Calibri"/>
              </a:rPr>
              <a:t> </a:t>
            </a:r>
            <a:r>
              <a:rPr dirty="0" sz="1900" spc="114">
                <a:solidFill>
                  <a:srgbClr val="4D4D4D"/>
                </a:solidFill>
                <a:latin typeface="Calibri"/>
                <a:cs typeface="Calibri"/>
              </a:rPr>
              <a:t>Fábrica:</a:t>
            </a:r>
            <a:r>
              <a:rPr dirty="0" sz="1900" spc="16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135">
                <a:solidFill>
                  <a:srgbClr val="494949"/>
                </a:solidFill>
                <a:latin typeface="Calibri"/>
                <a:cs typeface="Calibri"/>
              </a:rPr>
              <a:t>La</a:t>
            </a:r>
            <a:r>
              <a:rPr dirty="0" sz="1900" spc="13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4D4D4D"/>
                </a:solidFill>
                <a:latin typeface="Calibri"/>
                <a:cs typeface="Calibri"/>
              </a:rPr>
              <a:t>interfaz</a:t>
            </a:r>
            <a:r>
              <a:rPr dirty="0" sz="1900" spc="1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62708E"/>
                </a:solidFill>
                <a:latin typeface="Calibri"/>
                <a:cs typeface="Calibri"/>
              </a:rPr>
              <a:t>Us</a:t>
            </a:r>
            <a:r>
              <a:rPr dirty="0" sz="1900" spc="-100">
                <a:solidFill>
                  <a:srgbClr val="62708E"/>
                </a:solidFill>
                <a:latin typeface="Calibri"/>
                <a:cs typeface="Calibri"/>
              </a:rPr>
              <a:t> </a:t>
            </a:r>
            <a:r>
              <a:rPr dirty="0" sz="1900" spc="270">
                <a:solidFill>
                  <a:srgbClr val="425464"/>
                </a:solidFill>
                <a:latin typeface="Calibri"/>
                <a:cs typeface="Calibri"/>
              </a:rPr>
              <a:t>uario</a:t>
            </a:r>
            <a:r>
              <a:rPr dirty="0" sz="1900" spc="270">
                <a:solidFill>
                  <a:srgbClr val="464646"/>
                </a:solidFill>
                <a:latin typeface="Calibri"/>
                <a:cs typeface="Calibri"/>
              </a:rPr>
              <a:t>Factor</a:t>
            </a:r>
            <a:r>
              <a:rPr dirty="0" sz="1900" spc="-10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415972"/>
                </a:solidFill>
                <a:latin typeface="Calibri"/>
                <a:cs typeface="Calibri"/>
              </a:rPr>
              <a:t>y</a:t>
            </a:r>
            <a:r>
              <a:rPr dirty="0" sz="1900" spc="260">
                <a:solidFill>
                  <a:srgbClr val="415972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4D4D4D"/>
                </a:solidFill>
                <a:latin typeface="Calibri"/>
                <a:cs typeface="Calibri"/>
              </a:rPr>
              <a:t>y</a:t>
            </a:r>
            <a:r>
              <a:rPr dirty="0" sz="1900" spc="14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25">
                <a:solidFill>
                  <a:srgbClr val="3B3B3B"/>
                </a:solidFill>
                <a:latin typeface="Calibri"/>
                <a:cs typeface="Calibri"/>
              </a:rPr>
              <a:t>sus </a:t>
            </a:r>
            <a:r>
              <a:rPr dirty="0" sz="1900" spc="105">
                <a:solidFill>
                  <a:srgbClr val="494949"/>
                </a:solidFill>
                <a:latin typeface="Calibri"/>
                <a:cs typeface="Calibri"/>
              </a:rPr>
              <a:t>derivaciones</a:t>
            </a:r>
            <a:r>
              <a:rPr dirty="0" sz="1900" spc="27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00" spc="114">
                <a:solidFill>
                  <a:srgbClr val="4D4D4D"/>
                </a:solidFill>
                <a:latin typeface="Calibri"/>
                <a:cs typeface="Calibri"/>
              </a:rPr>
              <a:t>asumen </a:t>
            </a:r>
            <a:r>
              <a:rPr dirty="0" sz="1900" spc="50">
                <a:solidFill>
                  <a:srgbClr val="607485"/>
                </a:solidFill>
                <a:latin typeface="Calibri"/>
                <a:cs typeface="Calibri"/>
              </a:rPr>
              <a:t>la</a:t>
            </a:r>
            <a:r>
              <a:rPr dirty="0" sz="1900" spc="-10">
                <a:solidFill>
                  <a:srgbClr val="607485"/>
                </a:solidFill>
                <a:latin typeface="Calibri"/>
                <a:cs typeface="Calibri"/>
              </a:rPr>
              <a:t> </a:t>
            </a:r>
            <a:r>
              <a:rPr dirty="0" sz="1900" spc="110">
                <a:solidFill>
                  <a:srgbClr val="4D4D4D"/>
                </a:solidFill>
                <a:latin typeface="Calibri"/>
                <a:cs typeface="Calibri"/>
              </a:rPr>
              <a:t>instanciación</a:t>
            </a:r>
            <a:r>
              <a:rPr dirty="0" sz="1900" spc="22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424242"/>
                </a:solidFill>
                <a:latin typeface="Calibri"/>
                <a:cs typeface="Calibri"/>
              </a:rPr>
              <a:t>controlando</a:t>
            </a:r>
            <a:r>
              <a:rPr dirty="0" sz="1900" spc="254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494949"/>
                </a:solidFill>
                <a:latin typeface="Calibri"/>
                <a:cs typeface="Calibri"/>
              </a:rPr>
              <a:t>los</a:t>
            </a:r>
            <a:r>
              <a:rPr dirty="0" sz="1900" spc="114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545454"/>
                </a:solidFill>
                <a:latin typeface="Calibri"/>
                <a:cs typeface="Calibri"/>
              </a:rPr>
              <a:t>roles</a:t>
            </a:r>
            <a:r>
              <a:rPr dirty="0" sz="1900" spc="1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494949"/>
                </a:solidFill>
                <a:latin typeface="Calibri"/>
                <a:cs typeface="Calibri"/>
              </a:rPr>
              <a:t>de </a:t>
            </a:r>
            <a:r>
              <a:rPr dirty="0" sz="1900" spc="105">
                <a:solidFill>
                  <a:srgbClr val="464646"/>
                </a:solidFill>
                <a:latin typeface="Calibri"/>
                <a:cs typeface="Calibri"/>
              </a:rPr>
              <a:t>seguridad</a:t>
            </a:r>
            <a:r>
              <a:rPr dirty="0" sz="1900" spc="8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120">
                <a:solidFill>
                  <a:srgbClr val="4B4B4B"/>
                </a:solidFill>
                <a:latin typeface="Calibri"/>
                <a:cs typeface="Calibri"/>
              </a:rPr>
              <a:t>de</a:t>
            </a:r>
            <a:r>
              <a:rPr dirty="0" sz="1900" spc="10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 spc="95">
                <a:solidFill>
                  <a:srgbClr val="3F3F3F"/>
                </a:solidFill>
                <a:latin typeface="Calibri"/>
                <a:cs typeface="Calibri"/>
              </a:rPr>
              <a:t>manera</a:t>
            </a:r>
            <a:r>
              <a:rPr dirty="0" sz="1900" spc="3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900" spc="60">
                <a:solidFill>
                  <a:srgbClr val="464646"/>
                </a:solidFill>
                <a:latin typeface="Calibri"/>
                <a:cs typeface="Calibri"/>
              </a:rPr>
              <a:t>centralizada.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6176" y="2638663"/>
            <a:ext cx="8465710" cy="659665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5500" spc="-10">
                <a:solidFill>
                  <a:srgbClr val="082646"/>
                </a:solidFill>
              </a:rPr>
              <a:t>M3:</a:t>
            </a:r>
            <a:r>
              <a:rPr dirty="0" sz="5500" spc="-295">
                <a:solidFill>
                  <a:srgbClr val="082646"/>
                </a:solidFill>
              </a:rPr>
              <a:t> </a:t>
            </a:r>
            <a:r>
              <a:rPr dirty="0" sz="5500" spc="-45">
                <a:solidFill>
                  <a:srgbClr val="0C2B52"/>
                </a:solidFill>
              </a:rPr>
              <a:t>Procesamiento</a:t>
            </a:r>
            <a:r>
              <a:rPr dirty="0" sz="5500" spc="-15">
                <a:solidFill>
                  <a:srgbClr val="0C2B52"/>
                </a:solidFill>
              </a:rPr>
              <a:t> </a:t>
            </a:r>
            <a:r>
              <a:rPr dirty="0" sz="5500" spc="-114">
                <a:solidFill>
                  <a:srgbClr val="0A2644"/>
                </a:solidFill>
              </a:rPr>
              <a:t>de</a:t>
            </a:r>
            <a:r>
              <a:rPr dirty="0" sz="5500" spc="-185">
                <a:solidFill>
                  <a:srgbClr val="0A2644"/>
                </a:solidFill>
              </a:rPr>
              <a:t> </a:t>
            </a:r>
            <a:r>
              <a:rPr dirty="0" sz="5500" spc="-10">
                <a:solidFill>
                  <a:srgbClr val="163159"/>
                </a:solidFill>
              </a:rPr>
              <a:t>Reservas</a:t>
            </a:r>
            <a:endParaRPr sz="5500"/>
          </a:p>
        </p:txBody>
      </p:sp>
      <p:sp>
        <p:nvSpPr>
          <p:cNvPr id="4" name="object 4"/>
          <p:cNvSpPr txBox="1"/>
          <p:nvPr/>
        </p:nvSpPr>
        <p:spPr>
          <a:xfrm>
            <a:off x="1255743" y="3162422"/>
            <a:ext cx="8216265" cy="4839335"/>
          </a:xfrm>
          <a:prstGeom prst="rect">
            <a:avLst/>
          </a:prstGeom>
        </p:spPr>
        <p:txBody>
          <a:bodyPr wrap="square" lIns="0" tIns="28384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2235"/>
              </a:spcBef>
            </a:pPr>
            <a:r>
              <a:rPr dirty="0" sz="3350" spc="-75">
                <a:solidFill>
                  <a:srgbClr val="182A5D"/>
                </a:solidFill>
                <a:latin typeface="Times New Roman"/>
                <a:cs typeface="Times New Roman"/>
              </a:rPr>
              <a:t>Builder,</a:t>
            </a:r>
            <a:r>
              <a:rPr dirty="0" sz="3350" spc="-40">
                <a:solidFill>
                  <a:srgbClr val="182A5D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052142"/>
                </a:solidFill>
                <a:latin typeface="Times New Roman"/>
                <a:cs typeface="Times New Roman"/>
              </a:rPr>
              <a:t>Strategy</a:t>
            </a:r>
            <a:r>
              <a:rPr dirty="0" sz="3350" spc="-65">
                <a:solidFill>
                  <a:srgbClr val="052142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052844"/>
                </a:solidFill>
                <a:latin typeface="Times New Roman"/>
                <a:cs typeface="Times New Roman"/>
              </a:rPr>
              <a:t>y</a:t>
            </a:r>
            <a:r>
              <a:rPr dirty="0" sz="3350" spc="-250">
                <a:solidFill>
                  <a:srgbClr val="052844"/>
                </a:solidFill>
                <a:latin typeface="Times New Roman"/>
                <a:cs typeface="Times New Roman"/>
              </a:rPr>
              <a:t> </a:t>
            </a:r>
            <a:r>
              <a:rPr dirty="0" sz="3350" spc="-10">
                <a:solidFill>
                  <a:srgbClr val="112644"/>
                </a:solidFill>
                <a:latin typeface="Times New Roman"/>
                <a:cs typeface="Times New Roman"/>
              </a:rPr>
              <a:t>Multihilos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1900" spc="50">
                <a:solidFill>
                  <a:srgbClr val="424242"/>
                </a:solidFill>
                <a:latin typeface="Calibri"/>
                <a:cs typeface="Calibri"/>
              </a:rPr>
              <a:t>Coordina</a:t>
            </a:r>
            <a:r>
              <a:rPr dirty="0" sz="1900" spc="22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7C93A1"/>
                </a:solidFill>
                <a:latin typeface="Calibri"/>
                <a:cs typeface="Calibri"/>
              </a:rPr>
              <a:t>la</a:t>
            </a:r>
            <a:r>
              <a:rPr dirty="0" sz="1900" spc="140">
                <a:solidFill>
                  <a:srgbClr val="7C93A1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F3F3F"/>
                </a:solidFill>
                <a:latin typeface="Calibri"/>
                <a:cs typeface="Calibri"/>
              </a:rPr>
              <a:t>lógica</a:t>
            </a:r>
            <a:r>
              <a:rPr dirty="0" sz="1900" spc="2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D5B66"/>
                </a:solidFill>
                <a:latin typeface="Calibri"/>
                <a:cs typeface="Calibri"/>
              </a:rPr>
              <a:t>financiera</a:t>
            </a:r>
            <a:r>
              <a:rPr dirty="0" sz="1900" spc="320">
                <a:solidFill>
                  <a:srgbClr val="4D5B6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B4B4B"/>
                </a:solidFill>
                <a:latin typeface="Calibri"/>
                <a:cs typeface="Calibri"/>
              </a:rPr>
              <a:t>entre</a:t>
            </a:r>
            <a:r>
              <a:rPr dirty="0" sz="1900" spc="21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24242"/>
                </a:solidFill>
                <a:latin typeface="Calibri"/>
                <a:cs typeface="Calibri"/>
              </a:rPr>
              <a:t>habitaciones</a:t>
            </a:r>
            <a:r>
              <a:rPr dirty="0" sz="1900" spc="38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3F5982"/>
                </a:solidFill>
                <a:latin typeface="Calibri"/>
                <a:cs typeface="Calibri"/>
              </a:rPr>
              <a:t>y</a:t>
            </a:r>
            <a:r>
              <a:rPr dirty="0" sz="1900" spc="190">
                <a:solidFill>
                  <a:srgbClr val="3F5982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424242"/>
                </a:solidFill>
                <a:latin typeface="Calibri"/>
                <a:cs typeface="Calibri"/>
              </a:rPr>
              <a:t>huéspedes.</a:t>
            </a:r>
            <a:endParaRPr sz="1900">
              <a:latin typeface="Calibri"/>
              <a:cs typeface="Calibri"/>
            </a:endParaRPr>
          </a:p>
          <a:p>
            <a:pPr marL="484505" marR="5080" indent="-2540">
              <a:lnSpc>
                <a:spcPct val="122000"/>
              </a:lnSpc>
              <a:spcBef>
                <a:spcPts val="1425"/>
              </a:spcBef>
            </a:pPr>
            <a:r>
              <a:rPr dirty="0" sz="1900" spc="140">
                <a:solidFill>
                  <a:srgbClr val="4D4D69"/>
                </a:solidFill>
                <a:latin typeface="Calibri"/>
                <a:cs typeface="Calibri"/>
              </a:rPr>
              <a:t>Patrón</a:t>
            </a:r>
            <a:r>
              <a:rPr dirty="0" sz="1900" spc="-25">
                <a:solidFill>
                  <a:srgbClr val="4D4D69"/>
                </a:solidFill>
                <a:latin typeface="Calibri"/>
                <a:cs typeface="Calibri"/>
              </a:rPr>
              <a:t> </a:t>
            </a:r>
            <a:r>
              <a:rPr dirty="0" sz="1900" spc="100">
                <a:solidFill>
                  <a:srgbClr val="4B4B4B"/>
                </a:solidFill>
                <a:latin typeface="Calibri"/>
                <a:cs typeface="Calibri"/>
              </a:rPr>
              <a:t>Builder:</a:t>
            </a:r>
            <a:r>
              <a:rPr dirty="0" sz="1900" spc="6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 spc="-65">
                <a:solidFill>
                  <a:srgbClr val="3F3F3F"/>
                </a:solidFill>
                <a:latin typeface="Calibri"/>
                <a:cs typeface="Calibri"/>
              </a:rPr>
              <a:t>ReservaBu</a:t>
            </a:r>
            <a:r>
              <a:rPr dirty="0" sz="1900" spc="-22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D4D4D"/>
                </a:solidFill>
                <a:latin typeface="Calibri"/>
                <a:cs typeface="Calibri"/>
              </a:rPr>
              <a:t>i\</a:t>
            </a:r>
            <a:r>
              <a:rPr dirty="0" sz="1900" spc="14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B4B4B"/>
                </a:solidFill>
                <a:latin typeface="Calibri"/>
                <a:cs typeface="Calibri"/>
              </a:rPr>
              <a:t>der</a:t>
            </a:r>
            <a:r>
              <a:rPr dirty="0" sz="1900" spc="14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525252"/>
                </a:solidFill>
                <a:latin typeface="Calibri"/>
                <a:cs typeface="Calibri"/>
              </a:rPr>
              <a:t>y</a:t>
            </a:r>
            <a:r>
              <a:rPr dirty="0" sz="1900" spc="16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64646"/>
                </a:solidFill>
                <a:latin typeface="Calibri"/>
                <a:cs typeface="Calibri"/>
              </a:rPr>
              <a:t>su</a:t>
            </a:r>
            <a:r>
              <a:rPr dirty="0" sz="1900" spc="44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100">
                <a:solidFill>
                  <a:srgbClr val="8C93A3"/>
                </a:solidFill>
                <a:latin typeface="Calibri"/>
                <a:cs typeface="Calibri"/>
              </a:rPr>
              <a:t>director</a:t>
            </a:r>
            <a:r>
              <a:rPr dirty="0" sz="1900" spc="160">
                <a:solidFill>
                  <a:srgbClr val="8C93A3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4B4B4B"/>
                </a:solidFill>
                <a:latin typeface="Calibri"/>
                <a:cs typeface="Calibri"/>
              </a:rPr>
              <a:t>ensamblan</a:t>
            </a:r>
            <a:r>
              <a:rPr dirty="0" sz="1900" spc="15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5B758A"/>
                </a:solidFill>
                <a:latin typeface="Calibri"/>
                <a:cs typeface="Calibri"/>
              </a:rPr>
              <a:t>de</a:t>
            </a:r>
            <a:r>
              <a:rPr dirty="0" sz="1900" spc="125">
                <a:solidFill>
                  <a:srgbClr val="5B758A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484848"/>
                </a:solidFill>
                <a:latin typeface="Calibri"/>
                <a:cs typeface="Calibri"/>
              </a:rPr>
              <a:t>forma </a:t>
            </a:r>
            <a:r>
              <a:rPr dirty="0" sz="1900">
                <a:solidFill>
                  <a:srgbClr val="4F4F4F"/>
                </a:solidFill>
                <a:latin typeface="Calibri"/>
                <a:cs typeface="Calibri"/>
              </a:rPr>
              <a:t>modular</a:t>
            </a:r>
            <a:r>
              <a:rPr dirty="0" sz="1900" spc="26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900" spc="110">
                <a:solidFill>
                  <a:srgbClr val="424242"/>
                </a:solidFill>
                <a:latin typeface="Calibri"/>
                <a:cs typeface="Calibri"/>
              </a:rPr>
              <a:t>objetos</a:t>
            </a:r>
            <a:r>
              <a:rPr dirty="0" sz="1900" spc="19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84848"/>
                </a:solidFill>
                <a:latin typeface="Calibri"/>
                <a:cs typeface="Calibri"/>
              </a:rPr>
              <a:t>Reserva</a:t>
            </a:r>
            <a:r>
              <a:rPr dirty="0" sz="1900" spc="16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900" spc="55">
                <a:solidFill>
                  <a:srgbClr val="414141"/>
                </a:solidFill>
                <a:latin typeface="Calibri"/>
                <a:cs typeface="Calibri"/>
              </a:rPr>
              <a:t>altamente</a:t>
            </a:r>
            <a:r>
              <a:rPr dirty="0" sz="1900" spc="29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1900" spc="100">
                <a:solidFill>
                  <a:srgbClr val="484848"/>
                </a:solidFill>
                <a:latin typeface="Calibri"/>
                <a:cs typeface="Calibri"/>
              </a:rPr>
              <a:t>complejos</a:t>
            </a:r>
            <a:r>
              <a:rPr dirty="0" sz="1900" spc="30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444444"/>
                </a:solidFill>
                <a:latin typeface="Calibri"/>
                <a:cs typeface="Calibri"/>
              </a:rPr>
              <a:t>evitando</a:t>
            </a:r>
            <a:r>
              <a:rPr dirty="0" sz="1900" spc="19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900" spc="130">
                <a:solidFill>
                  <a:srgbClr val="414141"/>
                </a:solidFill>
                <a:latin typeface="Calibri"/>
                <a:cs typeface="Calibri"/>
              </a:rPr>
              <a:t>constructores </a:t>
            </a:r>
            <a:r>
              <a:rPr dirty="0" sz="1900" spc="114">
                <a:solidFill>
                  <a:srgbClr val="4B4B4B"/>
                </a:solidFill>
                <a:latin typeface="Calibri"/>
                <a:cs typeface="Calibri"/>
              </a:rPr>
              <a:t>masivos</a:t>
            </a:r>
            <a:r>
              <a:rPr dirty="0" sz="1900" spc="17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 spc="120">
                <a:solidFill>
                  <a:srgbClr val="464646"/>
                </a:solidFill>
                <a:latin typeface="Calibri"/>
                <a:cs typeface="Calibri"/>
              </a:rPr>
              <a:t>de</a:t>
            </a:r>
            <a:r>
              <a:rPr dirty="0" sz="1900" spc="9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114">
                <a:solidFill>
                  <a:srgbClr val="494949"/>
                </a:solidFill>
                <a:latin typeface="Calibri"/>
                <a:cs typeface="Calibri"/>
              </a:rPr>
              <a:t>código</a:t>
            </a:r>
            <a:r>
              <a:rPr dirty="0" sz="1900" spc="12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464646"/>
                </a:solidFill>
                <a:latin typeface="Calibri"/>
                <a:cs typeface="Calibri"/>
              </a:rPr>
              <a:t>rígido.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00">
              <a:latin typeface="Calibri"/>
              <a:cs typeface="Calibri"/>
            </a:endParaRPr>
          </a:p>
          <a:p>
            <a:pPr marL="483870" marR="967105" indent="-1270">
              <a:lnSpc>
                <a:spcPct val="119300"/>
              </a:lnSpc>
            </a:pPr>
            <a:r>
              <a:rPr dirty="0" sz="1900" spc="140">
                <a:solidFill>
                  <a:srgbClr val="525969"/>
                </a:solidFill>
                <a:latin typeface="Calibri"/>
                <a:cs typeface="Calibri"/>
              </a:rPr>
              <a:t>Patrón</a:t>
            </a:r>
            <a:r>
              <a:rPr dirty="0" sz="1900" spc="105">
                <a:solidFill>
                  <a:srgbClr val="525969"/>
                </a:solidFill>
                <a:latin typeface="Calibri"/>
                <a:cs typeface="Calibri"/>
              </a:rPr>
              <a:t> </a:t>
            </a:r>
            <a:r>
              <a:rPr dirty="0" sz="1900" spc="155">
                <a:solidFill>
                  <a:srgbClr val="3D4B5B"/>
                </a:solidFill>
                <a:latin typeface="Calibri"/>
                <a:cs typeface="Calibri"/>
              </a:rPr>
              <a:t>Strategy:</a:t>
            </a:r>
            <a:r>
              <a:rPr dirty="0" sz="1900" spc="204">
                <a:solidFill>
                  <a:srgbClr val="3D4B5B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4B4B4B"/>
                </a:solidFill>
                <a:latin typeface="Calibri"/>
                <a:cs typeface="Calibri"/>
              </a:rPr>
              <a:t>Interfaz</a:t>
            </a:r>
            <a:r>
              <a:rPr dirty="0" sz="1900" spc="22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24242"/>
                </a:solidFill>
                <a:latin typeface="Calibri"/>
                <a:cs typeface="Calibri"/>
              </a:rPr>
              <a:t>Es</a:t>
            </a:r>
            <a:r>
              <a:rPr dirty="0" sz="1900">
                <a:solidFill>
                  <a:srgbClr val="56647E"/>
                </a:solidFill>
                <a:latin typeface="Calibri"/>
                <a:cs typeface="Calibri"/>
              </a:rPr>
              <a:t>t</a:t>
            </a:r>
            <a:r>
              <a:rPr dirty="0" sz="1900">
                <a:solidFill>
                  <a:srgbClr val="4B4B4B"/>
                </a:solidFill>
                <a:latin typeface="Calibri"/>
                <a:cs typeface="Calibri"/>
              </a:rPr>
              <a:t>rateg</a:t>
            </a:r>
            <a:r>
              <a:rPr dirty="0" sz="1900">
                <a:solidFill>
                  <a:srgbClr val="464646"/>
                </a:solidFill>
                <a:latin typeface="Calibri"/>
                <a:cs typeface="Calibri"/>
              </a:rPr>
              <a:t>iaPago</a:t>
            </a:r>
            <a:r>
              <a:rPr dirty="0" sz="1900" spc="20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95">
                <a:solidFill>
                  <a:srgbClr val="4D4D4D"/>
                </a:solidFill>
                <a:latin typeface="Calibri"/>
                <a:cs typeface="Calibri"/>
              </a:rPr>
              <a:t>para</a:t>
            </a:r>
            <a:r>
              <a:rPr dirty="0" sz="1900" spc="7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120">
                <a:solidFill>
                  <a:srgbClr val="4D4D4D"/>
                </a:solidFill>
                <a:latin typeface="Calibri"/>
                <a:cs typeface="Calibri"/>
              </a:rPr>
              <a:t>procesar</a:t>
            </a:r>
            <a:r>
              <a:rPr dirty="0" sz="1900" spc="28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4F4F4F"/>
                </a:solidFill>
                <a:latin typeface="Calibri"/>
                <a:cs typeface="Calibri"/>
              </a:rPr>
              <a:t>pagos </a:t>
            </a:r>
            <a:r>
              <a:rPr dirty="0" sz="1900" spc="85">
                <a:solidFill>
                  <a:srgbClr val="464646"/>
                </a:solidFill>
                <a:latin typeface="Calibri"/>
                <a:cs typeface="Calibri"/>
              </a:rPr>
              <a:t>dinámicamente</a:t>
            </a:r>
            <a:r>
              <a:rPr dirty="0" sz="1900" spc="34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95">
                <a:solidFill>
                  <a:srgbClr val="494949"/>
                </a:solidFill>
                <a:latin typeface="Calibri"/>
                <a:cs typeface="Calibri"/>
              </a:rPr>
              <a:t>con</a:t>
            </a:r>
            <a:r>
              <a:rPr dirty="0" sz="1900" spc="31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00" spc="95">
                <a:solidFill>
                  <a:srgbClr val="484848"/>
                </a:solidFill>
                <a:latin typeface="Calibri"/>
                <a:cs typeface="Calibri"/>
              </a:rPr>
              <a:t>efectivo,</a:t>
            </a:r>
            <a:r>
              <a:rPr dirty="0" sz="1900" spc="14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3D3D3D"/>
                </a:solidFill>
                <a:latin typeface="Calibri"/>
                <a:cs typeface="Calibri"/>
              </a:rPr>
              <a:t>tarjeta</a:t>
            </a:r>
            <a:r>
              <a:rPr dirty="0" sz="1900" spc="7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900" spc="120">
                <a:solidFill>
                  <a:srgbClr val="A3B3C3"/>
                </a:solidFill>
                <a:latin typeface="Calibri"/>
                <a:cs typeface="Calibri"/>
              </a:rPr>
              <a:t>o</a:t>
            </a:r>
            <a:r>
              <a:rPr dirty="0" sz="1900" spc="70">
                <a:solidFill>
                  <a:srgbClr val="A3B3C3"/>
                </a:solidFill>
                <a:latin typeface="Calibri"/>
                <a:cs typeface="Calibri"/>
              </a:rPr>
              <a:t> </a:t>
            </a:r>
            <a:r>
              <a:rPr dirty="0" sz="1900" spc="65">
                <a:solidFill>
                  <a:srgbClr val="3D3D3D"/>
                </a:solidFill>
                <a:latin typeface="Calibri"/>
                <a:cs typeface="Calibri"/>
              </a:rPr>
              <a:t>billeteras</a:t>
            </a:r>
            <a:r>
              <a:rPr dirty="0" sz="1900" spc="19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444444"/>
                </a:solidFill>
                <a:latin typeface="Calibri"/>
                <a:cs typeface="Calibri"/>
              </a:rPr>
              <a:t>digitales.</a:t>
            </a:r>
            <a:endParaRPr sz="1900">
              <a:latin typeface="Calibri"/>
              <a:cs typeface="Calibri"/>
            </a:endParaRPr>
          </a:p>
          <a:p>
            <a:pPr marL="484505" marR="664845" indent="-2540">
              <a:lnSpc>
                <a:spcPct val="125400"/>
              </a:lnSpc>
              <a:spcBef>
                <a:spcPts val="2210"/>
              </a:spcBef>
            </a:pPr>
            <a:r>
              <a:rPr dirty="0" sz="1900" spc="180">
                <a:solidFill>
                  <a:srgbClr val="4D4D4D"/>
                </a:solidFill>
                <a:latin typeface="Calibri"/>
                <a:cs typeface="Calibri"/>
              </a:rPr>
              <a:t>Executor</a:t>
            </a:r>
            <a:r>
              <a:rPr dirty="0" sz="1900" spc="10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145">
                <a:solidFill>
                  <a:srgbClr val="4B4B4B"/>
                </a:solidFill>
                <a:latin typeface="Calibri"/>
                <a:cs typeface="Calibri"/>
              </a:rPr>
              <a:t>Service</a:t>
            </a:r>
            <a:r>
              <a:rPr dirty="0" sz="1900" spc="11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 spc="130">
                <a:solidFill>
                  <a:srgbClr val="494949"/>
                </a:solidFill>
                <a:latin typeface="Calibri"/>
                <a:cs typeface="Calibri"/>
              </a:rPr>
              <a:t>Concurrente:</a:t>
            </a:r>
            <a:r>
              <a:rPr dirty="0" sz="1900" spc="18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00" spc="135">
                <a:solidFill>
                  <a:srgbClr val="525252"/>
                </a:solidFill>
                <a:latin typeface="Calibri"/>
                <a:cs typeface="Calibri"/>
              </a:rPr>
              <a:t>La</a:t>
            </a:r>
            <a:r>
              <a:rPr dirty="0" sz="1900" spc="7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484848"/>
                </a:solidFill>
                <a:latin typeface="Calibri"/>
                <a:cs typeface="Calibri"/>
              </a:rPr>
              <a:t>pasarela</a:t>
            </a:r>
            <a:r>
              <a:rPr dirty="0" sz="1900" spc="9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900" spc="90">
                <a:solidFill>
                  <a:srgbClr val="505050"/>
                </a:solidFill>
                <a:latin typeface="Calibri"/>
                <a:cs typeface="Calibri"/>
              </a:rPr>
              <a:t>se</a:t>
            </a:r>
            <a:r>
              <a:rPr dirty="0" sz="1900" spc="28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dirty="0" sz="1900" spc="125">
                <a:solidFill>
                  <a:srgbClr val="424242"/>
                </a:solidFill>
                <a:latin typeface="Calibri"/>
                <a:cs typeface="Calibri"/>
              </a:rPr>
              <a:t>ejecuta </a:t>
            </a:r>
            <a:r>
              <a:rPr dirty="0" sz="1800" spc="170">
                <a:solidFill>
                  <a:srgbClr val="464646"/>
                </a:solidFill>
                <a:latin typeface="Calibri"/>
                <a:cs typeface="Calibri"/>
              </a:rPr>
              <a:t>asincrónicamente</a:t>
            </a:r>
            <a:r>
              <a:rPr dirty="0" sz="1800" spc="9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800" spc="135">
                <a:solidFill>
                  <a:srgbClr val="424242"/>
                </a:solidFill>
                <a:latin typeface="Calibri"/>
                <a:cs typeface="Calibri"/>
              </a:rPr>
              <a:t>mediante</a:t>
            </a:r>
            <a:r>
              <a:rPr dirty="0" sz="1800" spc="31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84848"/>
                </a:solidFill>
                <a:latin typeface="Calibri"/>
                <a:cs typeface="Calibri"/>
              </a:rPr>
              <a:t>Execut</a:t>
            </a:r>
            <a:r>
              <a:rPr dirty="0" sz="1800" spc="-21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4B4B4B"/>
                </a:solidFill>
                <a:latin typeface="Calibri"/>
                <a:cs typeface="Calibri"/>
              </a:rPr>
              <a:t>orserv</a:t>
            </a:r>
            <a:r>
              <a:rPr dirty="0" sz="1800" spc="-22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3F3F3F"/>
                </a:solidFill>
                <a:latin typeface="Calibri"/>
                <a:cs typeface="Calibri"/>
              </a:rPr>
              <a:t>ice</a:t>
            </a:r>
            <a:r>
              <a:rPr dirty="0" sz="1800" spc="409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4F4F4F"/>
                </a:solidFill>
                <a:latin typeface="Calibri"/>
                <a:cs typeface="Calibri"/>
              </a:rPr>
              <a:t>y</a:t>
            </a:r>
            <a:r>
              <a:rPr dirty="0" sz="1800" spc="13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800" spc="-40">
                <a:solidFill>
                  <a:srgbClr val="414141"/>
                </a:solidFill>
                <a:latin typeface="Calibri"/>
                <a:cs typeface="Calibri"/>
              </a:rPr>
              <a:t>Runnabte,</a:t>
            </a:r>
            <a:r>
              <a:rPr dirty="0" sz="1800" spc="204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1800" spc="125">
                <a:solidFill>
                  <a:srgbClr val="444444"/>
                </a:solidFill>
                <a:latin typeface="Calibri"/>
                <a:cs typeface="Calibri"/>
              </a:rPr>
              <a:t>evitando </a:t>
            </a:r>
            <a:r>
              <a:rPr dirty="0" sz="1900" spc="65">
                <a:solidFill>
                  <a:srgbClr val="444444"/>
                </a:solidFill>
                <a:latin typeface="Calibri"/>
                <a:cs typeface="Calibri"/>
              </a:rPr>
              <a:t>bloquear</a:t>
            </a:r>
            <a:r>
              <a:rPr dirty="0" sz="1900" spc="18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4B4B4B"/>
                </a:solidFill>
                <a:latin typeface="Calibri"/>
                <a:cs typeface="Calibri"/>
              </a:rPr>
              <a:t>la</a:t>
            </a:r>
            <a:r>
              <a:rPr dirty="0" sz="1900" spc="-2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4B4B4B"/>
                </a:solidFill>
                <a:latin typeface="Calibri"/>
                <a:cs typeface="Calibri"/>
              </a:rPr>
              <a:t>interfaz</a:t>
            </a:r>
            <a:r>
              <a:rPr dirty="0" sz="1900" spc="14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444444"/>
                </a:solidFill>
                <a:latin typeface="Calibri"/>
                <a:cs typeface="Calibri"/>
              </a:rPr>
              <a:t>gráfica</a:t>
            </a:r>
            <a:r>
              <a:rPr dirty="0" sz="1900" spc="3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4F4F4F"/>
                </a:solidFill>
                <a:latin typeface="Calibri"/>
                <a:cs typeface="Calibri"/>
              </a:rPr>
              <a:t>del</a:t>
            </a:r>
            <a:r>
              <a:rPr dirty="0" sz="1900" spc="2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900" spc="60">
                <a:solidFill>
                  <a:srgbClr val="484848"/>
                </a:solidFill>
                <a:latin typeface="Calibri"/>
                <a:cs typeface="Calibri"/>
              </a:rPr>
              <a:t>usuario.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920" y="10384889"/>
            <a:ext cx="130365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89990" algn="l"/>
              </a:tabLst>
            </a:pPr>
            <a:r>
              <a:rPr dirty="0" sz="1550" spc="50">
                <a:solidFill>
                  <a:srgbClr val="2BB8C4"/>
                </a:solidFill>
                <a:latin typeface="Calibri"/>
                <a:cs typeface="Calibri"/>
              </a:rPr>
              <a:t>USI</a:t>
            </a:r>
            <a:r>
              <a:rPr dirty="0" sz="1550" spc="-70">
                <a:solidFill>
                  <a:srgbClr val="2BB8C4"/>
                </a:solidFill>
                <a:latin typeface="Calibri"/>
                <a:cs typeface="Calibri"/>
              </a:rPr>
              <a:t> </a:t>
            </a:r>
            <a:r>
              <a:rPr dirty="0" sz="1550" spc="50">
                <a:solidFill>
                  <a:srgbClr val="26A0CF"/>
                </a:solidFill>
                <a:latin typeface="Calibri"/>
                <a:cs typeface="Calibri"/>
              </a:rPr>
              <a:t>L</a:t>
            </a:r>
            <a:r>
              <a:rPr dirty="0" sz="1550" spc="325">
                <a:solidFill>
                  <a:srgbClr val="26A0C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00A8CF"/>
                </a:solidFill>
                <a:latin typeface="Calibri"/>
                <a:cs typeface="Calibri"/>
              </a:rPr>
              <a:t>•</a:t>
            </a:r>
            <a:r>
              <a:rPr dirty="0" sz="1550" spc="245">
                <a:solidFill>
                  <a:srgbClr val="00A8CF"/>
                </a:solidFill>
                <a:latin typeface="Calibri"/>
                <a:cs typeface="Calibri"/>
              </a:rPr>
              <a:t> </a:t>
            </a:r>
            <a:r>
              <a:rPr dirty="0" sz="1550" spc="-25">
                <a:solidFill>
                  <a:srgbClr val="36A8CA"/>
                </a:solidFill>
                <a:latin typeface="Calibri"/>
                <a:cs typeface="Calibri"/>
              </a:rPr>
              <a:t>POO</a:t>
            </a:r>
            <a:r>
              <a:rPr dirty="0" sz="1550">
                <a:solidFill>
                  <a:srgbClr val="36A8CA"/>
                </a:solidFill>
                <a:latin typeface="Calibri"/>
                <a:cs typeface="Calibri"/>
              </a:rPr>
              <a:t>	</a:t>
            </a:r>
            <a:r>
              <a:rPr dirty="0" sz="1550" spc="-100">
                <a:solidFill>
                  <a:srgbClr val="36A8CA"/>
                </a:solidFill>
                <a:latin typeface="Calibri"/>
                <a:cs typeface="Calibri"/>
              </a:rPr>
              <a:t>I</a:t>
            </a:r>
            <a:r>
              <a:rPr dirty="0" sz="1550" spc="-150">
                <a:solidFill>
                  <a:srgbClr val="36A8CA"/>
                </a:solidFill>
                <a:latin typeface="Calibri"/>
                <a:cs typeface="Calibri"/>
              </a:rPr>
              <a:t> </a:t>
            </a:r>
            <a:r>
              <a:rPr dirty="0" sz="1550" spc="-50">
                <a:solidFill>
                  <a:srgbClr val="38A5CD"/>
                </a:solidFill>
                <a:latin typeface="Calibri"/>
                <a:cs typeface="Calibri"/>
              </a:rPr>
              <a:t>I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2212" y="958085"/>
            <a:ext cx="78531" cy="7381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4870" y="4303533"/>
            <a:ext cx="471189" cy="5340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41174" y="4303533"/>
            <a:ext cx="588987" cy="5340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01771" y="4303533"/>
            <a:ext cx="408364" cy="5340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070221" y="4303533"/>
            <a:ext cx="471189" cy="534015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19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400" spc="80">
                <a:solidFill>
                  <a:srgbClr val="082646"/>
                </a:solidFill>
              </a:rPr>
              <a:t>Módulos</a:t>
            </a:r>
            <a:r>
              <a:rPr dirty="0" sz="5400" spc="-20">
                <a:solidFill>
                  <a:srgbClr val="082646"/>
                </a:solidFill>
              </a:rPr>
              <a:t> </a:t>
            </a:r>
            <a:r>
              <a:rPr dirty="0" sz="5400">
                <a:solidFill>
                  <a:srgbClr val="051F41"/>
                </a:solidFill>
              </a:rPr>
              <a:t>Periféricos</a:t>
            </a:r>
            <a:r>
              <a:rPr dirty="0" sz="5400" spc="155">
                <a:solidFill>
                  <a:srgbClr val="051F41"/>
                </a:solidFill>
              </a:rPr>
              <a:t> </a:t>
            </a:r>
            <a:r>
              <a:rPr dirty="0" sz="5400" spc="90">
                <a:solidFill>
                  <a:srgbClr val="0E2646"/>
                </a:solidFill>
              </a:rPr>
              <a:t>(M4</a:t>
            </a:r>
            <a:r>
              <a:rPr dirty="0" sz="5400">
                <a:solidFill>
                  <a:srgbClr val="0E2646"/>
                </a:solidFill>
              </a:rPr>
              <a:t> </a:t>
            </a:r>
            <a:r>
              <a:rPr dirty="0" sz="5400" spc="50">
                <a:solidFill>
                  <a:srgbClr val="0C2642"/>
                </a:solidFill>
              </a:rPr>
              <a:t>-</a:t>
            </a:r>
            <a:r>
              <a:rPr dirty="0" sz="5400" spc="385">
                <a:solidFill>
                  <a:srgbClr val="0C2642"/>
                </a:solidFill>
              </a:rPr>
              <a:t> </a:t>
            </a:r>
            <a:r>
              <a:rPr dirty="0" sz="5400" spc="65">
                <a:solidFill>
                  <a:srgbClr val="0A2D4D"/>
                </a:solidFill>
              </a:rPr>
              <a:t>M7)</a:t>
            </a:r>
            <a:endParaRPr sz="5400"/>
          </a:p>
        </p:txBody>
      </p:sp>
      <p:sp>
        <p:nvSpPr>
          <p:cNvPr id="8" name="object 8"/>
          <p:cNvSpPr txBox="1"/>
          <p:nvPr/>
        </p:nvSpPr>
        <p:spPr>
          <a:xfrm>
            <a:off x="1660225" y="5135703"/>
            <a:ext cx="2075814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>
                <a:solidFill>
                  <a:srgbClr val="0C0C0C"/>
                </a:solidFill>
                <a:latin typeface="Calibri"/>
                <a:cs typeface="Calibri"/>
              </a:rPr>
              <a:t>M4:</a:t>
            </a:r>
            <a:r>
              <a:rPr dirty="0" sz="2200" spc="484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200" spc="260">
                <a:solidFill>
                  <a:srgbClr val="131313"/>
                </a:solidFill>
                <a:latin typeface="Calibri"/>
                <a:cs typeface="Calibri"/>
              </a:rPr>
              <a:t>Consumos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62981" y="5691515"/>
            <a:ext cx="2976880" cy="188277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4604" marR="28575" indent="-635">
              <a:lnSpc>
                <a:spcPct val="113599"/>
              </a:lnSpc>
              <a:spcBef>
                <a:spcPts val="145"/>
              </a:spcBef>
            </a:pPr>
            <a:r>
              <a:rPr dirty="0" sz="1800" spc="110">
                <a:solidFill>
                  <a:srgbClr val="464646"/>
                </a:solidFill>
                <a:latin typeface="Calibri"/>
                <a:cs typeface="Calibri"/>
              </a:rPr>
              <a:t>Cargos</a:t>
            </a:r>
            <a:r>
              <a:rPr dirty="0" sz="1800" spc="13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800" spc="90">
                <a:solidFill>
                  <a:srgbClr val="444444"/>
                </a:solidFill>
                <a:latin typeface="Calibri"/>
                <a:cs typeface="Calibri"/>
              </a:rPr>
              <a:t>del</a:t>
            </a:r>
            <a:r>
              <a:rPr dirty="0" sz="1800" spc="2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424242"/>
                </a:solidFill>
                <a:latin typeface="Calibri"/>
                <a:cs typeface="Calibri"/>
              </a:rPr>
              <a:t>Spa/Restaurante. </a:t>
            </a:r>
            <a:r>
              <a:rPr dirty="0" sz="1650" spc="80">
                <a:solidFill>
                  <a:srgbClr val="464646"/>
                </a:solidFill>
                <a:latin typeface="Calibri"/>
                <a:cs typeface="Calibri"/>
              </a:rPr>
              <a:t>Uso</a:t>
            </a:r>
            <a:r>
              <a:rPr dirty="0" sz="1650" spc="25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650" spc="80">
                <a:solidFill>
                  <a:srgbClr val="494949"/>
                </a:solidFill>
                <a:latin typeface="Calibri"/>
                <a:cs typeface="Calibri"/>
              </a:rPr>
              <a:t>de</a:t>
            </a:r>
            <a:r>
              <a:rPr dirty="0" sz="1650" spc="39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650" spc="175">
                <a:solidFill>
                  <a:srgbClr val="494949"/>
                </a:solidFill>
                <a:latin typeface="Calibri"/>
                <a:cs typeface="Calibri"/>
              </a:rPr>
              <a:t>Servic</a:t>
            </a:r>
            <a:r>
              <a:rPr dirty="0" sz="1650" spc="-18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650" spc="120">
                <a:solidFill>
                  <a:srgbClr val="4D4D4D"/>
                </a:solidFill>
                <a:latin typeface="Calibri"/>
                <a:cs typeface="Calibri"/>
              </a:rPr>
              <a:t>ioFac</a:t>
            </a:r>
            <a:r>
              <a:rPr dirty="0" sz="1650" spc="-17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650" spc="100">
                <a:solidFill>
                  <a:srgbClr val="484848"/>
                </a:solidFill>
                <a:latin typeface="Calibri"/>
                <a:cs typeface="Calibri"/>
              </a:rPr>
              <a:t>t</a:t>
            </a:r>
            <a:r>
              <a:rPr dirty="0" sz="1650" spc="-21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650" spc="125">
                <a:solidFill>
                  <a:srgbClr val="7E809E"/>
                </a:solidFill>
                <a:latin typeface="Calibri"/>
                <a:cs typeface="Calibri"/>
              </a:rPr>
              <a:t>ory</a:t>
            </a:r>
            <a:r>
              <a:rPr dirty="0" sz="1650" spc="105">
                <a:solidFill>
                  <a:srgbClr val="7E809E"/>
                </a:solidFill>
                <a:latin typeface="Calibri"/>
                <a:cs typeface="Calibri"/>
              </a:rPr>
              <a:t> </a:t>
            </a:r>
            <a:r>
              <a:rPr dirty="0" sz="1650" spc="85">
                <a:solidFill>
                  <a:srgbClr val="4F4F4F"/>
                </a:solidFill>
                <a:latin typeface="Calibri"/>
                <a:cs typeface="Calibri"/>
              </a:rPr>
              <a:t>y </a:t>
            </a:r>
            <a:r>
              <a:rPr dirty="0" sz="1900">
                <a:solidFill>
                  <a:srgbClr val="424242"/>
                </a:solidFill>
                <a:latin typeface="Calibri"/>
                <a:cs typeface="Calibri"/>
              </a:rPr>
              <a:t>programación</a:t>
            </a:r>
            <a:r>
              <a:rPr dirty="0" sz="1900" spc="254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4B4B4B"/>
                </a:solidFill>
                <a:latin typeface="Calibri"/>
                <a:cs typeface="Calibri"/>
              </a:rPr>
              <a:t>funcional </a:t>
            </a:r>
            <a:r>
              <a:rPr dirty="0" sz="1800">
                <a:solidFill>
                  <a:srgbClr val="494949"/>
                </a:solidFill>
                <a:latin typeface="Calibri"/>
                <a:cs typeface="Calibri"/>
              </a:rPr>
              <a:t>mediante</a:t>
            </a:r>
            <a:r>
              <a:rPr dirty="0" sz="1800" spc="90">
                <a:solidFill>
                  <a:srgbClr val="494949"/>
                </a:solidFill>
                <a:latin typeface="Calibri"/>
                <a:cs typeface="Calibri"/>
              </a:rPr>
              <a:t>  </a:t>
            </a:r>
            <a:r>
              <a:rPr dirty="0" sz="1800" spc="50">
                <a:solidFill>
                  <a:srgbClr val="4F4F4F"/>
                </a:solidFill>
                <a:latin typeface="Calibri"/>
                <a:cs typeface="Calibri"/>
              </a:rPr>
              <a:t>Streams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550" spc="75">
                <a:solidFill>
                  <a:srgbClr val="4D4D4D"/>
                </a:solidFill>
                <a:latin typeface="Calibri"/>
                <a:cs typeface="Calibri"/>
              </a:rPr>
              <a:t>(rap</a:t>
            </a:r>
            <a:r>
              <a:rPr dirty="0" sz="1550" spc="75">
                <a:solidFill>
                  <a:srgbClr val="899EBF"/>
                </a:solidFill>
                <a:latin typeface="Calibri"/>
                <a:cs typeface="Calibri"/>
              </a:rPr>
              <a:t>T</a:t>
            </a:r>
            <a:r>
              <a:rPr dirty="0" sz="1550" spc="75">
                <a:solidFill>
                  <a:srgbClr val="545454"/>
                </a:solidFill>
                <a:latin typeface="Calibri"/>
                <a:cs typeface="Calibri"/>
              </a:rPr>
              <a:t>oDou</a:t>
            </a:r>
            <a:r>
              <a:rPr dirty="0" sz="1550" spc="-19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464646"/>
                </a:solidFill>
                <a:latin typeface="Calibri"/>
                <a:cs typeface="Calibri"/>
              </a:rPr>
              <a:t>bt</a:t>
            </a:r>
            <a:r>
              <a:rPr dirty="0" sz="1550" spc="15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550" spc="100">
                <a:solidFill>
                  <a:srgbClr val="85A0B1"/>
                </a:solidFill>
                <a:latin typeface="Calibri"/>
                <a:cs typeface="Calibri"/>
              </a:rPr>
              <a:t>e</a:t>
            </a:r>
            <a:r>
              <a:rPr dirty="0" sz="1550" spc="100">
                <a:solidFill>
                  <a:srgbClr val="727272"/>
                </a:solidFill>
                <a:latin typeface="Calibri"/>
                <a:cs typeface="Calibri"/>
              </a:rPr>
              <a:t>(</a:t>
            </a:r>
            <a:r>
              <a:rPr dirty="0" sz="1550" spc="30">
                <a:solidFill>
                  <a:srgbClr val="727272"/>
                </a:solidFill>
                <a:latin typeface="Calibri"/>
                <a:cs typeface="Calibri"/>
              </a:rPr>
              <a:t> </a:t>
            </a:r>
            <a:r>
              <a:rPr dirty="0" sz="1550" spc="70">
                <a:solidFill>
                  <a:srgbClr val="4F4F4F"/>
                </a:solidFill>
                <a:latin typeface="Calibri"/>
                <a:cs typeface="Calibri"/>
              </a:rPr>
              <a:t>)</a:t>
            </a:r>
            <a:r>
              <a:rPr dirty="0" sz="1550" spc="1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550" spc="65">
                <a:solidFill>
                  <a:srgbClr val="484848"/>
                </a:solidFill>
                <a:latin typeface="Calibri"/>
                <a:cs typeface="Calibri"/>
              </a:rPr>
              <a:t>.</a:t>
            </a:r>
            <a:r>
              <a:rPr dirty="0" sz="1550" spc="-7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550" spc="130">
                <a:solidFill>
                  <a:srgbClr val="494949"/>
                </a:solidFill>
                <a:latin typeface="Calibri"/>
                <a:cs typeface="Calibri"/>
              </a:rPr>
              <a:t>s</a:t>
            </a:r>
            <a:r>
              <a:rPr dirty="0" sz="1550" spc="130">
                <a:solidFill>
                  <a:srgbClr val="545454"/>
                </a:solidFill>
                <a:latin typeface="Calibri"/>
                <a:cs typeface="Calibri"/>
              </a:rPr>
              <a:t>un</a:t>
            </a:r>
            <a:r>
              <a:rPr dirty="0" sz="1550" spc="105">
                <a:solidFill>
                  <a:srgbClr val="545454"/>
                </a:solidFill>
                <a:latin typeface="Calibri"/>
                <a:cs typeface="Calibri"/>
              </a:rPr>
              <a:t>  </a:t>
            </a:r>
            <a:r>
              <a:rPr dirty="0" sz="1550">
                <a:solidFill>
                  <a:srgbClr val="505050"/>
                </a:solidFill>
                <a:latin typeface="Calibri"/>
                <a:cs typeface="Calibri"/>
              </a:rPr>
              <a:t>))</a:t>
            </a:r>
            <a:r>
              <a:rPr dirty="0" sz="1550" spc="434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dirty="0" sz="1550" spc="195">
                <a:solidFill>
                  <a:srgbClr val="3D3D3D"/>
                </a:solidFill>
                <a:latin typeface="Calibri"/>
                <a:cs typeface="Calibri"/>
              </a:rPr>
              <a:t>para</a:t>
            </a:r>
            <a:endParaRPr sz="155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365"/>
              </a:spcBef>
            </a:pPr>
            <a:r>
              <a:rPr dirty="0" sz="1800">
                <a:solidFill>
                  <a:srgbClr val="484848"/>
                </a:solidFill>
                <a:latin typeface="Calibri"/>
                <a:cs typeface="Calibri"/>
              </a:rPr>
              <a:t>obtener</a:t>
            </a:r>
            <a:r>
              <a:rPr dirty="0" sz="1800" spc="29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4B4B4B"/>
                </a:solidFill>
                <a:latin typeface="Calibri"/>
                <a:cs typeface="Calibri"/>
              </a:rPr>
              <a:t>los</a:t>
            </a:r>
            <a:r>
              <a:rPr dirty="0" sz="1800" spc="16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4B4B4B"/>
                </a:solidFill>
                <a:latin typeface="Calibri"/>
                <a:cs typeface="Calibri"/>
              </a:rPr>
              <a:t>subtotales</a:t>
            </a:r>
            <a:r>
              <a:rPr dirty="0" sz="1800" spc="27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4444"/>
                </a:solidFill>
                <a:latin typeface="Calibri"/>
                <a:cs typeface="Calibri"/>
              </a:rPr>
              <a:t>netos.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0279" y="10401249"/>
            <a:ext cx="1303655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189990" algn="l"/>
              </a:tabLst>
            </a:pPr>
            <a:r>
              <a:rPr dirty="0" sz="1400">
                <a:solidFill>
                  <a:srgbClr val="2BB8C4"/>
                </a:solidFill>
                <a:latin typeface="Calibri"/>
                <a:cs typeface="Calibri"/>
              </a:rPr>
              <a:t>USI</a:t>
            </a:r>
            <a:r>
              <a:rPr dirty="0" sz="1400" spc="265">
                <a:solidFill>
                  <a:srgbClr val="2BB8C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6A0CF"/>
                </a:solidFill>
                <a:latin typeface="Calibri"/>
                <a:cs typeface="Calibri"/>
              </a:rPr>
              <a:t>L</a:t>
            </a:r>
            <a:r>
              <a:rPr dirty="0" sz="1400" spc="105">
                <a:solidFill>
                  <a:srgbClr val="26A0CF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11B3D8"/>
                </a:solidFill>
                <a:latin typeface="Calibri"/>
                <a:cs typeface="Calibri"/>
              </a:rPr>
              <a:t>•</a:t>
            </a:r>
            <a:r>
              <a:rPr dirty="0" sz="1400" spc="345">
                <a:solidFill>
                  <a:srgbClr val="11B3D8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36A8CA"/>
                </a:solidFill>
                <a:latin typeface="Calibri"/>
                <a:cs typeface="Calibri"/>
              </a:rPr>
              <a:t>POO</a:t>
            </a:r>
            <a:r>
              <a:rPr dirty="0" sz="1400">
                <a:solidFill>
                  <a:srgbClr val="36A8CA"/>
                </a:solidFill>
                <a:latin typeface="Calibri"/>
                <a:cs typeface="Calibri"/>
              </a:rPr>
              <a:t>	</a:t>
            </a:r>
            <a:r>
              <a:rPr dirty="0" sz="1400" spc="-65">
                <a:solidFill>
                  <a:srgbClr val="36A8CA"/>
                </a:solidFill>
                <a:latin typeface="Calibri"/>
                <a:cs typeface="Calibri"/>
              </a:rPr>
              <a:t>I</a:t>
            </a:r>
            <a:r>
              <a:rPr dirty="0" sz="1400" spc="-114">
                <a:solidFill>
                  <a:srgbClr val="36A8CA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38A5CD"/>
                </a:solidFill>
                <a:latin typeface="Calibri"/>
                <a:cs typeface="Calibri"/>
              </a:rPr>
              <a:t>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8675" y="5143556"/>
            <a:ext cx="3274695" cy="2427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7850" algn="l"/>
              </a:tabLst>
            </a:pPr>
            <a:r>
              <a:rPr dirty="0" sz="2200" spc="-25">
                <a:solidFill>
                  <a:srgbClr val="181818"/>
                </a:solidFill>
                <a:latin typeface="Calibri"/>
                <a:cs typeface="Calibri"/>
              </a:rPr>
              <a:t>M5:</a:t>
            </a:r>
            <a:r>
              <a:rPr dirty="0" sz="2200">
                <a:solidFill>
                  <a:srgbClr val="181818"/>
                </a:solidFill>
                <a:latin typeface="Calibri"/>
                <a:cs typeface="Calibri"/>
              </a:rPr>
              <a:t>	</a:t>
            </a:r>
            <a:r>
              <a:rPr dirty="0" sz="2200" spc="235">
                <a:solidFill>
                  <a:srgbClr val="0A0A0A"/>
                </a:solidFill>
                <a:latin typeface="Calibri"/>
                <a:cs typeface="Calibri"/>
              </a:rPr>
              <a:t>Limpieza</a:t>
            </a:r>
            <a:endParaRPr sz="2200">
              <a:latin typeface="Calibri"/>
              <a:cs typeface="Calibri"/>
            </a:endParaRPr>
          </a:p>
          <a:p>
            <a:pPr marL="24130">
              <a:lnSpc>
                <a:spcPct val="100000"/>
              </a:lnSpc>
              <a:spcBef>
                <a:spcPts val="2175"/>
              </a:spcBef>
            </a:pPr>
            <a:r>
              <a:rPr dirty="0" sz="1650" spc="110">
                <a:solidFill>
                  <a:srgbClr val="444444"/>
                </a:solidFill>
                <a:latin typeface="Calibri"/>
                <a:cs typeface="Calibri"/>
              </a:rPr>
              <a:t>Actualización</a:t>
            </a:r>
            <a:r>
              <a:rPr dirty="0" sz="1650" spc="26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650" spc="125">
                <a:solidFill>
                  <a:srgbClr val="3B3B3B"/>
                </a:solidFill>
                <a:latin typeface="Calibri"/>
                <a:cs typeface="Calibri"/>
              </a:rPr>
              <a:t>asíncrona</a:t>
            </a:r>
            <a:r>
              <a:rPr dirty="0" sz="1650" spc="24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1650" spc="120">
                <a:solidFill>
                  <a:srgbClr val="4B5464"/>
                </a:solidFill>
                <a:latin typeface="Calibri"/>
                <a:cs typeface="Calibri"/>
              </a:rPr>
              <a:t>de</a:t>
            </a:r>
            <a:endParaRPr sz="165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20"/>
              </a:spcBef>
            </a:pPr>
            <a:r>
              <a:rPr dirty="0" sz="1800" spc="35">
                <a:solidFill>
                  <a:srgbClr val="494949"/>
                </a:solidFill>
                <a:latin typeface="Calibri"/>
                <a:cs typeface="Calibri"/>
              </a:rPr>
              <a:t>habitaciones.</a:t>
            </a:r>
            <a:endParaRPr sz="1800">
              <a:latin typeface="Calibri"/>
              <a:cs typeface="Calibri"/>
            </a:endParaRPr>
          </a:p>
          <a:p>
            <a:pPr marL="26670">
              <a:lnSpc>
                <a:spcPct val="100000"/>
              </a:lnSpc>
              <a:spcBef>
                <a:spcPts val="715"/>
              </a:spcBef>
            </a:pPr>
            <a:r>
              <a:rPr dirty="0" sz="1400" spc="190">
                <a:solidFill>
                  <a:srgbClr val="4B4B4B"/>
                </a:solidFill>
                <a:latin typeface="Calibri"/>
                <a:cs typeface="Calibri"/>
              </a:rPr>
              <a:t>Tarea</a:t>
            </a:r>
            <a:r>
              <a:rPr dirty="0" sz="1400" spc="190">
                <a:solidFill>
                  <a:srgbClr val="494949"/>
                </a:solidFill>
                <a:latin typeface="Calibri"/>
                <a:cs typeface="Calibri"/>
              </a:rPr>
              <a:t>L</a:t>
            </a:r>
            <a:r>
              <a:rPr dirty="0" sz="1400" spc="190">
                <a:solidFill>
                  <a:srgbClr val="4D4D4D"/>
                </a:solidFill>
                <a:latin typeface="Calibri"/>
                <a:cs typeface="Calibri"/>
              </a:rPr>
              <a:t>impiez</a:t>
            </a:r>
            <a:r>
              <a:rPr dirty="0" sz="1400" spc="15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400" spc="185">
                <a:solidFill>
                  <a:srgbClr val="4B4B4B"/>
                </a:solidFill>
                <a:latin typeface="Calibri"/>
                <a:cs typeface="Calibri"/>
              </a:rPr>
              <a:t>aAsinc</a:t>
            </a:r>
            <a:r>
              <a:rPr dirty="0" sz="1400" spc="1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400" spc="215">
                <a:solidFill>
                  <a:srgbClr val="8095A5"/>
                </a:solidFill>
                <a:latin typeface="Calibri"/>
                <a:cs typeface="Calibri"/>
              </a:rPr>
              <a:t>ron</a:t>
            </a:r>
            <a:r>
              <a:rPr dirty="0" sz="1400" spc="215">
                <a:solidFill>
                  <a:srgbClr val="828E9E"/>
                </a:solidFill>
                <a:latin typeface="Calibri"/>
                <a:cs typeface="Calibri"/>
              </a:rPr>
              <a:t>a</a:t>
            </a:r>
            <a:r>
              <a:rPr dirty="0" sz="1400" spc="105">
                <a:solidFill>
                  <a:srgbClr val="828E9E"/>
                </a:solidFill>
                <a:latin typeface="Calibri"/>
                <a:cs typeface="Calibri"/>
              </a:rPr>
              <a:t> </a:t>
            </a:r>
            <a:r>
              <a:rPr dirty="0" sz="1400" spc="204">
                <a:solidFill>
                  <a:srgbClr val="7C9ABC"/>
                </a:solidFill>
                <a:latin typeface="Calibri"/>
                <a:cs typeface="Calibri"/>
              </a:rPr>
              <a:t>simula</a:t>
            </a:r>
            <a:endParaRPr sz="140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  <a:spcBef>
                <a:spcPts val="540"/>
              </a:spcBef>
            </a:pPr>
            <a:r>
              <a:rPr dirty="0" sz="1650" spc="215">
                <a:solidFill>
                  <a:srgbClr val="99BAD6"/>
                </a:solidFill>
                <a:latin typeface="Calibri"/>
                <a:cs typeface="Calibri"/>
              </a:rPr>
              <a:t>los</a:t>
            </a:r>
            <a:r>
              <a:rPr dirty="0" sz="1650" spc="-245">
                <a:solidFill>
                  <a:srgbClr val="99BAD6"/>
                </a:solidFill>
                <a:latin typeface="Calibri"/>
                <a:cs typeface="Calibri"/>
              </a:rPr>
              <a:t> </a:t>
            </a:r>
            <a:r>
              <a:rPr dirty="0" sz="1650" spc="155">
                <a:solidFill>
                  <a:srgbClr val="4D4D4D"/>
                </a:solidFill>
                <a:latin typeface="Calibri"/>
                <a:cs typeface="Calibri"/>
              </a:rPr>
              <a:t>estados</a:t>
            </a:r>
            <a:r>
              <a:rPr dirty="0" sz="1650" spc="20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650" spc="150">
                <a:solidFill>
                  <a:srgbClr val="494949"/>
                </a:solidFill>
                <a:latin typeface="Calibri"/>
                <a:cs typeface="Calibri"/>
              </a:rPr>
              <a:t>del</a:t>
            </a:r>
            <a:r>
              <a:rPr dirty="0" sz="1650" spc="7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650" spc="130">
                <a:solidFill>
                  <a:srgbClr val="4D4D4D"/>
                </a:solidFill>
                <a:latin typeface="Calibri"/>
                <a:cs typeface="Calibri"/>
              </a:rPr>
              <a:t>cuarto</a:t>
            </a:r>
            <a:r>
              <a:rPr dirty="0" sz="1650" spc="114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650" spc="155">
                <a:solidFill>
                  <a:srgbClr val="444444"/>
                </a:solidFill>
                <a:latin typeface="Calibri"/>
                <a:cs typeface="Calibri"/>
              </a:rPr>
              <a:t>de</a:t>
            </a:r>
            <a:r>
              <a:rPr dirty="0" sz="1650" spc="21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650" spc="100">
                <a:solidFill>
                  <a:srgbClr val="4B4B4B"/>
                </a:solidFill>
                <a:latin typeface="Calibri"/>
                <a:cs typeface="Calibri"/>
              </a:rPr>
              <a:t>forma</a:t>
            </a:r>
            <a:endParaRPr sz="165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20"/>
              </a:spcBef>
            </a:pPr>
            <a:r>
              <a:rPr dirty="0" sz="1800" spc="60">
                <a:solidFill>
                  <a:srgbClr val="3D3D3D"/>
                </a:solidFill>
                <a:latin typeface="Calibri"/>
                <a:cs typeface="Calibri"/>
              </a:rPr>
              <a:t>no</a:t>
            </a:r>
            <a:r>
              <a:rPr dirty="0" sz="1800" spc="19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D3D3D"/>
                </a:solidFill>
                <a:latin typeface="Calibri"/>
                <a:cs typeface="Calibri"/>
              </a:rPr>
              <a:t>bloqueante</a:t>
            </a:r>
            <a:r>
              <a:rPr dirty="0" sz="1800" spc="60">
                <a:solidFill>
                  <a:srgbClr val="3D3D3D"/>
                </a:solidFill>
                <a:latin typeface="Calibri"/>
                <a:cs typeface="Calibri"/>
              </a:rPr>
              <a:t>  </a:t>
            </a:r>
            <a:r>
              <a:rPr dirty="0" sz="1800" spc="-10">
                <a:solidFill>
                  <a:srgbClr val="464646"/>
                </a:solidFill>
                <a:latin typeface="Calibri"/>
                <a:cs typeface="Calibri"/>
              </a:rPr>
              <a:t>mediante</a:t>
            </a:r>
            <a:endParaRPr sz="180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  <a:spcBef>
                <a:spcPts val="465"/>
              </a:spcBef>
            </a:pPr>
            <a:r>
              <a:rPr dirty="0" sz="1650" spc="50">
                <a:solidFill>
                  <a:srgbClr val="464646"/>
                </a:solidFill>
                <a:latin typeface="Calibri"/>
                <a:cs typeface="Calibri"/>
              </a:rPr>
              <a:t>sub</a:t>
            </a:r>
            <a:r>
              <a:rPr dirty="0" sz="1650" spc="4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650" spc="160">
                <a:solidFill>
                  <a:srgbClr val="424242"/>
                </a:solidFill>
                <a:latin typeface="Calibri"/>
                <a:cs typeface="Calibri"/>
              </a:rPr>
              <a:t>procesos</a:t>
            </a:r>
            <a:r>
              <a:rPr dirty="0" sz="1650" spc="19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424242"/>
                </a:solidFill>
                <a:latin typeface="Calibri"/>
                <a:cs typeface="Calibri"/>
              </a:rPr>
              <a:t>hilos.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97129" y="5143556"/>
            <a:ext cx="184467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80">
                <a:solidFill>
                  <a:srgbClr val="0C0C0C"/>
                </a:solidFill>
                <a:latin typeface="Calibri"/>
                <a:cs typeface="Calibri"/>
              </a:rPr>
              <a:t>M6:</a:t>
            </a:r>
            <a:r>
              <a:rPr dirty="0" sz="2200" spc="10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200" spc="204">
                <a:solidFill>
                  <a:srgbClr val="111111"/>
                </a:solidFill>
                <a:latin typeface="Calibri"/>
                <a:cs typeface="Calibri"/>
              </a:rPr>
              <a:t>Reportes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00112" y="5718146"/>
            <a:ext cx="3261360" cy="15417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3970" marR="5080" indent="-1905">
              <a:lnSpc>
                <a:spcPct val="103099"/>
              </a:lnSpc>
              <a:spcBef>
                <a:spcPts val="60"/>
              </a:spcBef>
            </a:pPr>
            <a:r>
              <a:rPr dirty="0" sz="1900">
                <a:solidFill>
                  <a:srgbClr val="444444"/>
                </a:solidFill>
                <a:latin typeface="Calibri"/>
                <a:cs typeface="Calibri"/>
              </a:rPr>
              <a:t>Uso</a:t>
            </a:r>
            <a:r>
              <a:rPr dirty="0" sz="1900" spc="4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900" spc="50">
                <a:solidFill>
                  <a:srgbClr val="4B4B4B"/>
                </a:solidFill>
                <a:latin typeface="Calibri"/>
                <a:cs typeface="Calibri"/>
              </a:rPr>
              <a:t>del</a:t>
            </a:r>
            <a:r>
              <a:rPr dirty="0" sz="1900" spc="3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545454"/>
                </a:solidFill>
                <a:latin typeface="Calibri"/>
                <a:cs typeface="Calibri"/>
              </a:rPr>
              <a:t>patrón</a:t>
            </a:r>
            <a:r>
              <a:rPr dirty="0" sz="1900" spc="17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D4D4D"/>
                </a:solidFill>
                <a:latin typeface="Calibri"/>
                <a:cs typeface="Calibri"/>
              </a:rPr>
              <a:t>Strategy</a:t>
            </a:r>
            <a:r>
              <a:rPr dirty="0" sz="1900" spc="27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484848"/>
                </a:solidFill>
                <a:latin typeface="Calibri"/>
                <a:cs typeface="Calibri"/>
              </a:rPr>
              <a:t>para </a:t>
            </a:r>
            <a:r>
              <a:rPr dirty="0" sz="1900">
                <a:solidFill>
                  <a:srgbClr val="464646"/>
                </a:solidFill>
                <a:latin typeface="Calibri"/>
                <a:cs typeface="Calibri"/>
              </a:rPr>
              <a:t>algoritmos</a:t>
            </a:r>
            <a:r>
              <a:rPr dirty="0" sz="1900" spc="12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D4D4D"/>
                </a:solidFill>
                <a:latin typeface="Calibri"/>
                <a:cs typeface="Calibri"/>
              </a:rPr>
              <a:t>analíticos</a:t>
            </a:r>
            <a:r>
              <a:rPr dirty="0" sz="1900" spc="7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444444"/>
                </a:solidFill>
                <a:latin typeface="Calibri"/>
                <a:cs typeface="Calibri"/>
              </a:rPr>
              <a:t>financieros</a:t>
            </a:r>
            <a:endParaRPr sz="1900">
              <a:latin typeface="Calibri"/>
              <a:cs typeface="Calibri"/>
            </a:endParaRPr>
          </a:p>
          <a:p>
            <a:pPr marL="13970" marR="31750" indent="6985">
              <a:lnSpc>
                <a:spcPct val="113100"/>
              </a:lnSpc>
              <a:spcBef>
                <a:spcPts val="185"/>
              </a:spcBef>
            </a:pPr>
            <a:r>
              <a:rPr dirty="0" sz="1650">
                <a:solidFill>
                  <a:srgbClr val="495966"/>
                </a:solidFill>
                <a:latin typeface="Calibri"/>
                <a:cs typeface="Calibri"/>
              </a:rPr>
              <a:t>y</a:t>
            </a:r>
            <a:r>
              <a:rPr dirty="0" sz="1650" spc="285">
                <a:solidFill>
                  <a:srgbClr val="49596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575757"/>
                </a:solidFill>
                <a:latin typeface="Calibri"/>
                <a:cs typeface="Calibri"/>
              </a:rPr>
              <a:t>la</a:t>
            </a:r>
            <a:r>
              <a:rPr dirty="0" sz="1650" spc="254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1650" spc="160">
                <a:solidFill>
                  <a:srgbClr val="464646"/>
                </a:solidFill>
                <a:latin typeface="Calibri"/>
                <a:cs typeface="Calibri"/>
              </a:rPr>
              <a:t>clase</a:t>
            </a:r>
            <a:r>
              <a:rPr dirty="0" sz="1650" spc="15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4F4F4F"/>
                </a:solidFill>
                <a:latin typeface="Calibri"/>
                <a:cs typeface="Calibri"/>
              </a:rPr>
              <a:t>Aud</a:t>
            </a:r>
            <a:r>
              <a:rPr dirty="0" sz="1650">
                <a:solidFill>
                  <a:srgbClr val="464646"/>
                </a:solidFill>
                <a:latin typeface="Calibri"/>
                <a:cs typeface="Calibri"/>
              </a:rPr>
              <a:t>it</a:t>
            </a:r>
            <a:r>
              <a:rPr dirty="0" sz="1650" spc="43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4F4F4F"/>
                </a:solidFill>
                <a:latin typeface="Calibri"/>
                <a:cs typeface="Calibri"/>
              </a:rPr>
              <a:t>or</a:t>
            </a:r>
            <a:r>
              <a:rPr dirty="0" sz="1650" spc="1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650" spc="120">
                <a:solidFill>
                  <a:srgbClr val="494949"/>
                </a:solidFill>
                <a:latin typeface="Calibri"/>
                <a:cs typeface="Calibri"/>
              </a:rPr>
              <a:t>iaLogger</a:t>
            </a:r>
            <a:r>
              <a:rPr dirty="0" sz="1650" spc="204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650" spc="150">
                <a:solidFill>
                  <a:srgbClr val="444444"/>
                </a:solidFill>
                <a:latin typeface="Calibri"/>
                <a:cs typeface="Calibri"/>
              </a:rPr>
              <a:t>para </a:t>
            </a:r>
            <a:r>
              <a:rPr dirty="0" sz="1800" spc="55">
                <a:solidFill>
                  <a:srgbClr val="4B4B4B"/>
                </a:solidFill>
                <a:latin typeface="Calibri"/>
                <a:cs typeface="Calibri"/>
              </a:rPr>
              <a:t>escribir</a:t>
            </a:r>
            <a:r>
              <a:rPr dirty="0" sz="1800" spc="21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4B4B4B"/>
                </a:solidFill>
                <a:latin typeface="Calibri"/>
                <a:cs typeface="Calibri"/>
              </a:rPr>
              <a:t>transacciones</a:t>
            </a:r>
            <a:r>
              <a:rPr dirty="0" sz="1800" spc="25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4D4D4D"/>
                </a:solidFill>
                <a:latin typeface="Calibri"/>
                <a:cs typeface="Calibri"/>
              </a:rPr>
              <a:t>en</a:t>
            </a:r>
            <a:r>
              <a:rPr dirty="0" sz="1800" spc="5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800" spc="25">
                <a:solidFill>
                  <a:srgbClr val="494949"/>
                </a:solidFill>
                <a:latin typeface="Calibri"/>
                <a:cs typeface="Calibri"/>
              </a:rPr>
              <a:t>el </a:t>
            </a:r>
            <a:r>
              <a:rPr dirty="0" sz="1800" spc="100">
                <a:solidFill>
                  <a:srgbClr val="505050"/>
                </a:solidFill>
                <a:latin typeface="Calibri"/>
                <a:cs typeface="Calibri"/>
              </a:rPr>
              <a:t>disco</a:t>
            </a:r>
            <a:r>
              <a:rPr dirty="0" sz="1800" spc="18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444444"/>
                </a:solidFill>
                <a:latin typeface="Calibri"/>
                <a:cs typeface="Calibri"/>
              </a:rPr>
              <a:t>de</a:t>
            </a:r>
            <a:r>
              <a:rPr dirty="0" sz="1800" spc="15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64646"/>
                </a:solidFill>
                <a:latin typeface="Calibri"/>
                <a:cs typeface="Calibri"/>
              </a:rPr>
              <a:t>forma</a:t>
            </a:r>
            <a:r>
              <a:rPr dirty="0" sz="1800" spc="22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64646"/>
                </a:solidFill>
                <a:latin typeface="Calibri"/>
                <a:cs typeface="Calibri"/>
              </a:rPr>
              <a:t>asíncrona.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65579" y="5135703"/>
            <a:ext cx="170243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90">
                <a:latin typeface="Calibri"/>
                <a:cs typeface="Calibri"/>
              </a:rPr>
              <a:t>M7: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235">
                <a:solidFill>
                  <a:srgbClr val="050505"/>
                </a:solidFill>
                <a:latin typeface="Calibri"/>
                <a:cs typeface="Calibri"/>
              </a:rPr>
              <a:t>Eventos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068320" y="5718146"/>
            <a:ext cx="3225800" cy="18592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3335" marR="5080" indent="-635">
              <a:lnSpc>
                <a:spcPct val="103099"/>
              </a:lnSpc>
              <a:spcBef>
                <a:spcPts val="60"/>
              </a:spcBef>
            </a:pPr>
            <a:r>
              <a:rPr dirty="0" sz="1900">
                <a:solidFill>
                  <a:srgbClr val="424242"/>
                </a:solidFill>
                <a:latin typeface="Calibri"/>
                <a:cs typeface="Calibri"/>
              </a:rPr>
              <a:t>Control</a:t>
            </a:r>
            <a:r>
              <a:rPr dirty="0" sz="1900" spc="13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B4B4B"/>
                </a:solidFill>
                <a:latin typeface="Calibri"/>
                <a:cs typeface="Calibri"/>
              </a:rPr>
              <a:t>estricto</a:t>
            </a:r>
            <a:r>
              <a:rPr dirty="0" sz="1900" spc="7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464646"/>
                </a:solidFill>
                <a:latin typeface="Calibri"/>
                <a:cs typeface="Calibri"/>
              </a:rPr>
              <a:t>de</a:t>
            </a:r>
            <a:r>
              <a:rPr dirty="0" sz="1900" spc="7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A3A3A"/>
                </a:solidFill>
                <a:latin typeface="Calibri"/>
                <a:cs typeface="Calibri"/>
              </a:rPr>
              <a:t>cotizaciones </a:t>
            </a:r>
            <a:r>
              <a:rPr dirty="0" sz="1900" spc="85">
                <a:solidFill>
                  <a:srgbClr val="494949"/>
                </a:solidFill>
                <a:latin typeface="Calibri"/>
                <a:cs typeface="Calibri"/>
              </a:rPr>
              <a:t>de</a:t>
            </a:r>
            <a:r>
              <a:rPr dirty="0" sz="1900" spc="11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D4D4D"/>
                </a:solidFill>
                <a:latin typeface="Calibri"/>
                <a:cs typeface="Calibri"/>
              </a:rPr>
              <a:t>salones</a:t>
            </a:r>
            <a:r>
              <a:rPr dirty="0" sz="1900" spc="20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3B3B3B"/>
                </a:solidFill>
                <a:latin typeface="Calibri"/>
                <a:cs typeface="Calibri"/>
              </a:rPr>
              <a:t>multimedia.</a:t>
            </a:r>
            <a:endParaRPr sz="1900">
              <a:latin typeface="Calibri"/>
              <a:cs typeface="Calibri"/>
            </a:endParaRPr>
          </a:p>
          <a:p>
            <a:pPr marL="14604" marR="40640" indent="-2540">
              <a:lnSpc>
                <a:spcPct val="106700"/>
              </a:lnSpc>
              <a:spcBef>
                <a:spcPts val="40"/>
              </a:spcBef>
            </a:pPr>
            <a:r>
              <a:rPr dirty="0" sz="1900">
                <a:solidFill>
                  <a:srgbClr val="414141"/>
                </a:solidFill>
                <a:latin typeface="Calibri"/>
                <a:cs typeface="Calibri"/>
              </a:rPr>
              <a:t>Implementa</a:t>
            </a:r>
            <a:r>
              <a:rPr dirty="0" sz="1900" spc="325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14141"/>
                </a:solidFill>
                <a:latin typeface="Calibri"/>
                <a:cs typeface="Calibri"/>
              </a:rPr>
              <a:t>excepciones</a:t>
            </a:r>
            <a:r>
              <a:rPr dirty="0" sz="1900" spc="325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1900" spc="25">
                <a:solidFill>
                  <a:srgbClr val="424242"/>
                </a:solidFill>
                <a:latin typeface="Calibri"/>
                <a:cs typeface="Calibri"/>
              </a:rPr>
              <a:t>del </a:t>
            </a:r>
            <a:r>
              <a:rPr dirty="0" sz="1900">
                <a:solidFill>
                  <a:srgbClr val="7B8CA0"/>
                </a:solidFill>
                <a:latin typeface="Calibri"/>
                <a:cs typeface="Calibri"/>
              </a:rPr>
              <a:t>sistema</a:t>
            </a:r>
            <a:r>
              <a:rPr dirty="0" sz="1900" spc="220">
                <a:solidFill>
                  <a:srgbClr val="7B8CA0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D4D4D"/>
                </a:solidFill>
                <a:latin typeface="Calibri"/>
                <a:cs typeface="Calibri"/>
              </a:rPr>
              <a:t>para</a:t>
            </a:r>
            <a:r>
              <a:rPr dirty="0" sz="1900" spc="16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4F5670"/>
                </a:solidFill>
                <a:latin typeface="Calibri"/>
                <a:cs typeface="Calibri"/>
              </a:rPr>
              <a:t>evitar</a:t>
            </a:r>
            <a:r>
              <a:rPr dirty="0" sz="1900" spc="170">
                <a:solidFill>
                  <a:srgbClr val="4F5670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4B4B4B"/>
                </a:solidFill>
                <a:latin typeface="Calibri"/>
                <a:cs typeface="Calibri"/>
              </a:rPr>
              <a:t>sobrepasar </a:t>
            </a:r>
            <a:r>
              <a:rPr dirty="0" sz="1900">
                <a:solidFill>
                  <a:srgbClr val="3B3B3B"/>
                </a:solidFill>
                <a:latin typeface="Calibri"/>
                <a:cs typeface="Calibri"/>
              </a:rPr>
              <a:t>los</a:t>
            </a:r>
            <a:r>
              <a:rPr dirty="0" sz="1900" spc="7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D3D3D"/>
                </a:solidFill>
                <a:latin typeface="Calibri"/>
                <a:cs typeface="Calibri"/>
              </a:rPr>
              <a:t>aforos</a:t>
            </a:r>
            <a:r>
              <a:rPr dirty="0" sz="1900" spc="114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3D3D3D"/>
                </a:solidFill>
                <a:latin typeface="Calibri"/>
                <a:cs typeface="Calibri"/>
              </a:rPr>
              <a:t>permitidos</a:t>
            </a:r>
            <a:r>
              <a:rPr dirty="0" sz="1900" spc="17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3F3F3F"/>
                </a:solidFill>
                <a:latin typeface="Calibri"/>
                <a:cs typeface="Calibri"/>
              </a:rPr>
              <a:t>de</a:t>
            </a:r>
            <a:r>
              <a:rPr dirty="0" sz="1900" spc="3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4D4D4D"/>
                </a:solidFill>
                <a:latin typeface="Calibri"/>
                <a:cs typeface="Calibri"/>
              </a:rPr>
              <a:t>forma </a:t>
            </a:r>
            <a:r>
              <a:rPr dirty="0" sz="1900" spc="-10">
                <a:solidFill>
                  <a:srgbClr val="3F3F3F"/>
                </a:solidFill>
                <a:latin typeface="Calibri"/>
                <a:cs typeface="Calibri"/>
              </a:rPr>
              <a:t>controlada.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139198" y="10401249"/>
            <a:ext cx="1687195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120">
                <a:solidFill>
                  <a:srgbClr val="979797"/>
                </a:solidFill>
                <a:latin typeface="Calibri"/>
                <a:cs typeface="Calibri"/>
              </a:rPr>
              <a:t>Diap</a:t>
            </a:r>
            <a:r>
              <a:rPr dirty="0" sz="1400" spc="120">
                <a:solidFill>
                  <a:srgbClr val="9A9A9A"/>
                </a:solidFill>
                <a:latin typeface="Calibri"/>
                <a:cs typeface="Calibri"/>
              </a:rPr>
              <a:t>asi</a:t>
            </a:r>
            <a:r>
              <a:rPr dirty="0" sz="1400" spc="-170">
                <a:solidFill>
                  <a:srgbClr val="9A9A9A"/>
                </a:solidFill>
                <a:latin typeface="Calibri"/>
                <a:cs typeface="Calibri"/>
              </a:rPr>
              <a:t> </a:t>
            </a:r>
            <a:r>
              <a:rPr dirty="0" sz="1400" spc="100">
                <a:solidFill>
                  <a:srgbClr val="9A9A9A"/>
                </a:solidFill>
                <a:latin typeface="Calibri"/>
                <a:cs typeface="Calibri"/>
              </a:rPr>
              <a:t>tiva</a:t>
            </a:r>
            <a:r>
              <a:rPr dirty="0" sz="1400" spc="40">
                <a:solidFill>
                  <a:srgbClr val="9A9A9A"/>
                </a:solidFill>
                <a:latin typeface="Calibri"/>
                <a:cs typeface="Calibri"/>
              </a:rPr>
              <a:t> </a:t>
            </a:r>
            <a:r>
              <a:rPr dirty="0" sz="1400" spc="125">
                <a:solidFill>
                  <a:srgbClr val="979797"/>
                </a:solidFill>
                <a:latin typeface="Calibri"/>
                <a:cs typeface="Calibri"/>
              </a:rPr>
              <a:t>IO</a:t>
            </a:r>
            <a:r>
              <a:rPr dirty="0" sz="1400" spc="60">
                <a:solidFill>
                  <a:srgbClr val="979797"/>
                </a:solidFill>
                <a:latin typeface="Calibri"/>
                <a:cs typeface="Calibri"/>
              </a:rPr>
              <a:t> </a:t>
            </a:r>
            <a:r>
              <a:rPr dirty="0" sz="1400" spc="140">
                <a:solidFill>
                  <a:srgbClr val="9E9E9E"/>
                </a:solidFill>
                <a:latin typeface="Calibri"/>
                <a:cs typeface="Calibri"/>
              </a:rPr>
              <a:t>de </a:t>
            </a:r>
            <a:r>
              <a:rPr dirty="0" sz="1400" spc="-295">
                <a:solidFill>
                  <a:srgbClr val="9E9E9E"/>
                </a:solidFill>
                <a:latin typeface="Calibri"/>
                <a:cs typeface="Calibri"/>
              </a:rPr>
              <a:t>11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pc="-65"/>
              <a:t>Conclusiones</a:t>
            </a:r>
            <a:r>
              <a:rPr dirty="0" spc="-15"/>
              <a:t> </a:t>
            </a:r>
            <a:r>
              <a:rPr dirty="0">
                <a:solidFill>
                  <a:srgbClr val="0A2644"/>
                </a:solidFill>
              </a:rPr>
              <a:t>y</a:t>
            </a:r>
            <a:r>
              <a:rPr dirty="0" spc="-315">
                <a:solidFill>
                  <a:srgbClr val="0A2644"/>
                </a:solidFill>
              </a:rPr>
              <a:t> </a:t>
            </a:r>
            <a:r>
              <a:rPr dirty="0" spc="-114">
                <a:solidFill>
                  <a:srgbClr val="082648"/>
                </a:solidFill>
              </a:rPr>
              <a:t>Referencias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2038" y="3411933"/>
            <a:ext cx="8211820" cy="31121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81330" algn="l"/>
              </a:tabLst>
            </a:pPr>
            <a:r>
              <a:rPr dirty="0" sz="2950" spc="-50">
                <a:solidFill>
                  <a:srgbClr val="00BAD1"/>
                </a:solidFill>
                <a:latin typeface="Cambria"/>
                <a:cs typeface="Cambria"/>
              </a:rPr>
              <a:t>J</a:t>
            </a:r>
            <a:r>
              <a:rPr dirty="0" sz="2950">
                <a:solidFill>
                  <a:srgbClr val="00BAD1"/>
                </a:solidFill>
                <a:latin typeface="Cambria"/>
                <a:cs typeface="Cambria"/>
              </a:rPr>
              <a:t>	</a:t>
            </a:r>
            <a:r>
              <a:rPr dirty="0" sz="2950" spc="-110" b="1">
                <a:solidFill>
                  <a:srgbClr val="232323"/>
                </a:solidFill>
                <a:latin typeface="Cambria"/>
                <a:cs typeface="Cambria"/>
              </a:rPr>
              <a:t>Síntesis</a:t>
            </a:r>
            <a:r>
              <a:rPr dirty="0" sz="2950" spc="-10" b="1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dirty="0" sz="2950" spc="-195" b="1">
                <a:solidFill>
                  <a:srgbClr val="05265B"/>
                </a:solidFill>
                <a:latin typeface="Cambria"/>
                <a:cs typeface="Cambria"/>
              </a:rPr>
              <a:t>del</a:t>
            </a:r>
            <a:r>
              <a:rPr dirty="0" sz="2950" spc="-10" b="1">
                <a:solidFill>
                  <a:srgbClr val="05265B"/>
                </a:solidFill>
                <a:latin typeface="Cambria"/>
                <a:cs typeface="Cambria"/>
              </a:rPr>
              <a:t> </a:t>
            </a:r>
            <a:r>
              <a:rPr dirty="0" sz="2950" spc="-75" b="1">
                <a:solidFill>
                  <a:srgbClr val="0F233F"/>
                </a:solidFill>
                <a:latin typeface="Cambria"/>
                <a:cs typeface="Cambria"/>
              </a:rPr>
              <a:t>Proyecto</a:t>
            </a:r>
            <a:endParaRPr sz="2950">
              <a:latin typeface="Cambria"/>
              <a:cs typeface="Cambria"/>
            </a:endParaRPr>
          </a:p>
          <a:p>
            <a:pPr marL="473709" marR="5080">
              <a:lnSpc>
                <a:spcPct val="107700"/>
              </a:lnSpc>
              <a:spcBef>
                <a:spcPts val="1460"/>
              </a:spcBef>
            </a:pPr>
            <a:r>
              <a:rPr dirty="0" sz="2200" spc="50">
                <a:solidFill>
                  <a:srgbClr val="5D677E"/>
                </a:solidFill>
                <a:latin typeface="Calibri"/>
                <a:cs typeface="Calibri"/>
              </a:rPr>
              <a:t>Eficacia</a:t>
            </a:r>
            <a:r>
              <a:rPr dirty="0" sz="2200" spc="-125">
                <a:solidFill>
                  <a:srgbClr val="5D677E"/>
                </a:solidFill>
                <a:latin typeface="Calibri"/>
                <a:cs typeface="Calibri"/>
              </a:rPr>
              <a:t> </a:t>
            </a:r>
            <a:r>
              <a:rPr dirty="0" sz="2200" spc="-120" b="1">
                <a:solidFill>
                  <a:srgbClr val="3A4F67"/>
                </a:solidFill>
                <a:latin typeface="Calibri"/>
                <a:cs typeface="Calibri"/>
              </a:rPr>
              <a:t>IVlodular:</a:t>
            </a:r>
            <a:r>
              <a:rPr dirty="0" sz="2200" spc="-5" b="1">
                <a:solidFill>
                  <a:srgbClr val="3A4F67"/>
                </a:solidFill>
                <a:latin typeface="Calibri"/>
                <a:cs typeface="Calibri"/>
              </a:rPr>
              <a:t> </a:t>
            </a:r>
            <a:r>
              <a:rPr dirty="0" sz="2200" spc="65">
                <a:solidFill>
                  <a:srgbClr val="3D3D3D"/>
                </a:solidFill>
                <a:latin typeface="Calibri"/>
                <a:cs typeface="Calibri"/>
              </a:rPr>
              <a:t>La</a:t>
            </a:r>
            <a:r>
              <a:rPr dirty="0" sz="2200" spc="-12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44444"/>
                </a:solidFill>
                <a:latin typeface="Calibri"/>
                <a:cs typeface="Calibri"/>
              </a:rPr>
              <a:t>segmentación</a:t>
            </a:r>
            <a:r>
              <a:rPr dirty="0" sz="2200" spc="4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44444"/>
                </a:solidFill>
                <a:latin typeface="Calibri"/>
                <a:cs typeface="Calibri"/>
              </a:rPr>
              <a:t>en</a:t>
            </a:r>
            <a:r>
              <a:rPr dirty="0" sz="2200" spc="-12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spc="75">
                <a:solidFill>
                  <a:srgbClr val="4B4B4B"/>
                </a:solidFill>
                <a:latin typeface="Calibri"/>
                <a:cs typeface="Calibri"/>
              </a:rPr>
              <a:t>7</a:t>
            </a:r>
            <a:r>
              <a:rPr dirty="0" sz="2200" spc="-21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200" spc="-45">
                <a:solidFill>
                  <a:srgbClr val="444444"/>
                </a:solidFill>
                <a:latin typeface="Calibri"/>
                <a:cs typeface="Calibri"/>
              </a:rPr>
              <a:t>módulos</a:t>
            </a:r>
            <a:r>
              <a:rPr dirty="0" sz="2200" spc="9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spc="-60">
                <a:solidFill>
                  <a:srgbClr val="464646"/>
                </a:solidFill>
                <a:latin typeface="Calibri"/>
                <a:cs typeface="Calibri"/>
              </a:rPr>
              <a:t>bajo</a:t>
            </a:r>
            <a:r>
              <a:rPr dirty="0" sz="2200" spc="-6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B4B4B"/>
                </a:solidFill>
                <a:latin typeface="Calibri"/>
                <a:cs typeface="Calibri"/>
              </a:rPr>
              <a:t>la</a:t>
            </a:r>
            <a:r>
              <a:rPr dirty="0" sz="2200" spc="-114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2F2F2F"/>
                </a:solidFill>
                <a:latin typeface="Calibri"/>
                <a:cs typeface="Calibri"/>
              </a:rPr>
              <a:t>arquitectura </a:t>
            </a:r>
            <a:r>
              <a:rPr dirty="0" sz="2200" spc="-10">
                <a:solidFill>
                  <a:srgbClr val="444444"/>
                </a:solidFill>
                <a:latin typeface="Calibri"/>
                <a:cs typeface="Calibri"/>
              </a:rPr>
              <a:t>MVC</a:t>
            </a:r>
            <a:r>
              <a:rPr dirty="0" sz="2200" spc="-10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spc="-50">
                <a:solidFill>
                  <a:srgbClr val="494949"/>
                </a:solidFill>
                <a:latin typeface="Calibri"/>
                <a:cs typeface="Calibri"/>
              </a:rPr>
              <a:t>aísla</a:t>
            </a:r>
            <a:r>
              <a:rPr dirty="0" sz="2200" spc="-7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 spc="-55">
                <a:solidFill>
                  <a:srgbClr val="525252"/>
                </a:solidFill>
                <a:latin typeface="Calibri"/>
                <a:cs typeface="Calibri"/>
              </a:rPr>
              <a:t>la</a:t>
            </a:r>
            <a:r>
              <a:rPr dirty="0" sz="2200" spc="-16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D4D4D"/>
                </a:solidFill>
                <a:latin typeface="Calibri"/>
                <a:cs typeface="Calibri"/>
              </a:rPr>
              <a:t>lógica</a:t>
            </a:r>
            <a:r>
              <a:rPr dirty="0" sz="2200" spc="-12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B4B4B"/>
                </a:solidFill>
                <a:latin typeface="Calibri"/>
                <a:cs typeface="Calibri"/>
              </a:rPr>
              <a:t>de</a:t>
            </a:r>
            <a:r>
              <a:rPr dirty="0" sz="2200" spc="-12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24242"/>
                </a:solidFill>
                <a:latin typeface="Calibri"/>
                <a:cs typeface="Calibri"/>
              </a:rPr>
              <a:t>negocio,</a:t>
            </a:r>
            <a:r>
              <a:rPr dirty="0" sz="2200" spc="-7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 spc="-35">
                <a:solidFill>
                  <a:srgbClr val="4B4B4B"/>
                </a:solidFill>
                <a:latin typeface="Calibri"/>
                <a:cs typeface="Calibri"/>
              </a:rPr>
              <a:t>facilitando</a:t>
            </a:r>
            <a:r>
              <a:rPr dirty="0" sz="2200" spc="4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4B4B4B"/>
                </a:solidFill>
                <a:latin typeface="Calibri"/>
                <a:cs typeface="Calibri"/>
              </a:rPr>
              <a:t>el</a:t>
            </a:r>
            <a:r>
              <a:rPr dirty="0" sz="2200" spc="-114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200" spc="-55">
                <a:solidFill>
                  <a:srgbClr val="484848"/>
                </a:solidFill>
                <a:latin typeface="Calibri"/>
                <a:cs typeface="Calibri"/>
              </a:rPr>
              <a:t>mantenimiento</a:t>
            </a:r>
            <a:r>
              <a:rPr dirty="0" sz="2200" spc="14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64646"/>
                </a:solidFill>
                <a:latin typeface="Calibri"/>
                <a:cs typeface="Calibri"/>
              </a:rPr>
              <a:t>evolutivo.</a:t>
            </a:r>
            <a:endParaRPr sz="2200">
              <a:latin typeface="Calibri"/>
              <a:cs typeface="Calibri"/>
            </a:endParaRPr>
          </a:p>
          <a:p>
            <a:pPr marL="480695" marR="69850" indent="-6350">
              <a:lnSpc>
                <a:spcPct val="118100"/>
              </a:lnSpc>
              <a:spcBef>
                <a:spcPts val="960"/>
              </a:spcBef>
            </a:pPr>
            <a:r>
              <a:rPr dirty="0" sz="2050" spc="65">
                <a:solidFill>
                  <a:srgbClr val="505D6D"/>
                </a:solidFill>
                <a:latin typeface="Calibri"/>
                <a:cs typeface="Calibri"/>
              </a:rPr>
              <a:t>Eliminación</a:t>
            </a:r>
            <a:r>
              <a:rPr dirty="0" sz="2050" spc="15">
                <a:solidFill>
                  <a:srgbClr val="505D6D"/>
                </a:solidFill>
                <a:latin typeface="Calibri"/>
                <a:cs typeface="Calibri"/>
              </a:rPr>
              <a:t> </a:t>
            </a:r>
            <a:r>
              <a:rPr dirty="0" sz="2050" spc="80">
                <a:solidFill>
                  <a:srgbClr val="4B6279"/>
                </a:solidFill>
                <a:latin typeface="Calibri"/>
                <a:cs typeface="Calibri"/>
              </a:rPr>
              <a:t>de</a:t>
            </a:r>
            <a:r>
              <a:rPr dirty="0" sz="2050" spc="35">
                <a:solidFill>
                  <a:srgbClr val="4B6279"/>
                </a:solidFill>
                <a:latin typeface="Calibri"/>
                <a:cs typeface="Calibri"/>
              </a:rPr>
              <a:t> </a:t>
            </a:r>
            <a:r>
              <a:rPr dirty="0" sz="2050" spc="70">
                <a:solidFill>
                  <a:srgbClr val="494949"/>
                </a:solidFill>
                <a:latin typeface="Calibri"/>
                <a:cs typeface="Calibri"/>
              </a:rPr>
              <a:t>Redundancia:</a:t>
            </a:r>
            <a:r>
              <a:rPr dirty="0" sz="2050" spc="14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050" spc="70">
                <a:solidFill>
                  <a:srgbClr val="4F4F4F"/>
                </a:solidFill>
                <a:latin typeface="Calibri"/>
                <a:cs typeface="Calibri"/>
              </a:rPr>
              <a:t>La</a:t>
            </a:r>
            <a:r>
              <a:rPr dirty="0" sz="2050" spc="3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2050" spc="65">
                <a:solidFill>
                  <a:srgbClr val="424242"/>
                </a:solidFill>
                <a:latin typeface="Calibri"/>
                <a:cs typeface="Calibri"/>
              </a:rPr>
              <a:t>abstracción</a:t>
            </a:r>
            <a:r>
              <a:rPr dirty="0" sz="2050" spc="13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050" spc="50">
                <a:solidFill>
                  <a:srgbClr val="4D4D4D"/>
                </a:solidFill>
                <a:latin typeface="Calibri"/>
                <a:cs typeface="Calibri"/>
              </a:rPr>
              <a:t>base</a:t>
            </a:r>
            <a:r>
              <a:rPr dirty="0" sz="2050" spc="9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050" spc="65">
                <a:solidFill>
                  <a:srgbClr val="494949"/>
                </a:solidFill>
                <a:latin typeface="Calibri"/>
                <a:cs typeface="Calibri"/>
              </a:rPr>
              <a:t>Repos</a:t>
            </a:r>
            <a:r>
              <a:rPr dirty="0" sz="2050" spc="-28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050" spc="210">
                <a:solidFill>
                  <a:srgbClr val="444444"/>
                </a:solidFill>
                <a:latin typeface="Calibri"/>
                <a:cs typeface="Calibri"/>
              </a:rPr>
              <a:t>itoryBase </a:t>
            </a:r>
            <a:r>
              <a:rPr dirty="0" sz="2050" spc="-10" b="1">
                <a:solidFill>
                  <a:srgbClr val="464646"/>
                </a:solidFill>
                <a:latin typeface="Calibri"/>
                <a:cs typeface="Calibri"/>
              </a:rPr>
              <a:t>minimizó</a:t>
            </a:r>
            <a:r>
              <a:rPr dirty="0" sz="2050" spc="130" b="1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050" spc="50">
                <a:solidFill>
                  <a:srgbClr val="4B4B4B"/>
                </a:solidFill>
                <a:latin typeface="Calibri"/>
                <a:cs typeface="Calibri"/>
              </a:rPr>
              <a:t>sustancialmente</a:t>
            </a:r>
            <a:r>
              <a:rPr dirty="0" sz="2050" spc="6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F4F4F"/>
                </a:solidFill>
                <a:latin typeface="Calibri"/>
                <a:cs typeface="Calibri"/>
              </a:rPr>
              <a:t>el</a:t>
            </a:r>
            <a:r>
              <a:rPr dirty="0" sz="2050" spc="-9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313131"/>
                </a:solidFill>
                <a:latin typeface="Calibri"/>
                <a:cs typeface="Calibri"/>
              </a:rPr>
              <a:t>volumen</a:t>
            </a:r>
            <a:r>
              <a:rPr dirty="0" sz="2050" spc="114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050" spc="50">
                <a:solidFill>
                  <a:srgbClr val="494949"/>
                </a:solidFill>
                <a:latin typeface="Calibri"/>
                <a:cs typeface="Calibri"/>
              </a:rPr>
              <a:t>de</a:t>
            </a:r>
            <a:r>
              <a:rPr dirty="0" sz="2050" spc="1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4B4B4B"/>
                </a:solidFill>
                <a:latin typeface="Calibri"/>
                <a:cs typeface="Calibri"/>
              </a:rPr>
              <a:t>Fneas</a:t>
            </a:r>
            <a:r>
              <a:rPr dirty="0" sz="2050" spc="3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050" spc="-10">
                <a:solidFill>
                  <a:srgbClr val="3F3F3F"/>
                </a:solidFill>
                <a:latin typeface="Calibri"/>
                <a:cs typeface="Calibri"/>
              </a:rPr>
              <a:t>duplicadas.</a:t>
            </a:r>
            <a:endParaRPr sz="2050">
              <a:latin typeface="Calibri"/>
              <a:cs typeface="Calibri"/>
            </a:endParaRPr>
          </a:p>
          <a:p>
            <a:pPr marL="476250" marR="181610" indent="-3175">
              <a:lnSpc>
                <a:spcPct val="107700"/>
              </a:lnSpc>
              <a:spcBef>
                <a:spcPts val="1145"/>
              </a:spcBef>
            </a:pPr>
            <a:r>
              <a:rPr dirty="0" sz="2200">
                <a:solidFill>
                  <a:srgbClr val="4B4B4B"/>
                </a:solidFill>
                <a:latin typeface="Calibri"/>
                <a:cs typeface="Calibri"/>
              </a:rPr>
              <a:t>Mitigación</a:t>
            </a:r>
            <a:r>
              <a:rPr dirty="0" sz="2200" spc="-5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200" spc="75">
                <a:solidFill>
                  <a:srgbClr val="495970"/>
                </a:solidFill>
                <a:latin typeface="Calibri"/>
                <a:cs typeface="Calibri"/>
              </a:rPr>
              <a:t>de</a:t>
            </a:r>
            <a:r>
              <a:rPr dirty="0" sz="2200" spc="-100">
                <a:solidFill>
                  <a:srgbClr val="49597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5B6077"/>
                </a:solidFill>
                <a:latin typeface="Calibri"/>
                <a:cs typeface="Calibri"/>
              </a:rPr>
              <a:t>Errores</a:t>
            </a:r>
            <a:r>
              <a:rPr dirty="0" sz="2200" spc="30" b="1">
                <a:solidFill>
                  <a:srgbClr val="5B6077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494949"/>
                </a:solidFill>
                <a:latin typeface="Calibri"/>
                <a:cs typeface="Calibri"/>
              </a:rPr>
              <a:t>Críticos:</a:t>
            </a:r>
            <a:r>
              <a:rPr dirty="0" sz="2200" spc="10" b="1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505050"/>
                </a:solidFill>
                <a:latin typeface="Calibri"/>
                <a:cs typeface="Calibri"/>
              </a:rPr>
              <a:t>Se</a:t>
            </a:r>
            <a:r>
              <a:rPr dirty="0" sz="2200" spc="-15" b="1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44444"/>
                </a:solidFill>
                <a:latin typeface="Calibri"/>
                <a:cs typeface="Calibri"/>
              </a:rPr>
              <a:t>erradicó</a:t>
            </a:r>
            <a:r>
              <a:rPr dirty="0" sz="2200" spc="4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spc="-50">
                <a:solidFill>
                  <a:srgbClr val="7B7B97"/>
                </a:solidFill>
                <a:latin typeface="Calibri"/>
                <a:cs typeface="Calibri"/>
              </a:rPr>
              <a:t>la</a:t>
            </a:r>
            <a:r>
              <a:rPr dirty="0" sz="2200" spc="-90">
                <a:solidFill>
                  <a:srgbClr val="7B7B97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84848"/>
                </a:solidFill>
                <a:latin typeface="Calibri"/>
                <a:cs typeface="Calibri"/>
              </a:rPr>
              <a:t>sobreventa</a:t>
            </a:r>
            <a:r>
              <a:rPr dirty="0" sz="2200" spc="-3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14141"/>
                </a:solidFill>
                <a:latin typeface="Calibri"/>
                <a:cs typeface="Calibri"/>
              </a:rPr>
              <a:t>gracias</a:t>
            </a:r>
            <a:r>
              <a:rPr dirty="0" sz="2200" spc="35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4F4F4F"/>
                </a:solidFill>
                <a:latin typeface="Calibri"/>
                <a:cs typeface="Calibri"/>
              </a:rPr>
              <a:t>al </a:t>
            </a:r>
            <a:r>
              <a:rPr dirty="0" sz="2200" spc="-45">
                <a:solidFill>
                  <a:srgbClr val="444444"/>
                </a:solidFill>
                <a:latin typeface="Calibri"/>
                <a:cs typeface="Calibri"/>
              </a:rPr>
              <a:t>aislamiento </a:t>
            </a:r>
            <a:r>
              <a:rPr dirty="0" sz="2200">
                <a:solidFill>
                  <a:srgbClr val="464646"/>
                </a:solidFill>
                <a:latin typeface="Calibri"/>
                <a:cs typeface="Calibri"/>
              </a:rPr>
              <a:t>por</a:t>
            </a:r>
            <a:r>
              <a:rPr dirty="0" sz="2200" spc="1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D3D3D"/>
                </a:solidFill>
                <a:latin typeface="Calibri"/>
                <a:cs typeface="Calibri"/>
              </a:rPr>
              <a:t>cerrojos</a:t>
            </a:r>
            <a:r>
              <a:rPr dirty="0" sz="2200" spc="6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00" spc="50">
                <a:solidFill>
                  <a:srgbClr val="4F576D"/>
                </a:solidFill>
                <a:latin typeface="Calibri"/>
                <a:cs typeface="Calibri"/>
              </a:rPr>
              <a:t>y</a:t>
            </a:r>
            <a:r>
              <a:rPr dirty="0" sz="2200" spc="-130">
                <a:solidFill>
                  <a:srgbClr val="4F576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F3F3F"/>
                </a:solidFill>
                <a:latin typeface="Calibri"/>
                <a:cs typeface="Calibri"/>
              </a:rPr>
              <a:t>procesos</a:t>
            </a:r>
            <a:r>
              <a:rPr dirty="0" sz="2200" spc="10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44444"/>
                </a:solidFill>
                <a:latin typeface="Calibri"/>
                <a:cs typeface="Calibri"/>
              </a:rPr>
              <a:t>asíncronos</a:t>
            </a:r>
            <a:r>
              <a:rPr dirty="0" sz="2200" spc="12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3B3B3B"/>
                </a:solidFill>
                <a:latin typeface="Calibri"/>
                <a:cs typeface="Calibri"/>
              </a:rPr>
              <a:t>concurrentes.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9709" y="10368528"/>
            <a:ext cx="130302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89990" algn="l"/>
              </a:tabLst>
            </a:pPr>
            <a:r>
              <a:rPr dirty="0" sz="1650" spc="100">
                <a:solidFill>
                  <a:srgbClr val="3FBDD1"/>
                </a:solidFill>
                <a:latin typeface="Calibri"/>
                <a:cs typeface="Calibri"/>
              </a:rPr>
              <a:t>U6IL</a:t>
            </a:r>
            <a:r>
              <a:rPr dirty="0" sz="1650" spc="215">
                <a:solidFill>
                  <a:srgbClr val="3FBDD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11B3D8"/>
                </a:solidFill>
                <a:latin typeface="Calibri"/>
                <a:cs typeface="Calibri"/>
              </a:rPr>
              <a:t>•</a:t>
            </a:r>
            <a:r>
              <a:rPr dirty="0" sz="1650" spc="25">
                <a:solidFill>
                  <a:srgbClr val="11B3D8"/>
                </a:solidFill>
                <a:latin typeface="Calibri"/>
                <a:cs typeface="Calibri"/>
              </a:rPr>
              <a:t> </a:t>
            </a:r>
            <a:r>
              <a:rPr dirty="0" sz="1650" spc="-25">
                <a:solidFill>
                  <a:srgbClr val="1DA0C3"/>
                </a:solidFill>
                <a:latin typeface="Calibri"/>
                <a:cs typeface="Calibri"/>
              </a:rPr>
              <a:t>POO</a:t>
            </a:r>
            <a:r>
              <a:rPr dirty="0" sz="1650">
                <a:solidFill>
                  <a:srgbClr val="1DA0C3"/>
                </a:solidFill>
                <a:latin typeface="Calibri"/>
                <a:cs typeface="Calibri"/>
              </a:rPr>
              <a:t>	</a:t>
            </a:r>
            <a:r>
              <a:rPr dirty="0" sz="1650" spc="-25">
                <a:solidFill>
                  <a:srgbClr val="1DA0C3"/>
                </a:solidFill>
                <a:latin typeface="Calibri"/>
                <a:cs typeface="Calibri"/>
              </a:rPr>
              <a:t>II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2101" y="3830114"/>
            <a:ext cx="7646670" cy="39662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135">
                <a:solidFill>
                  <a:srgbClr val="00B1E1"/>
                </a:solidFill>
                <a:latin typeface="Cambria"/>
                <a:cs typeface="Cambria"/>
              </a:rPr>
              <a:t>@</a:t>
            </a:r>
            <a:r>
              <a:rPr dirty="0" sz="2550" spc="325">
                <a:solidFill>
                  <a:srgbClr val="00B1E1"/>
                </a:solidFill>
                <a:latin typeface="Cambria"/>
                <a:cs typeface="Cambria"/>
              </a:rPr>
              <a:t> </a:t>
            </a:r>
            <a:r>
              <a:rPr dirty="0" sz="2550" spc="-105" b="1">
                <a:solidFill>
                  <a:srgbClr val="03285E"/>
                </a:solidFill>
                <a:latin typeface="Cambria"/>
                <a:cs typeface="Cambria"/>
              </a:rPr>
              <a:t>Referencias</a:t>
            </a:r>
            <a:r>
              <a:rPr dirty="0" sz="2550" spc="50" b="1">
                <a:solidFill>
                  <a:srgbClr val="03285E"/>
                </a:solidFill>
                <a:latin typeface="Cambria"/>
                <a:cs typeface="Cambria"/>
              </a:rPr>
              <a:t> </a:t>
            </a:r>
            <a:r>
              <a:rPr dirty="0" sz="2550" spc="-25" b="1">
                <a:solidFill>
                  <a:srgbClr val="032A54"/>
                </a:solidFill>
                <a:latin typeface="Cambria"/>
                <a:cs typeface="Cambria"/>
              </a:rPr>
              <a:t>APA</a:t>
            </a:r>
            <a:endParaRPr sz="2550">
              <a:latin typeface="Cambria"/>
              <a:cs typeface="Cambria"/>
            </a:endParaRPr>
          </a:p>
          <a:p>
            <a:pPr marL="47625" marR="108585" indent="-14604">
              <a:lnSpc>
                <a:spcPct val="120700"/>
              </a:lnSpc>
              <a:spcBef>
                <a:spcPts val="1195"/>
              </a:spcBef>
              <a:buClr>
                <a:srgbClr val="41546E"/>
              </a:buClr>
              <a:buFont typeface="Calibri"/>
              <a:buChar char="•"/>
              <a:tabLst>
                <a:tab pos="47625" algn="l"/>
                <a:tab pos="203200" algn="l"/>
              </a:tabLst>
            </a:pPr>
            <a:r>
              <a:rPr dirty="0" sz="2050" b="1">
                <a:solidFill>
                  <a:srgbClr val="4D4D4D"/>
                </a:solidFill>
                <a:latin typeface="Calibri"/>
                <a:cs typeface="Calibri"/>
              </a:rPr>
              <a:t>	</a:t>
            </a:r>
            <a:r>
              <a:rPr dirty="0" sz="2050" b="1">
                <a:solidFill>
                  <a:srgbClr val="4D4D4D"/>
                </a:solidFill>
                <a:latin typeface="Calibri"/>
                <a:cs typeface="Calibri"/>
              </a:rPr>
              <a:t>Álvarez,</a:t>
            </a:r>
            <a:r>
              <a:rPr dirty="0" sz="2050" spc="185" b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050" spc="75" b="1">
                <a:solidFill>
                  <a:srgbClr val="494949"/>
                </a:solidFill>
                <a:latin typeface="Calibri"/>
                <a:cs typeface="Calibri"/>
              </a:rPr>
              <a:t>C.</a:t>
            </a:r>
            <a:r>
              <a:rPr dirty="0" sz="2050" spc="-10" b="1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050" b="1">
                <a:solidFill>
                  <a:srgbClr val="3D3D3D"/>
                </a:solidFill>
                <a:latin typeface="Calibri"/>
                <a:cs typeface="Calibri"/>
              </a:rPr>
              <a:t>(2O22).</a:t>
            </a:r>
            <a:r>
              <a:rPr dirty="0" sz="2050" spc="260" b="1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050" b="1" i="1">
                <a:solidFill>
                  <a:srgbClr val="494949"/>
                </a:solidFill>
                <a:latin typeface="Calibri"/>
                <a:cs typeface="Calibri"/>
              </a:rPr>
              <a:t>Programacidn</a:t>
            </a:r>
            <a:r>
              <a:rPr dirty="0" sz="2050" spc="35" b="1" i="1">
                <a:solidFill>
                  <a:srgbClr val="494949"/>
                </a:solidFill>
                <a:latin typeface="Calibri"/>
                <a:cs typeface="Calibri"/>
              </a:rPr>
              <a:t>  </a:t>
            </a:r>
            <a:r>
              <a:rPr dirty="0" sz="2050" i="1">
                <a:solidFill>
                  <a:srgbClr val="4B4B4B"/>
                </a:solidFill>
                <a:latin typeface="Calibri"/>
                <a:cs typeface="Calibri"/>
              </a:rPr>
              <a:t>funcional</a:t>
            </a:r>
            <a:r>
              <a:rPr dirty="0" sz="2050" spc="260" i="1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050" i="1">
                <a:solidFill>
                  <a:srgbClr val="444444"/>
                </a:solidFill>
                <a:latin typeface="Calibri"/>
                <a:cs typeface="Calibri"/>
              </a:rPr>
              <a:t>y</a:t>
            </a:r>
            <a:r>
              <a:rPr dirty="0" sz="2050" spc="265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050" spc="65" i="1">
                <a:solidFill>
                  <a:srgbClr val="484848"/>
                </a:solidFill>
                <a:latin typeface="Calibri"/>
                <a:cs typeface="Calibri"/>
              </a:rPr>
              <a:t>manejo</a:t>
            </a:r>
            <a:r>
              <a:rPr dirty="0" sz="2050" spc="110" i="1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050" spc="75" i="1">
                <a:solidFill>
                  <a:srgbClr val="494949"/>
                </a:solidFill>
                <a:latin typeface="Calibri"/>
                <a:cs typeface="Calibri"/>
              </a:rPr>
              <a:t>de</a:t>
            </a:r>
            <a:r>
              <a:rPr dirty="0" sz="2050" spc="315" i="1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050" spc="70" i="1">
                <a:solidFill>
                  <a:srgbClr val="424242"/>
                </a:solidFill>
                <a:latin typeface="Calibri"/>
                <a:cs typeface="Calibri"/>
              </a:rPr>
              <a:t>streams </a:t>
            </a:r>
            <a:r>
              <a:rPr dirty="0" sz="2050" spc="60" i="1">
                <a:solidFill>
                  <a:srgbClr val="464646"/>
                </a:solidFill>
                <a:latin typeface="Calibri"/>
                <a:cs typeface="Calibri"/>
              </a:rPr>
              <a:t>avanzados</a:t>
            </a:r>
            <a:r>
              <a:rPr dirty="0" sz="2050" spc="385" i="1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050" spc="75" i="1">
                <a:solidFill>
                  <a:srgbClr val="505050"/>
                </a:solidFill>
                <a:latin typeface="Calibri"/>
                <a:cs typeface="Calibri"/>
              </a:rPr>
              <a:t>en</a:t>
            </a:r>
            <a:r>
              <a:rPr dirty="0" sz="2050" spc="220" i="1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dirty="0" sz="2050" spc="70" i="1">
                <a:solidFill>
                  <a:srgbClr val="484848"/>
                </a:solidFill>
                <a:latin typeface="Calibri"/>
                <a:cs typeface="Calibri"/>
              </a:rPr>
              <a:t>Java.</a:t>
            </a:r>
            <a:r>
              <a:rPr dirty="0" sz="2050" spc="55" i="1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050" b="1">
                <a:solidFill>
                  <a:srgbClr val="464646"/>
                </a:solidFill>
                <a:latin typeface="Calibri"/>
                <a:cs typeface="Calibri"/>
              </a:rPr>
              <a:t>Arquitectura</a:t>
            </a:r>
            <a:r>
              <a:rPr dirty="0" sz="2050" spc="355" b="1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050" spc="50" b="1">
                <a:solidFill>
                  <a:srgbClr val="464646"/>
                </a:solidFill>
                <a:latin typeface="Calibri"/>
                <a:cs typeface="Calibri"/>
              </a:rPr>
              <a:t>Java.</a:t>
            </a:r>
            <a:endParaRPr sz="2050">
              <a:latin typeface="Calibri"/>
              <a:cs typeface="Calibri"/>
            </a:endParaRPr>
          </a:p>
          <a:p>
            <a:pPr marL="50165" marR="5080" indent="-19050">
              <a:lnSpc>
                <a:spcPct val="112400"/>
              </a:lnSpc>
              <a:spcBef>
                <a:spcPts val="1025"/>
              </a:spcBef>
              <a:buClr>
                <a:srgbClr val="41546E"/>
              </a:buClr>
              <a:buChar char="•"/>
              <a:tabLst>
                <a:tab pos="50165" algn="l"/>
                <a:tab pos="190500" algn="l"/>
              </a:tabLst>
            </a:pPr>
            <a:r>
              <a:rPr dirty="0" sz="2200" spc="75">
                <a:solidFill>
                  <a:srgbClr val="494949"/>
                </a:solidFill>
                <a:latin typeface="Calibri"/>
                <a:cs typeface="Calibri"/>
              </a:rPr>
              <a:t>	</a:t>
            </a:r>
            <a:r>
              <a:rPr dirty="0" sz="2200" spc="75">
                <a:solidFill>
                  <a:srgbClr val="494949"/>
                </a:solidFill>
                <a:latin typeface="Calibri"/>
                <a:cs typeface="Calibri"/>
              </a:rPr>
              <a:t>EAE</a:t>
            </a:r>
            <a:r>
              <a:rPr dirty="0" sz="220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494949"/>
                </a:solidFill>
                <a:latin typeface="Calibri"/>
                <a:cs typeface="Calibri"/>
              </a:rPr>
              <a:t>Business</a:t>
            </a:r>
            <a:r>
              <a:rPr dirty="0" sz="2200" spc="245" b="1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 spc="-40" b="1">
                <a:solidFill>
                  <a:srgbClr val="464646"/>
                </a:solidFill>
                <a:latin typeface="Calibri"/>
                <a:cs typeface="Calibri"/>
              </a:rPr>
              <a:t>School.</a:t>
            </a:r>
            <a:r>
              <a:rPr dirty="0" sz="2200" spc="10" b="1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3D3D3D"/>
                </a:solidFill>
                <a:latin typeface="Calibri"/>
                <a:cs typeface="Calibri"/>
              </a:rPr>
              <a:t>(2022).</a:t>
            </a:r>
            <a:r>
              <a:rPr dirty="0" sz="2200" spc="22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94949"/>
                </a:solidFill>
                <a:latin typeface="Calibri"/>
                <a:cs typeface="Calibri"/>
              </a:rPr>
              <a:t>Claves</a:t>
            </a:r>
            <a:r>
              <a:rPr dirty="0" sz="2200" spc="90" i="1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4444"/>
                </a:solidFill>
                <a:latin typeface="Calibri"/>
                <a:cs typeface="Calibri"/>
              </a:rPr>
              <a:t>para</a:t>
            </a:r>
            <a:r>
              <a:rPr dirty="0" sz="2200" spc="65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D4D4D"/>
                </a:solidFill>
                <a:latin typeface="Calibri"/>
                <a:cs typeface="Calibri"/>
              </a:rPr>
              <a:t>la</a:t>
            </a:r>
            <a:r>
              <a:rPr dirty="0" sz="2200" spc="-1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B4B4B"/>
                </a:solidFill>
                <a:latin typeface="Calibri"/>
                <a:cs typeface="Calibri"/>
              </a:rPr>
              <a:t>gestidn</a:t>
            </a:r>
            <a:r>
              <a:rPr dirty="0" sz="2200" spc="15" i="1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94949"/>
                </a:solidFill>
                <a:latin typeface="Calibri"/>
                <a:cs typeface="Calibri"/>
              </a:rPr>
              <a:t>operativa</a:t>
            </a:r>
            <a:r>
              <a:rPr dirty="0" sz="2200" spc="235" i="1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 spc="-25" i="1">
                <a:solidFill>
                  <a:srgbClr val="3D3D3D"/>
                </a:solidFill>
                <a:latin typeface="Calibri"/>
                <a:cs typeface="Calibri"/>
              </a:rPr>
              <a:t>de </a:t>
            </a:r>
            <a:r>
              <a:rPr dirty="0" sz="2200" spc="50" i="1">
                <a:solidFill>
                  <a:srgbClr val="4D4D4D"/>
                </a:solidFill>
                <a:latin typeface="Calibri"/>
                <a:cs typeface="Calibri"/>
              </a:rPr>
              <a:t>un</a:t>
            </a:r>
            <a:r>
              <a:rPr dirty="0" sz="2200" spc="-120" i="1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F4F4F"/>
                </a:solidFill>
                <a:latin typeface="Calibri"/>
                <a:cs typeface="Calibri"/>
              </a:rPr>
              <a:t>hotel</a:t>
            </a:r>
            <a:r>
              <a:rPr dirty="0" sz="2200" spc="10" i="1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464646"/>
                </a:solidFill>
                <a:latin typeface="Calibri"/>
                <a:cs typeface="Calibri"/>
              </a:rPr>
              <a:t>eficiente.</a:t>
            </a:r>
            <a:r>
              <a:rPr dirty="0" sz="2200" spc="-40" i="1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24242"/>
                </a:solidFill>
                <a:latin typeface="Calibri"/>
                <a:cs typeface="Calibri"/>
              </a:rPr>
              <a:t>Blog</a:t>
            </a:r>
            <a:r>
              <a:rPr dirty="0" sz="2200" spc="-1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 spc="75">
                <a:solidFill>
                  <a:srgbClr val="494949"/>
                </a:solidFill>
                <a:latin typeface="Calibri"/>
                <a:cs typeface="Calibri"/>
              </a:rPr>
              <a:t>de</a:t>
            </a:r>
            <a:r>
              <a:rPr dirty="0" sz="2200" spc="-5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24242"/>
                </a:solidFill>
                <a:latin typeface="Calibri"/>
                <a:cs typeface="Calibri"/>
              </a:rPr>
              <a:t>Management.</a:t>
            </a:r>
            <a:endParaRPr sz="2200">
              <a:latin typeface="Calibri"/>
              <a:cs typeface="Calibri"/>
            </a:endParaRPr>
          </a:p>
          <a:p>
            <a:pPr marL="48895" marR="925830" indent="-17145">
              <a:lnSpc>
                <a:spcPct val="112400"/>
              </a:lnSpc>
              <a:spcBef>
                <a:spcPts val="990"/>
              </a:spcBef>
              <a:buClr>
                <a:srgbClr val="41546E"/>
              </a:buClr>
              <a:buChar char="•"/>
              <a:tabLst>
                <a:tab pos="48895" algn="l"/>
                <a:tab pos="191135" algn="l"/>
              </a:tabLst>
            </a:pPr>
            <a:r>
              <a:rPr dirty="0" sz="2200" spc="-35">
                <a:solidFill>
                  <a:srgbClr val="464646"/>
                </a:solidFill>
                <a:latin typeface="Calibri"/>
                <a:cs typeface="Calibri"/>
              </a:rPr>
              <a:t>	</a:t>
            </a:r>
            <a:r>
              <a:rPr dirty="0" sz="2200" spc="-35">
                <a:solidFill>
                  <a:srgbClr val="464646"/>
                </a:solidFill>
                <a:latin typeface="Calibri"/>
                <a:cs typeface="Calibri"/>
              </a:rPr>
              <a:t>Hosteltur.</a:t>
            </a:r>
            <a:r>
              <a:rPr dirty="0" sz="2200" spc="3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14141"/>
                </a:solidFill>
                <a:latin typeface="Calibri"/>
                <a:cs typeface="Calibri"/>
              </a:rPr>
              <a:t>(2023).</a:t>
            </a:r>
            <a:r>
              <a:rPr dirty="0" sz="2200" spc="65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84848"/>
                </a:solidFill>
                <a:latin typeface="Calibri"/>
                <a:cs typeface="Calibri"/>
              </a:rPr>
              <a:t>El</a:t>
            </a:r>
            <a:r>
              <a:rPr dirty="0" sz="2200" spc="5" i="1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F4F4F"/>
                </a:solidFill>
                <a:latin typeface="Calibri"/>
                <a:cs typeface="Calibri"/>
              </a:rPr>
              <a:t>rol</a:t>
            </a:r>
            <a:r>
              <a:rPr dirty="0" sz="2200" spc="20" i="1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2200" spc="50" i="1">
                <a:solidFill>
                  <a:srgbClr val="494949"/>
                </a:solidFill>
                <a:latin typeface="Calibri"/>
                <a:cs typeface="Calibri"/>
              </a:rPr>
              <a:t>del</a:t>
            </a:r>
            <a:r>
              <a:rPr dirty="0" sz="2200" spc="-60" i="1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 spc="-20" i="1">
                <a:solidFill>
                  <a:srgbClr val="4F4F4F"/>
                </a:solidFill>
                <a:latin typeface="Calibri"/>
                <a:cs typeface="Calibri"/>
              </a:rPr>
              <a:t>PMS</a:t>
            </a:r>
            <a:r>
              <a:rPr dirty="0" sz="2200" spc="15" i="1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2200" spc="70" i="1">
                <a:solidFill>
                  <a:srgbClr val="484848"/>
                </a:solidFill>
                <a:latin typeface="Calibri"/>
                <a:cs typeface="Calibri"/>
              </a:rPr>
              <a:t>en</a:t>
            </a:r>
            <a:r>
              <a:rPr dirty="0" sz="2200" spc="-150" i="1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7C93A5"/>
                </a:solidFill>
                <a:latin typeface="Calibri"/>
                <a:cs typeface="Calibri"/>
              </a:rPr>
              <a:t>la</a:t>
            </a:r>
            <a:r>
              <a:rPr dirty="0" sz="2200" spc="35" i="1">
                <a:solidFill>
                  <a:srgbClr val="7C93A5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14141"/>
                </a:solidFill>
                <a:latin typeface="Calibri"/>
                <a:cs typeface="Calibri"/>
              </a:rPr>
              <a:t>optimizacidn</a:t>
            </a:r>
            <a:r>
              <a:rPr dirty="0" sz="2200" spc="45" i="1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F4F4F"/>
                </a:solidFill>
                <a:latin typeface="Calibri"/>
                <a:cs typeface="Calibri"/>
              </a:rPr>
              <a:t>de</a:t>
            </a:r>
            <a:r>
              <a:rPr dirty="0" sz="2200" spc="120" i="1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2200" spc="-25" i="1">
                <a:solidFill>
                  <a:srgbClr val="505050"/>
                </a:solidFill>
                <a:latin typeface="Calibri"/>
                <a:cs typeface="Calibri"/>
              </a:rPr>
              <a:t>los </a:t>
            </a:r>
            <a:r>
              <a:rPr dirty="0" sz="2200" i="1">
                <a:solidFill>
                  <a:srgbClr val="424242"/>
                </a:solidFill>
                <a:latin typeface="Calibri"/>
                <a:cs typeface="Calibri"/>
              </a:rPr>
              <a:t>servicios</a:t>
            </a:r>
            <a:r>
              <a:rPr dirty="0" sz="2200" spc="170" i="1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B4B4B"/>
                </a:solidFill>
                <a:latin typeface="Calibri"/>
                <a:cs typeface="Calibri"/>
              </a:rPr>
              <a:t>hoteleros</a:t>
            </a:r>
            <a:r>
              <a:rPr dirty="0" sz="2200" spc="165" i="1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464646"/>
                </a:solidFill>
                <a:latin typeface="Calibri"/>
                <a:cs typeface="Calibri"/>
              </a:rPr>
              <a:t>modernos.</a:t>
            </a:r>
            <a:r>
              <a:rPr dirty="0" sz="2200" spc="-50" i="1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94949"/>
                </a:solidFill>
                <a:latin typeface="Calibri"/>
                <a:cs typeface="Calibri"/>
              </a:rPr>
              <a:t>Hosteltur</a:t>
            </a:r>
            <a:r>
              <a:rPr dirty="0" sz="2200" spc="17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64646"/>
                </a:solidFill>
                <a:latin typeface="Calibri"/>
                <a:cs typeface="Calibri"/>
              </a:rPr>
              <a:t>Digital.</a:t>
            </a:r>
            <a:endParaRPr sz="2200">
              <a:latin typeface="Calibri"/>
              <a:cs typeface="Calibri"/>
            </a:endParaRPr>
          </a:p>
          <a:p>
            <a:pPr marL="196850" indent="-165100">
              <a:lnSpc>
                <a:spcPct val="100000"/>
              </a:lnSpc>
              <a:spcBef>
                <a:spcPts val="1315"/>
              </a:spcBef>
              <a:buClr>
                <a:srgbClr val="41546E"/>
              </a:buClr>
              <a:buChar char="•"/>
              <a:tabLst>
                <a:tab pos="196850" algn="l"/>
              </a:tabLst>
            </a:pPr>
            <a:r>
              <a:rPr dirty="0" sz="2200">
                <a:solidFill>
                  <a:srgbClr val="444444"/>
                </a:solidFill>
                <a:latin typeface="Calibri"/>
                <a:cs typeface="Calibri"/>
              </a:rPr>
              <a:t>Shvets,</a:t>
            </a:r>
            <a:r>
              <a:rPr dirty="0" sz="2200" spc="9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spc="-45">
                <a:solidFill>
                  <a:srgbClr val="464646"/>
                </a:solidFill>
                <a:latin typeface="Calibri"/>
                <a:cs typeface="Calibri"/>
              </a:rPr>
              <a:t>A.</a:t>
            </a:r>
            <a:r>
              <a:rPr dirty="0" sz="2200" spc="-10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3F3F3F"/>
                </a:solidFill>
                <a:latin typeface="Calibri"/>
                <a:cs typeface="Calibri"/>
              </a:rPr>
              <a:t>(2021).</a:t>
            </a:r>
            <a:r>
              <a:rPr dirty="0" sz="2200" spc="11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94949"/>
                </a:solidFill>
                <a:latin typeface="Calibri"/>
                <a:cs typeface="Calibri"/>
              </a:rPr>
              <a:t>Patrones</a:t>
            </a:r>
            <a:r>
              <a:rPr dirty="0" sz="2200" spc="204" i="1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B4B4B"/>
                </a:solidFill>
                <a:latin typeface="Calibri"/>
                <a:cs typeface="Calibri"/>
              </a:rPr>
              <a:t>de</a:t>
            </a:r>
            <a:r>
              <a:rPr dirty="0" sz="2200" spc="225" i="1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3F3F3F"/>
                </a:solidFill>
                <a:latin typeface="Calibri"/>
                <a:cs typeface="Calibri"/>
              </a:rPr>
              <a:t>diseño</a:t>
            </a:r>
            <a:r>
              <a:rPr dirty="0" sz="2200" spc="55" i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64646"/>
                </a:solidFill>
                <a:latin typeface="Calibri"/>
                <a:cs typeface="Calibri"/>
              </a:rPr>
              <a:t>explicados</a:t>
            </a:r>
            <a:r>
              <a:rPr dirty="0" sz="2200" spc="245" i="1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00" spc="70" i="1">
                <a:solidFill>
                  <a:srgbClr val="525252"/>
                </a:solidFill>
                <a:latin typeface="Calibri"/>
                <a:cs typeface="Calibri"/>
              </a:rPr>
              <a:t>en</a:t>
            </a:r>
            <a:r>
              <a:rPr dirty="0" sz="2200" spc="-80" i="1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424242"/>
                </a:solidFill>
                <a:latin typeface="Calibri"/>
                <a:cs typeface="Calibri"/>
              </a:rPr>
              <a:t>español.</a:t>
            </a:r>
            <a:endParaRPr sz="2200">
              <a:latin typeface="Calibri"/>
              <a:cs typeface="Calibri"/>
            </a:endParaRPr>
          </a:p>
          <a:p>
            <a:pPr marL="34290">
              <a:lnSpc>
                <a:spcPct val="100000"/>
              </a:lnSpc>
              <a:spcBef>
                <a:spcPts val="330"/>
              </a:spcBef>
            </a:pPr>
            <a:r>
              <a:rPr dirty="0" sz="2200" spc="-10">
                <a:solidFill>
                  <a:srgbClr val="424242"/>
                </a:solidFill>
                <a:latin typeface="Calibri"/>
                <a:cs typeface="Calibri"/>
              </a:rPr>
              <a:t>Refactoring.Guru.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92797" y="10384889"/>
            <a:ext cx="163322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96695" algn="l"/>
              </a:tabLst>
            </a:pPr>
            <a:r>
              <a:rPr dirty="0" sz="1550" spc="75">
                <a:solidFill>
                  <a:srgbClr val="9A9A9A"/>
                </a:solidFill>
                <a:latin typeface="Calibri"/>
                <a:cs typeface="Calibri"/>
              </a:rPr>
              <a:t>Diapositiva</a:t>
            </a:r>
            <a:r>
              <a:rPr dirty="0" sz="1550" spc="-30">
                <a:solidFill>
                  <a:srgbClr val="9A9A9A"/>
                </a:solidFill>
                <a:latin typeface="Calibri"/>
                <a:cs typeface="Calibri"/>
              </a:rPr>
              <a:t> </a:t>
            </a:r>
            <a:r>
              <a:rPr dirty="0" sz="1550" spc="-310">
                <a:solidFill>
                  <a:srgbClr val="9C9C9C"/>
                </a:solidFill>
                <a:latin typeface="Calibri"/>
                <a:cs typeface="Calibri"/>
              </a:rPr>
              <a:t>11</a:t>
            </a:r>
            <a:r>
              <a:rPr dirty="0" sz="1550" spc="160">
                <a:solidFill>
                  <a:srgbClr val="9C9C9C"/>
                </a:solidFill>
                <a:latin typeface="Calibri"/>
                <a:cs typeface="Calibri"/>
              </a:rPr>
              <a:t> </a:t>
            </a:r>
            <a:r>
              <a:rPr dirty="0" sz="1550" spc="-340">
                <a:solidFill>
                  <a:srgbClr val="9A9A9A"/>
                </a:solidFill>
                <a:latin typeface="Calibri"/>
                <a:cs typeface="Calibri"/>
              </a:rPr>
              <a:t>de</a:t>
            </a:r>
            <a:r>
              <a:rPr dirty="0" sz="1550">
                <a:solidFill>
                  <a:srgbClr val="9A9A9A"/>
                </a:solidFill>
                <a:latin typeface="Calibri"/>
                <a:cs typeface="Calibri"/>
              </a:rPr>
              <a:t>	</a:t>
            </a:r>
            <a:r>
              <a:rPr dirty="0" sz="1550" spc="-340">
                <a:solidFill>
                  <a:srgbClr val="9C9C9C"/>
                </a:solidFill>
                <a:latin typeface="Calibri"/>
                <a:cs typeface="Calibri"/>
              </a:rPr>
              <a:t>11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2026-07-01T04:22:08Z</dcterms:created>
  <dcterms:modified xsi:type="dcterms:W3CDTF">2026-07-01T04:22:08Z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2026-07-01T00:00:00Z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2026-07-01T00:00:00Z</vt:filetime>
  </property>
</Properties>
</file>